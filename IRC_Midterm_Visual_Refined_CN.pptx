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68626"/>
  </p:normalViewPr>
  <p:slideViewPr>
    <p:cSldViewPr snapToGrid="0">
      <p:cViewPr varScale="1">
        <p:scale>
          <a:sx n="82" d="100"/>
          <a:sy n="82" d="100"/>
        </p:scale>
        <p:origin x="188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Good morning, and thank you for having us. For this midterm review I'll walk through our group's progress on the IRC project: a lightweight IPv6 IRC server and a 命令 机器人, both built with Python sockets. Over the next few minutes I'll cover the three modules we built, the protocol parsing, our 机器人 behaviour, a membership bug we fixed, the server side, and what's left before we submit.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effectLst/>
              </a:rPr>
              <a:t>Our group split the work into three modules, and every member owns both the code and its documentation. </a:t>
            </a:r>
            <a:r>
              <a:rPr lang="en-US" altLang="zh-CN" sz="1200" kern="1200" dirty="0">
                <a:effectLst/>
              </a:rPr>
              <a:t>Kun Qian </a:t>
            </a:r>
            <a:r>
              <a:rPr lang="zh-CN" altLang="zh-CN" sz="1200" kern="1200" dirty="0">
                <a:effectLst/>
              </a:rPr>
              <a:t>built the common protocol layer - the IRCMessage object and the IRCStreamDecoder. </a:t>
            </a:r>
            <a:r>
              <a:rPr lang="en-US" altLang="zh-CN" sz="1200" kern="1200" dirty="0">
                <a:effectLst/>
              </a:rPr>
              <a:t>Yibo Xu</a:t>
            </a:r>
            <a:r>
              <a:rPr lang="zh-CN" altLang="zh-CN" sz="1200" kern="1200" dirty="0">
                <a:effectLst/>
              </a:rPr>
              <a:t> and She Jingsong handled the server: client sessions, shared state, and routing. </a:t>
            </a:r>
            <a:r>
              <a:rPr lang="en-US" altLang="zh-CN" sz="1200" kern="1200" dirty="0" err="1">
                <a:effectLst/>
              </a:rPr>
              <a:t>Tianxing</a:t>
            </a:r>
            <a:r>
              <a:rPr lang="en-US" altLang="zh-CN" sz="1200" kern="1200" dirty="0">
                <a:effectLst/>
              </a:rPr>
              <a:t> Wei </a:t>
            </a:r>
            <a:r>
              <a:rPr lang="zh-CN" altLang="zh-CN" sz="1200" kern="1200" dirty="0">
                <a:effectLst/>
              </a:rPr>
              <a:t>and Li Yuzong built the 机器人: the connection client, membership tracking, and the 命令 processor. We tested each module on its own, then validated the system end to end, with tests and a record of the acceptance work still to do.</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Starting with the protocol layer. IRC is a line-based, text protocol, so one TCP read may not equal one message. We built IRCMessage to store a normalized 命令, its 前缀, and its parameters - for example parsing 'PRIVMSG #hello :Hi Bob' into a clean target and body, dropping the colon delimiter. The IRCStreamDecoder sits between the raw socket and that model: it buffers incomplete lines until a full CRLF arrives, emits several messages if one read contains them, and rejects bad UTF-8 or over-long lines before they touch our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On the 机器人 side, the core is a connection loop. It opens an AF_INET6 TCP socket, sends NICK and USER, waits for the 001 welcome, then JOINs. For keepalive it answers PING with PONG, and if the link drops it reconnects later and resets its membership state. The 机器人 builds its member list from the NAMES replies and keeps it current with live JOIN, PART, QUIT and NICK events. Direct IPv6 and the PING/PONG flow are verified; the Windows VM and miniircd checks still remain.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Here's a real bug we caught during review. While the 机器人 assembles the member list from a NAMES snapshot - the 353 and 366 replies - a user can PART in between. Our old code applied that departure, then overwrote the list with the snapshot, so the user reappeared. The fix records those live events and replays them in order once 366 arrives. The roster now reflects the latest truth, and we added regression tests for interleaved joins, parts, quits and nick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For the server, we implemented per-client sessions, registration, and a locked user and channel index, with channel and private routing. Review surfaced two edge cases we fixed. First, when an old connection cleans up, it only removes a nickname index still belonging to it, so a reused nickname isn't deleted by mistake. Second, prepending the sender can push a relayed PRIVMSG past IRC's 512-byte limit, so we now check the real UTF-8 byte length and return error 417. Bad input stays isolated to one session; HexChat display and auto nickname recovery remain to check.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DBD820F1-EB97-4191-8C2E-49CCCF180226}"/>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IPv6 IRC 服务器与命令机器人</a:t>
            </a:r>
          </a:p>
        </p:txBody>
      </p:sp>
      <p:sp>
        <p:nvSpPr>
          <p:cNvPr id="2" name="矩形 1">
            <a:extLst>
              <a:ext uri="{FF2B5EF4-FFF2-40B4-BE49-F238E27FC236}">
                <a16:creationId xmlns:a16="http://schemas.microsoft.com/office/drawing/2014/main" id="{61F1CADD-CB76-4FE6-9BCF-D03EBA9D7CE2}"/>
              </a:ext>
            </a:extLst>
          </p:cNvPr>
          <p:cNvSpPr>
            <a:spLocks noGrp="1"/>
          </p:cNvSpPr>
          <p:nvPr/>
        </p:nvSpPr>
        <p:spPr>
          <a:xfrm>
            <a:off x="723900" y="1333500"/>
            <a:ext cx="10668000" cy="571500"/>
          </a:xfrm>
          <a:prstGeom prst="rect">
            <a:avLst/>
          </a:prstGeom>
          <a:noFill/>
          <a:ln w="0">
            <a:noFill/>
          </a:ln>
        </p:spPr>
        <p:txBody>
          <a:bodyPr>
            <a:noAutofit/>
          </a:bodyPr>
          <a:lstStyle/>
          <a:p>
            <a:pPr>
              <a:defRPr sz="1725" b="0">
                <a:solidFill>
                  <a:srgbClr val="596C6B"/>
                </a:solidFill>
                <a:latin typeface="Arial"/>
                <a:ea typeface="Arial"/>
                <a:cs typeface="Arial"/>
              </a:defRPr>
            </a:pPr>
            <a:r>
              <a:rPr sz="1725" b="0" dirty="0">
                <a:solidFill>
                  <a:srgbClr val="596C6B"/>
                </a:solidFill>
                <a:latin typeface="Arial"/>
                <a:ea typeface="Arial"/>
                <a:cs typeface="Arial"/>
              </a:rPr>
              <a:t>期中进度汇报 | </a:t>
            </a:r>
            <a:r>
              <a:rPr lang="en-US" altLang="zh-CN" sz="1725" b="0" dirty="0">
                <a:solidFill>
                  <a:srgbClr val="596C6B"/>
                </a:solidFill>
                <a:latin typeface="Arial"/>
                <a:ea typeface="Arial"/>
                <a:cs typeface="Arial"/>
              </a:rPr>
              <a:t>8</a:t>
            </a:r>
            <a:r>
              <a:rPr sz="1725" b="0" dirty="0">
                <a:solidFill>
                  <a:srgbClr val="596C6B"/>
                </a:solidFill>
                <a:latin typeface="Arial"/>
                <a:ea typeface="Arial"/>
                <a:cs typeface="Arial"/>
              </a:rPr>
              <a:t> October 2026</a:t>
            </a:r>
          </a:p>
        </p:txBody>
      </p:sp>
      <p:sp>
        <p:nvSpPr>
          <p:cNvPr id="3" name="矩形 2">
            <a:extLst>
              <a:ext uri="{FF2B5EF4-FFF2-40B4-BE49-F238E27FC236}">
                <a16:creationId xmlns:a16="http://schemas.microsoft.com/office/drawing/2014/main" id="{84019799-B02C-4509-BD32-30AEA52D70EB}"/>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DA9ADF5A-EAA6-4469-B06C-F80FF5B42B52}"/>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套接字编程 | 期中评审</a:t>
            </a:r>
          </a:p>
        </p:txBody>
      </p:sp>
      <p:sp>
        <p:nvSpPr>
          <p:cNvPr id="5" name="矩形 4">
            <a:extLst>
              <a:ext uri="{FF2B5EF4-FFF2-40B4-BE49-F238E27FC236}">
                <a16:creationId xmlns:a16="http://schemas.microsoft.com/office/drawing/2014/main" id="{59836A07-296A-4470-8616-21A640241CD3}"/>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01</a:t>
            </a:r>
          </a:p>
        </p:txBody>
      </p:sp>
      <p:sp>
        <p:nvSpPr>
          <p:cNvPr id="6" name="矩形 5">
            <a:extLst>
              <a:ext uri="{FF2B5EF4-FFF2-40B4-BE49-F238E27FC236}">
                <a16:creationId xmlns:a16="http://schemas.microsoft.com/office/drawing/2014/main" id="{539DB85B-57B6-4A6C-8C89-CB964CB66B23}"/>
              </a:ext>
            </a:extLst>
          </p:cNvPr>
          <p:cNvSpPr>
            <a:spLocks noGrp="1"/>
          </p:cNvSpPr>
          <p:nvPr/>
        </p:nvSpPr>
        <p:spPr>
          <a:xfrm>
            <a:off x="723900" y="2419350"/>
            <a:ext cx="10477500" cy="1524000"/>
          </a:xfrm>
          <a:prstGeom prst="rect">
            <a:avLst/>
          </a:prstGeom>
          <a:noFill/>
          <a:ln w="0">
            <a:noFill/>
          </a:ln>
        </p:spPr>
        <p:txBody>
          <a:bodyPr>
            <a:noAutofit/>
          </a:bodyPr>
          <a:lstStyle/>
          <a:p>
            <a:pPr>
              <a:defRPr sz="4575" b="1">
                <a:solidFill>
                  <a:srgbClr val="172A2A"/>
                </a:solidFill>
                <a:latin typeface="Arial"/>
                <a:ea typeface="Arial"/>
                <a:cs typeface="Arial"/>
              </a:defRPr>
            </a:pPr>
            <a:r>
              <a:rPr sz="4575" b="1">
                <a:solidFill>
                  <a:srgbClr val="172A2A"/>
                </a:solidFill>
                <a:latin typeface="Arial"/>
                <a:ea typeface="Arial"/>
                <a:cs typeface="Arial"/>
              </a:rPr>
              <a:t>项目实现</a:t>
            </a:r>
          </a:p>
          <a:p>
            <a:pPr>
              <a:defRPr sz="4575" b="1">
                <a:solidFill>
                  <a:srgbClr val="172A2A"/>
                </a:solidFill>
                <a:latin typeface="Arial"/>
                <a:ea typeface="Arial"/>
                <a:cs typeface="Arial"/>
              </a:defRPr>
            </a:pPr>
            <a:r>
              <a:rPr sz="4575" b="1">
                <a:solidFill>
                  <a:srgbClr val="172A2A"/>
                </a:solidFill>
                <a:latin typeface="Arial"/>
                <a:ea typeface="Arial"/>
                <a:cs typeface="Arial"/>
              </a:rPr>
              <a:t>与期中进度</a:t>
            </a:r>
          </a:p>
        </p:txBody>
      </p:sp>
      <p:sp>
        <p:nvSpPr>
          <p:cNvPr id="7" name="矩形 6">
            <a:extLst>
              <a:ext uri="{FF2B5EF4-FFF2-40B4-BE49-F238E27FC236}">
                <a16:creationId xmlns:a16="http://schemas.microsoft.com/office/drawing/2014/main" id="{C1709A3D-A439-41C4-BFB3-7D50447A12AE}"/>
              </a:ext>
            </a:extLst>
          </p:cNvPr>
          <p:cNvSpPr>
            <a:spLocks noGrp="1"/>
          </p:cNvSpPr>
          <p:nvPr/>
        </p:nvSpPr>
        <p:spPr>
          <a:xfrm>
            <a:off x="723900" y="4448175"/>
            <a:ext cx="10668000" cy="495300"/>
          </a:xfrm>
          <a:prstGeom prst="rect">
            <a:avLst/>
          </a:prstGeom>
          <a:noFill/>
          <a:ln w="0">
            <a:noFill/>
          </a:ln>
        </p:spPr>
        <p:txBody>
          <a:bodyPr>
            <a:noAutofit/>
          </a:bodyPr>
          <a:lstStyle/>
          <a:p>
            <a:pPr>
              <a:defRPr sz="2025" b="0">
                <a:solidFill>
                  <a:srgbClr val="087F78"/>
                </a:solidFill>
                <a:latin typeface="Arial"/>
                <a:ea typeface="Arial"/>
                <a:cs typeface="Arial"/>
              </a:defRPr>
            </a:pPr>
            <a:r>
              <a:rPr sz="2025" b="0">
                <a:solidFill>
                  <a:srgbClr val="087F78"/>
                </a:solidFill>
                <a:latin typeface="Arial"/>
                <a:ea typeface="Arial"/>
                <a:cs typeface="Arial"/>
              </a:rPr>
              <a:t>协议模型  /  机器人注册  /  服务器会话</a:t>
            </a:r>
          </a:p>
        </p:txBody>
      </p:sp>
      <p:sp>
        <p:nvSpPr>
          <p:cNvPr id="8" name="矩形 7">
            <a:extLst>
              <a:ext uri="{FF2B5EF4-FFF2-40B4-BE49-F238E27FC236}">
                <a16:creationId xmlns:a16="http://schemas.microsoft.com/office/drawing/2014/main" id="{98903485-BE93-43FE-8B84-4948A722905C}"/>
              </a:ext>
            </a:extLst>
          </p:cNvPr>
          <p:cNvSpPr>
            <a:spLocks noGrp="1"/>
          </p:cNvSpPr>
          <p:nvPr/>
        </p:nvSpPr>
        <p:spPr>
          <a:xfrm>
            <a:off x="723900" y="5381625"/>
            <a:ext cx="10668000" cy="476250"/>
          </a:xfrm>
          <a:prstGeom prst="rect">
            <a:avLst/>
          </a:prstGeom>
          <a:noFill/>
          <a:ln w="0">
            <a:noFill/>
          </a:ln>
        </p:spPr>
        <p:txBody>
          <a:bodyPr>
            <a:noAutofit/>
          </a:bodyPr>
          <a:lstStyle/>
          <a:p>
            <a:pPr>
              <a:defRPr sz="1875" b="0">
                <a:solidFill>
                  <a:srgbClr val="596C6B"/>
                </a:solidFill>
                <a:latin typeface="Arial"/>
                <a:ea typeface="Arial"/>
                <a:cs typeface="Arial"/>
              </a:defRPr>
            </a:pPr>
            <a:r>
              <a:rPr sz="1875" b="0">
                <a:solidFill>
                  <a:srgbClr val="596C6B"/>
                </a:solidFill>
                <a:latin typeface="Arial"/>
                <a:ea typeface="Arial"/>
                <a:cs typeface="Arial"/>
              </a:rPr>
              <a:t>已实现模块、已解决问题与后续里程碑</a:t>
            </a:r>
          </a:p>
        </p:txBody>
      </p:sp>
    </p:spTree>
    <p:extLst>
      <p:ext uri="{BB962C8B-B14F-4D97-AF65-F5344CB8AC3E}">
        <p14:creationId xmlns:p14="http://schemas.microsoft.com/office/powerpoint/2010/main" val="1457592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57226061-6908-4428-9DFA-447A019955E6}"/>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小组完成的工作</a:t>
            </a:r>
          </a:p>
        </p:txBody>
      </p:sp>
      <p:sp>
        <p:nvSpPr>
          <p:cNvPr id="2" name="矩形 1">
            <a:extLst>
              <a:ext uri="{FF2B5EF4-FFF2-40B4-BE49-F238E27FC236}">
                <a16:creationId xmlns:a16="http://schemas.microsoft.com/office/drawing/2014/main" id="{23BEFABF-92C8-4401-9F67-FE0A1E408A3A}"/>
              </a:ext>
            </a:extLst>
          </p:cNvPr>
          <p:cNvSpPr>
            <a:spLocks noGrp="1"/>
          </p:cNvSpPr>
          <p:nvPr/>
        </p:nvSpPr>
        <p:spPr>
          <a:xfrm>
            <a:off x="723900" y="1333500"/>
            <a:ext cx="10668000" cy="571500"/>
          </a:xfrm>
          <a:prstGeom prst="rect">
            <a:avLst/>
          </a:prstGeom>
          <a:noFill/>
          <a:ln w="0">
            <a:noFill/>
          </a:ln>
        </p:spPr>
        <p:txBody>
          <a:bodyPr>
            <a:noAutofit/>
          </a:bodyPr>
          <a:lstStyle/>
          <a:p>
            <a:pPr>
              <a:defRPr sz="1725" b="0">
                <a:solidFill>
                  <a:srgbClr val="596C6B"/>
                </a:solidFill>
                <a:latin typeface="Arial"/>
                <a:ea typeface="Arial"/>
                <a:cs typeface="Arial"/>
              </a:defRPr>
            </a:pPr>
            <a:r>
              <a:rPr sz="1725" b="0">
                <a:solidFill>
                  <a:srgbClr val="596C6B"/>
                </a:solidFill>
                <a:latin typeface="Arial"/>
                <a:ea typeface="Arial"/>
                <a:cs typeface="Arial"/>
              </a:rPr>
              <a:t>三个核心模块，代码和文档由全体成员共同完成</a:t>
            </a:r>
          </a:p>
        </p:txBody>
      </p:sp>
      <p:sp>
        <p:nvSpPr>
          <p:cNvPr id="3" name="矩形 2">
            <a:extLst>
              <a:ext uri="{FF2B5EF4-FFF2-40B4-BE49-F238E27FC236}">
                <a16:creationId xmlns:a16="http://schemas.microsoft.com/office/drawing/2014/main" id="{9E8C5FA4-454E-4FFA-BCC7-5F5651AF4CCE}"/>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3897394C-AEFF-49C5-B41E-9CC2669C67C7}"/>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套接字编程 | 期中评审</a:t>
            </a:r>
          </a:p>
        </p:txBody>
      </p:sp>
      <p:sp>
        <p:nvSpPr>
          <p:cNvPr id="5" name="矩形 4">
            <a:extLst>
              <a:ext uri="{FF2B5EF4-FFF2-40B4-BE49-F238E27FC236}">
                <a16:creationId xmlns:a16="http://schemas.microsoft.com/office/drawing/2014/main" id="{E9EF21CA-621E-4633-AA9B-47F795885D88}"/>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02</a:t>
            </a:r>
          </a:p>
        </p:txBody>
      </p:sp>
      <p:sp>
        <p:nvSpPr>
          <p:cNvPr id="6" name="矩形 5">
            <a:extLst>
              <a:ext uri="{FF2B5EF4-FFF2-40B4-BE49-F238E27FC236}">
                <a16:creationId xmlns:a16="http://schemas.microsoft.com/office/drawing/2014/main" id="{194BBFE2-55C4-47C4-8B28-3C93E0E83E47}"/>
              </a:ext>
            </a:extLst>
          </p:cNvPr>
          <p:cNvSpPr>
            <a:spLocks noGrp="1"/>
          </p:cNvSpPr>
          <p:nvPr/>
        </p:nvSpPr>
        <p:spPr>
          <a:xfrm>
            <a:off x="723900" y="2200275"/>
            <a:ext cx="3257550" cy="1495425"/>
          </a:xfrm>
          <a:prstGeom prst="rect">
            <a:avLst/>
          </a:prstGeom>
          <a:solidFill>
            <a:srgbClr val="EDF7F4"/>
          </a:solidFill>
          <a:ln w="0">
            <a:noFill/>
          </a:ln>
        </p:spPr>
        <p:txBody>
          <a:bodyPr/>
          <a:lstStyle/>
          <a:p>
            <a:endParaRPr lang="zh-CN" altLang="en-US"/>
          </a:p>
        </p:txBody>
      </p:sp>
      <p:sp>
        <p:nvSpPr>
          <p:cNvPr id="7" name="矩形 6">
            <a:extLst>
              <a:ext uri="{FF2B5EF4-FFF2-40B4-BE49-F238E27FC236}">
                <a16:creationId xmlns:a16="http://schemas.microsoft.com/office/drawing/2014/main" id="{62D116A5-280E-47A1-9620-CAC209316A9E}"/>
              </a:ext>
            </a:extLst>
          </p:cNvPr>
          <p:cNvSpPr>
            <a:spLocks noGrp="1"/>
          </p:cNvSpPr>
          <p:nvPr/>
        </p:nvSpPr>
        <p:spPr>
          <a:xfrm>
            <a:off x="914400" y="2381250"/>
            <a:ext cx="2857500" cy="3810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common</a:t>
            </a:r>
          </a:p>
        </p:txBody>
      </p:sp>
      <p:sp>
        <p:nvSpPr>
          <p:cNvPr id="8" name="矩形 7">
            <a:extLst>
              <a:ext uri="{FF2B5EF4-FFF2-40B4-BE49-F238E27FC236}">
                <a16:creationId xmlns:a16="http://schemas.microsoft.com/office/drawing/2014/main" id="{A2769178-8F8D-404D-BE34-D27811DF5F80}"/>
              </a:ext>
            </a:extLst>
          </p:cNvPr>
          <p:cNvSpPr>
            <a:spLocks noGrp="1"/>
          </p:cNvSpPr>
          <p:nvPr/>
        </p:nvSpPr>
        <p:spPr>
          <a:xfrm>
            <a:off x="914400" y="2886075"/>
            <a:ext cx="2905125" cy="714375"/>
          </a:xfrm>
          <a:prstGeom prst="rect">
            <a:avLst/>
          </a:prstGeom>
          <a:noFill/>
          <a:ln w="0">
            <a:noFill/>
          </a:ln>
        </p:spPr>
        <p:txBody>
          <a:bodyPr>
            <a:noAutofit/>
          </a:bodyPr>
          <a:lstStyle/>
          <a:p>
            <a:pPr>
              <a:defRPr sz="1800" b="0">
                <a:solidFill>
                  <a:srgbClr val="172A2A"/>
                </a:solidFill>
                <a:latin typeface="Arial"/>
                <a:ea typeface="Arial"/>
                <a:cs typeface="Arial"/>
              </a:defRPr>
            </a:pPr>
            <a:r>
              <a:rPr sz="1800" b="0">
                <a:solidFill>
                  <a:srgbClr val="172A2A"/>
                </a:solidFill>
                <a:latin typeface="Arial"/>
                <a:ea typeface="Arial"/>
                <a:cs typeface="Arial"/>
              </a:rPr>
              <a:t>IRCMessage</a:t>
            </a:r>
          </a:p>
          <a:p>
            <a:pPr>
              <a:defRPr sz="1800" b="0">
                <a:solidFill>
                  <a:srgbClr val="172A2A"/>
                </a:solidFill>
                <a:latin typeface="Arial"/>
                <a:ea typeface="Arial"/>
                <a:cs typeface="Arial"/>
              </a:defRPr>
            </a:pPr>
            <a:r>
              <a:rPr sz="1800" b="0">
                <a:solidFill>
                  <a:srgbClr val="172A2A"/>
                </a:solidFill>
                <a:latin typeface="Arial"/>
                <a:ea typeface="Arial"/>
                <a:cs typeface="Arial"/>
              </a:rPr>
              <a:t>IRCStreamDecoder</a:t>
            </a:r>
          </a:p>
        </p:txBody>
      </p:sp>
      <p:sp>
        <p:nvSpPr>
          <p:cNvPr id="9" name="矩形 8">
            <a:extLst>
              <a:ext uri="{FF2B5EF4-FFF2-40B4-BE49-F238E27FC236}">
                <a16:creationId xmlns:a16="http://schemas.microsoft.com/office/drawing/2014/main" id="{A2818483-280A-4720-A312-237E13F51E53}"/>
              </a:ext>
            </a:extLst>
          </p:cNvPr>
          <p:cNvSpPr>
            <a:spLocks noGrp="1"/>
          </p:cNvSpPr>
          <p:nvPr/>
        </p:nvSpPr>
        <p:spPr>
          <a:xfrm>
            <a:off x="4429125" y="2200275"/>
            <a:ext cx="3257550" cy="1495425"/>
          </a:xfrm>
          <a:prstGeom prst="rect">
            <a:avLst/>
          </a:prstGeom>
          <a:solidFill>
            <a:srgbClr val="EDF7F4"/>
          </a:solidFill>
          <a:ln w="0">
            <a:noFill/>
          </a:ln>
        </p:spPr>
        <p:txBody>
          <a:bodyPr/>
          <a:lstStyle/>
          <a:p>
            <a:endParaRPr lang="zh-CN" altLang="en-US"/>
          </a:p>
        </p:txBody>
      </p:sp>
      <p:sp>
        <p:nvSpPr>
          <p:cNvPr id="10" name="矩形 9">
            <a:extLst>
              <a:ext uri="{FF2B5EF4-FFF2-40B4-BE49-F238E27FC236}">
                <a16:creationId xmlns:a16="http://schemas.microsoft.com/office/drawing/2014/main" id="{9751D897-F5FA-4F4A-ABCA-C9D9CE66BCF2}"/>
              </a:ext>
            </a:extLst>
          </p:cNvPr>
          <p:cNvSpPr>
            <a:spLocks noGrp="1"/>
          </p:cNvSpPr>
          <p:nvPr/>
        </p:nvSpPr>
        <p:spPr>
          <a:xfrm>
            <a:off x="4619625" y="2381250"/>
            <a:ext cx="2857500" cy="3810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server</a:t>
            </a:r>
          </a:p>
        </p:txBody>
      </p:sp>
      <p:sp>
        <p:nvSpPr>
          <p:cNvPr id="11" name="矩形 10">
            <a:extLst>
              <a:ext uri="{FF2B5EF4-FFF2-40B4-BE49-F238E27FC236}">
                <a16:creationId xmlns:a16="http://schemas.microsoft.com/office/drawing/2014/main" id="{37234434-96E2-41DB-A5BD-620443195715}"/>
              </a:ext>
            </a:extLst>
          </p:cNvPr>
          <p:cNvSpPr>
            <a:spLocks noGrp="1"/>
          </p:cNvSpPr>
          <p:nvPr/>
        </p:nvSpPr>
        <p:spPr>
          <a:xfrm>
            <a:off x="4619625" y="2886075"/>
            <a:ext cx="2905125" cy="714375"/>
          </a:xfrm>
          <a:prstGeom prst="rect">
            <a:avLst/>
          </a:prstGeom>
          <a:noFill/>
          <a:ln w="0">
            <a:noFill/>
          </a:ln>
        </p:spPr>
        <p:txBody>
          <a:bodyPr>
            <a:noAutofit/>
          </a:bodyPr>
          <a:lstStyle/>
          <a:p>
            <a:pPr>
              <a:defRPr sz="1800" b="0">
                <a:solidFill>
                  <a:srgbClr val="172A2A"/>
                </a:solidFill>
                <a:latin typeface="Arial"/>
                <a:ea typeface="Arial"/>
                <a:cs typeface="Arial"/>
              </a:defRPr>
            </a:pPr>
            <a:r>
              <a:rPr sz="1800" b="0">
                <a:solidFill>
                  <a:srgbClr val="172A2A"/>
                </a:solidFill>
                <a:latin typeface="Arial"/>
                <a:ea typeface="Arial"/>
                <a:cs typeface="Arial"/>
              </a:rPr>
              <a:t>ClientSession + handlers</a:t>
            </a:r>
          </a:p>
          <a:p>
            <a:pPr>
              <a:defRPr sz="1800" b="0">
                <a:solidFill>
                  <a:srgbClr val="172A2A"/>
                </a:solidFill>
                <a:latin typeface="Arial"/>
                <a:ea typeface="Arial"/>
                <a:cs typeface="Arial"/>
              </a:defRPr>
            </a:pPr>
            <a:r>
              <a:rPr sz="1800" b="0">
                <a:solidFill>
                  <a:srgbClr val="172A2A"/>
                </a:solidFill>
                <a:latin typeface="Arial"/>
                <a:ea typeface="Arial"/>
                <a:cs typeface="Arial"/>
              </a:rPr>
              <a:t>IRCState</a:t>
            </a:r>
          </a:p>
        </p:txBody>
      </p:sp>
      <p:sp>
        <p:nvSpPr>
          <p:cNvPr id="12" name="矩形 11">
            <a:extLst>
              <a:ext uri="{FF2B5EF4-FFF2-40B4-BE49-F238E27FC236}">
                <a16:creationId xmlns:a16="http://schemas.microsoft.com/office/drawing/2014/main" id="{5C4A9340-4407-4A4B-B52E-724B24445A80}"/>
              </a:ext>
            </a:extLst>
          </p:cNvPr>
          <p:cNvSpPr>
            <a:spLocks noGrp="1"/>
          </p:cNvSpPr>
          <p:nvPr/>
        </p:nvSpPr>
        <p:spPr>
          <a:xfrm>
            <a:off x="8134350" y="2200275"/>
            <a:ext cx="3257550" cy="1495425"/>
          </a:xfrm>
          <a:prstGeom prst="rect">
            <a:avLst/>
          </a:prstGeom>
          <a:solidFill>
            <a:srgbClr val="EDF7F4"/>
          </a:solidFill>
          <a:ln w="0">
            <a:noFill/>
          </a:ln>
        </p:spPr>
        <p:txBody>
          <a:bodyPr/>
          <a:lstStyle/>
          <a:p>
            <a:endParaRPr lang="zh-CN" altLang="en-US"/>
          </a:p>
        </p:txBody>
      </p:sp>
      <p:sp>
        <p:nvSpPr>
          <p:cNvPr id="13" name="矩形 12">
            <a:extLst>
              <a:ext uri="{FF2B5EF4-FFF2-40B4-BE49-F238E27FC236}">
                <a16:creationId xmlns:a16="http://schemas.microsoft.com/office/drawing/2014/main" id="{D4980BD2-38CE-492F-885C-05AF4D668BFE}"/>
              </a:ext>
            </a:extLst>
          </p:cNvPr>
          <p:cNvSpPr>
            <a:spLocks noGrp="1"/>
          </p:cNvSpPr>
          <p:nvPr/>
        </p:nvSpPr>
        <p:spPr>
          <a:xfrm>
            <a:off x="8324850" y="2381250"/>
            <a:ext cx="2857500" cy="3810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bot</a:t>
            </a:r>
          </a:p>
        </p:txBody>
      </p:sp>
      <p:sp>
        <p:nvSpPr>
          <p:cNvPr id="14" name="矩形 13">
            <a:extLst>
              <a:ext uri="{FF2B5EF4-FFF2-40B4-BE49-F238E27FC236}">
                <a16:creationId xmlns:a16="http://schemas.microsoft.com/office/drawing/2014/main" id="{0D4B5F4B-67C5-491F-B3F2-AA5238162134}"/>
              </a:ext>
            </a:extLst>
          </p:cNvPr>
          <p:cNvSpPr>
            <a:spLocks noGrp="1"/>
          </p:cNvSpPr>
          <p:nvPr/>
        </p:nvSpPr>
        <p:spPr>
          <a:xfrm>
            <a:off x="8324850" y="2886075"/>
            <a:ext cx="2905125" cy="714375"/>
          </a:xfrm>
          <a:prstGeom prst="rect">
            <a:avLst/>
          </a:prstGeom>
          <a:noFill/>
          <a:ln w="0">
            <a:noFill/>
          </a:ln>
        </p:spPr>
        <p:txBody>
          <a:bodyPr>
            <a:noAutofit/>
          </a:bodyPr>
          <a:lstStyle/>
          <a:p>
            <a:pPr>
              <a:defRPr sz="1800" b="0">
                <a:solidFill>
                  <a:srgbClr val="172A2A"/>
                </a:solidFill>
                <a:latin typeface="Arial"/>
                <a:ea typeface="Arial"/>
                <a:cs typeface="Arial"/>
              </a:defRPr>
            </a:pPr>
            <a:r>
              <a:rPr sz="1800" b="0">
                <a:solidFill>
                  <a:srgbClr val="172A2A"/>
                </a:solidFill>
                <a:latin typeface="Arial"/>
                <a:ea typeface="Arial"/>
                <a:cs typeface="Arial"/>
              </a:rPr>
              <a:t>BotClient + BotState</a:t>
            </a:r>
          </a:p>
          <a:p>
            <a:pPr>
              <a:defRPr sz="1800" b="0">
                <a:solidFill>
                  <a:srgbClr val="172A2A"/>
                </a:solidFill>
                <a:latin typeface="Arial"/>
                <a:ea typeface="Arial"/>
                <a:cs typeface="Arial"/>
              </a:defRPr>
            </a:pPr>
            <a:r>
              <a:rPr sz="1800" b="0">
                <a:solidFill>
                  <a:srgbClr val="172A2A"/>
                </a:solidFill>
                <a:latin typeface="Arial"/>
                <a:ea typeface="Arial"/>
                <a:cs typeface="Arial"/>
              </a:rPr>
              <a:t>命令处理器</a:t>
            </a:r>
          </a:p>
        </p:txBody>
      </p:sp>
      <p:sp>
        <p:nvSpPr>
          <p:cNvPr id="15" name="矩形 14">
            <a:extLst>
              <a:ext uri="{FF2B5EF4-FFF2-40B4-BE49-F238E27FC236}">
                <a16:creationId xmlns:a16="http://schemas.microsoft.com/office/drawing/2014/main" id="{E551E0E7-0194-451B-9C7F-A591A01B7018}"/>
              </a:ext>
            </a:extLst>
          </p:cNvPr>
          <p:cNvSpPr>
            <a:spLocks noGrp="1"/>
          </p:cNvSpPr>
          <p:nvPr/>
        </p:nvSpPr>
        <p:spPr>
          <a:xfrm>
            <a:off x="723900" y="421005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实现成果</a:t>
            </a:r>
          </a:p>
        </p:txBody>
      </p:sp>
      <p:sp>
        <p:nvSpPr>
          <p:cNvPr id="16" name="矩形 15">
            <a:extLst>
              <a:ext uri="{FF2B5EF4-FFF2-40B4-BE49-F238E27FC236}">
                <a16:creationId xmlns:a16="http://schemas.microsoft.com/office/drawing/2014/main" id="{29635160-CA18-4B08-8910-3B4140066D7E}"/>
              </a:ext>
            </a:extLst>
          </p:cNvPr>
          <p:cNvSpPr>
            <a:spLocks noGrp="1"/>
          </p:cNvSpPr>
          <p:nvPr/>
        </p:nvSpPr>
        <p:spPr>
          <a:xfrm>
            <a:off x="723900" y="475297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协议对象、服务器会话、机器人状态与命令处理</a:t>
            </a:r>
          </a:p>
        </p:txBody>
      </p:sp>
      <p:sp>
        <p:nvSpPr>
          <p:cNvPr id="17" name="矩形 16">
            <a:extLst>
              <a:ext uri="{FF2B5EF4-FFF2-40B4-BE49-F238E27FC236}">
                <a16:creationId xmlns:a16="http://schemas.microsoft.com/office/drawing/2014/main" id="{43F66AFC-B921-4881-B3B6-9847BB97792F}"/>
              </a:ext>
            </a:extLst>
          </p:cNvPr>
          <p:cNvSpPr>
            <a:spLocks noGrp="1"/>
          </p:cNvSpPr>
          <p:nvPr/>
        </p:nvSpPr>
        <p:spPr>
          <a:xfrm>
            <a:off x="6572250" y="421005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测试与验收证据</a:t>
            </a:r>
          </a:p>
        </p:txBody>
      </p:sp>
      <p:sp>
        <p:nvSpPr>
          <p:cNvPr id="18" name="矩形 17">
            <a:extLst>
              <a:ext uri="{FF2B5EF4-FFF2-40B4-BE49-F238E27FC236}">
                <a16:creationId xmlns:a16="http://schemas.microsoft.com/office/drawing/2014/main" id="{9C2339DF-93B6-4B74-9178-410128C950F0}"/>
              </a:ext>
            </a:extLst>
          </p:cNvPr>
          <p:cNvSpPr>
            <a:spLocks noGrp="1"/>
          </p:cNvSpPr>
          <p:nvPr/>
        </p:nvSpPr>
        <p:spPr>
          <a:xfrm>
            <a:off x="6572250" y="475297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回归测试、IPv6 直接连接检查、Ubuntu 与 Windows 虚拟机测试、miniircd 和 HexChat 验收</a:t>
            </a:r>
          </a:p>
        </p:txBody>
      </p:sp>
      <p:sp>
        <p:nvSpPr>
          <p:cNvPr id="19" name="矩形 18">
            <a:extLst>
              <a:ext uri="{FF2B5EF4-FFF2-40B4-BE49-F238E27FC236}">
                <a16:creationId xmlns:a16="http://schemas.microsoft.com/office/drawing/2014/main" id="{16AB2E05-4E0C-446F-BAFC-F33AB85BBE2A}"/>
              </a:ext>
            </a:extLst>
          </p:cNvPr>
          <p:cNvSpPr>
            <a:spLocks noGrp="1"/>
          </p:cNvSpPr>
          <p:nvPr/>
        </p:nvSpPr>
        <p:spPr>
          <a:xfrm>
            <a:off x="914400" y="3790950"/>
            <a:ext cx="3048000" cy="257175"/>
          </a:xfrm>
          <a:prstGeom prst="rect">
            <a:avLst/>
          </a:prstGeom>
          <a:noFill/>
          <a:ln w="0">
            <a:noFill/>
          </a:ln>
        </p:spPr>
        <p:txBody>
          <a:bodyPr>
            <a:noAutofit/>
          </a:bodyPr>
          <a:lstStyle/>
          <a:p>
            <a:pPr>
              <a:defRPr sz="1425">
                <a:solidFill>
                  <a:srgbClr val="087F78"/>
                </a:solidFill>
                <a:latin typeface="Microsoft YaHei"/>
                <a:ea typeface="Microsoft YaHei"/>
                <a:cs typeface="Microsoft YaHei"/>
              </a:defRPr>
            </a:pPr>
            <a:r>
              <a:rPr sz="1425" dirty="0">
                <a:solidFill>
                  <a:srgbClr val="087F78"/>
                </a:solidFill>
                <a:latin typeface="Microsoft YaHei"/>
                <a:ea typeface="Microsoft YaHei"/>
                <a:cs typeface="Microsoft YaHei"/>
              </a:rPr>
              <a:t>代码与文档：</a:t>
            </a:r>
            <a:r>
              <a:rPr lang="zh-CN" altLang="en-US" sz="1425" dirty="0">
                <a:solidFill>
                  <a:srgbClr val="087F78"/>
                </a:solidFill>
                <a:latin typeface="Microsoft YaHei"/>
                <a:ea typeface="Microsoft YaHei"/>
                <a:cs typeface="Microsoft YaHei"/>
              </a:rPr>
              <a:t> </a:t>
            </a:r>
            <a:r>
              <a:rPr lang="en-US" altLang="zh-CN" sz="1425" dirty="0">
                <a:solidFill>
                  <a:srgbClr val="087F78"/>
                </a:solidFill>
                <a:latin typeface="Microsoft YaHei"/>
                <a:ea typeface="Microsoft YaHei"/>
                <a:cs typeface="Microsoft YaHei"/>
              </a:rPr>
              <a:t>Kun Qian</a:t>
            </a:r>
            <a:endParaRPr sz="1425" dirty="0">
              <a:solidFill>
                <a:srgbClr val="087F78"/>
              </a:solidFill>
              <a:latin typeface="Microsoft YaHei"/>
              <a:ea typeface="Microsoft YaHei"/>
              <a:cs typeface="Microsoft YaHei"/>
            </a:endParaRPr>
          </a:p>
        </p:txBody>
      </p:sp>
      <p:sp>
        <p:nvSpPr>
          <p:cNvPr id="20" name="矩形 19">
            <a:extLst>
              <a:ext uri="{FF2B5EF4-FFF2-40B4-BE49-F238E27FC236}">
                <a16:creationId xmlns:a16="http://schemas.microsoft.com/office/drawing/2014/main" id="{DE4F2C4E-2704-4B86-919E-A2868FE18E9B}"/>
              </a:ext>
            </a:extLst>
          </p:cNvPr>
          <p:cNvSpPr>
            <a:spLocks noGrp="1"/>
          </p:cNvSpPr>
          <p:nvPr/>
        </p:nvSpPr>
        <p:spPr>
          <a:xfrm>
            <a:off x="4377252" y="3790950"/>
            <a:ext cx="3333750" cy="257175"/>
          </a:xfrm>
          <a:prstGeom prst="rect">
            <a:avLst/>
          </a:prstGeom>
          <a:noFill/>
          <a:ln w="0">
            <a:noFill/>
          </a:ln>
        </p:spPr>
        <p:txBody>
          <a:bodyPr>
            <a:noAutofit/>
          </a:bodyPr>
          <a:lstStyle/>
          <a:p>
            <a:pPr>
              <a:defRPr sz="1425">
                <a:solidFill>
                  <a:srgbClr val="087F78"/>
                </a:solidFill>
                <a:latin typeface="Microsoft YaHei"/>
                <a:ea typeface="Microsoft YaHei"/>
                <a:cs typeface="Microsoft YaHei"/>
              </a:defRPr>
            </a:pPr>
            <a:r>
              <a:rPr sz="1425" dirty="0">
                <a:solidFill>
                  <a:srgbClr val="087F78"/>
                </a:solidFill>
                <a:latin typeface="Microsoft YaHei"/>
                <a:ea typeface="Microsoft YaHei"/>
                <a:cs typeface="Microsoft YaHei"/>
              </a:rPr>
              <a:t>代码与文档：</a:t>
            </a:r>
            <a:r>
              <a:rPr lang="en-US" sz="1425" dirty="0">
                <a:solidFill>
                  <a:srgbClr val="087F78"/>
                </a:solidFill>
                <a:latin typeface="Microsoft YaHei"/>
                <a:ea typeface="Microsoft YaHei"/>
                <a:cs typeface="Microsoft YaHei"/>
              </a:rPr>
              <a:t> Yibo Xu, </a:t>
            </a:r>
            <a:r>
              <a:rPr lang="en-US" sz="1425" dirty="0" err="1">
                <a:solidFill>
                  <a:srgbClr val="087F78"/>
                </a:solidFill>
                <a:latin typeface="Microsoft YaHei"/>
                <a:ea typeface="Microsoft YaHei"/>
                <a:cs typeface="Microsoft YaHei"/>
              </a:rPr>
              <a:t>Jingsong</a:t>
            </a:r>
            <a:r>
              <a:rPr lang="en-US" sz="1425" dirty="0">
                <a:solidFill>
                  <a:srgbClr val="087F78"/>
                </a:solidFill>
                <a:latin typeface="Microsoft YaHei"/>
                <a:ea typeface="Microsoft YaHei"/>
                <a:cs typeface="Microsoft YaHei"/>
              </a:rPr>
              <a:t> She</a:t>
            </a:r>
            <a:endParaRPr sz="1425" dirty="0">
              <a:solidFill>
                <a:srgbClr val="087F78"/>
              </a:solidFill>
              <a:latin typeface="Microsoft YaHei"/>
              <a:ea typeface="Microsoft YaHei"/>
              <a:cs typeface="Microsoft YaHei"/>
            </a:endParaRPr>
          </a:p>
        </p:txBody>
      </p:sp>
      <p:sp>
        <p:nvSpPr>
          <p:cNvPr id="21" name="矩形 20">
            <a:extLst>
              <a:ext uri="{FF2B5EF4-FFF2-40B4-BE49-F238E27FC236}">
                <a16:creationId xmlns:a16="http://schemas.microsoft.com/office/drawing/2014/main" id="{59CB13E5-8238-415E-A9AD-2F5735A4CA02}"/>
              </a:ext>
            </a:extLst>
          </p:cNvPr>
          <p:cNvSpPr>
            <a:spLocks noGrp="1"/>
          </p:cNvSpPr>
          <p:nvPr/>
        </p:nvSpPr>
        <p:spPr>
          <a:xfrm>
            <a:off x="8134350" y="3790950"/>
            <a:ext cx="3708323" cy="209550"/>
          </a:xfrm>
          <a:prstGeom prst="rect">
            <a:avLst/>
          </a:prstGeom>
          <a:noFill/>
          <a:ln w="0">
            <a:noFill/>
          </a:ln>
        </p:spPr>
        <p:txBody>
          <a:bodyPr>
            <a:noAutofit/>
          </a:bodyPr>
          <a:lstStyle/>
          <a:p>
            <a:pPr>
              <a:defRPr sz="1425">
                <a:solidFill>
                  <a:srgbClr val="087F78"/>
                </a:solidFill>
                <a:latin typeface="Microsoft YaHei"/>
                <a:ea typeface="Microsoft YaHei"/>
                <a:cs typeface="Microsoft YaHei"/>
              </a:defRPr>
            </a:pPr>
            <a:r>
              <a:rPr sz="1425" dirty="0">
                <a:solidFill>
                  <a:srgbClr val="087F78"/>
                </a:solidFill>
                <a:latin typeface="Microsoft YaHei"/>
                <a:ea typeface="Microsoft YaHei"/>
                <a:cs typeface="Microsoft YaHei"/>
              </a:rPr>
              <a:t>代码与文档：</a:t>
            </a:r>
            <a:r>
              <a:rPr lang="en-US" sz="1425" dirty="0">
                <a:solidFill>
                  <a:srgbClr val="087F78"/>
                </a:solidFill>
                <a:latin typeface="Microsoft YaHei"/>
                <a:ea typeface="Microsoft YaHei"/>
                <a:cs typeface="Microsoft YaHei"/>
              </a:rPr>
              <a:t> </a:t>
            </a:r>
            <a:r>
              <a:rPr lang="en-US" sz="1425" dirty="0" err="1">
                <a:solidFill>
                  <a:srgbClr val="087F78"/>
                </a:solidFill>
                <a:latin typeface="Microsoft YaHei"/>
                <a:ea typeface="Microsoft YaHei"/>
                <a:cs typeface="Microsoft YaHei"/>
              </a:rPr>
              <a:t>Tianxing</a:t>
            </a:r>
            <a:r>
              <a:rPr lang="en-US" sz="1425" dirty="0">
                <a:solidFill>
                  <a:srgbClr val="087F78"/>
                </a:solidFill>
                <a:latin typeface="Microsoft YaHei"/>
                <a:ea typeface="Microsoft YaHei"/>
                <a:cs typeface="Microsoft YaHei"/>
              </a:rPr>
              <a:t> Wei</a:t>
            </a:r>
            <a:r>
              <a:rPr sz="1425" dirty="0">
                <a:solidFill>
                  <a:srgbClr val="087F78"/>
                </a:solidFill>
                <a:latin typeface="Microsoft YaHei"/>
                <a:ea typeface="Microsoft YaHei"/>
                <a:cs typeface="Microsoft YaHei"/>
              </a:rPr>
              <a:t>, Li </a:t>
            </a:r>
            <a:r>
              <a:rPr sz="1425" dirty="0" err="1">
                <a:solidFill>
                  <a:srgbClr val="087F78"/>
                </a:solidFill>
                <a:latin typeface="Microsoft YaHei"/>
                <a:ea typeface="Microsoft YaHei"/>
                <a:cs typeface="Microsoft YaHei"/>
              </a:rPr>
              <a:t>Yuzong</a:t>
            </a:r>
            <a:endParaRPr sz="1425" dirty="0">
              <a:solidFill>
                <a:srgbClr val="087F78"/>
              </a:solidFill>
              <a:latin typeface="Microsoft YaHei"/>
              <a:ea typeface="Microsoft YaHei"/>
              <a:cs typeface="Microsoft YaHei"/>
            </a:endParaRPr>
          </a:p>
        </p:txBody>
      </p:sp>
    </p:spTree>
    <p:extLst>
      <p:ext uri="{BB962C8B-B14F-4D97-AF65-F5344CB8AC3E}">
        <p14:creationId xmlns:p14="http://schemas.microsoft.com/office/powerpoint/2010/main" val="1430402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99C5E4FF-841F-4728-8D58-98DAD6174336}"/>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协议实现</a:t>
            </a:r>
          </a:p>
        </p:txBody>
      </p:sp>
      <p:sp>
        <p:nvSpPr>
          <p:cNvPr id="2" name="矩形 1">
            <a:extLst>
              <a:ext uri="{FF2B5EF4-FFF2-40B4-BE49-F238E27FC236}">
                <a16:creationId xmlns:a16="http://schemas.microsoft.com/office/drawing/2014/main" id="{763D149A-0F12-4E15-9839-6DA7E41D3F7C}"/>
              </a:ext>
            </a:extLst>
          </p:cNvPr>
          <p:cNvSpPr>
            <a:spLocks noGrp="1"/>
          </p:cNvSpPr>
          <p:nvPr/>
        </p:nvSpPr>
        <p:spPr>
          <a:xfrm>
            <a:off x="723900" y="1333500"/>
            <a:ext cx="10668000" cy="571500"/>
          </a:xfrm>
          <a:prstGeom prst="rect">
            <a:avLst/>
          </a:prstGeom>
          <a:noFill/>
          <a:ln w="0">
            <a:noFill/>
          </a:ln>
        </p:spPr>
        <p:txBody>
          <a:bodyPr>
            <a:noAutofit/>
          </a:bodyPr>
          <a:lstStyle/>
          <a:p>
            <a:pPr>
              <a:defRPr sz="1725" b="0">
                <a:solidFill>
                  <a:srgbClr val="596C6B"/>
                </a:solidFill>
                <a:latin typeface="Arial"/>
                <a:ea typeface="Arial"/>
                <a:cs typeface="Arial"/>
              </a:defRPr>
            </a:pPr>
            <a:r>
              <a:rPr sz="1725" b="0">
                <a:solidFill>
                  <a:srgbClr val="596C6B"/>
                </a:solidFill>
                <a:latin typeface="Arial"/>
                <a:ea typeface="Arial"/>
                <a:cs typeface="Arial"/>
              </a:rPr>
              <a:t>我们将协议解析与套接字操作分离，并增加了边界检查</a:t>
            </a:r>
          </a:p>
        </p:txBody>
      </p:sp>
      <p:sp>
        <p:nvSpPr>
          <p:cNvPr id="3" name="矩形 2">
            <a:extLst>
              <a:ext uri="{FF2B5EF4-FFF2-40B4-BE49-F238E27FC236}">
                <a16:creationId xmlns:a16="http://schemas.microsoft.com/office/drawing/2014/main" id="{1D540BB3-85ED-4D54-BAED-8D4494D1F5B5}"/>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F15E9E15-F2CB-4D0D-8FFA-F4372C43EFCD}"/>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套接字编程 | 期中评审</a:t>
            </a:r>
          </a:p>
        </p:txBody>
      </p:sp>
      <p:sp>
        <p:nvSpPr>
          <p:cNvPr id="5" name="矩形 4">
            <a:extLst>
              <a:ext uri="{FF2B5EF4-FFF2-40B4-BE49-F238E27FC236}">
                <a16:creationId xmlns:a16="http://schemas.microsoft.com/office/drawing/2014/main" id="{BADD1EB4-32E5-474F-85CF-F5DACFC95900}"/>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03</a:t>
            </a:r>
          </a:p>
        </p:txBody>
      </p:sp>
      <p:sp>
        <p:nvSpPr>
          <p:cNvPr id="6" name="矩形 5">
            <a:extLst>
              <a:ext uri="{FF2B5EF4-FFF2-40B4-BE49-F238E27FC236}">
                <a16:creationId xmlns:a16="http://schemas.microsoft.com/office/drawing/2014/main" id="{E3294006-2DEB-4C41-9F93-89CF2EF6C66B}"/>
              </a:ext>
            </a:extLst>
          </p:cNvPr>
          <p:cNvSpPr>
            <a:spLocks noGrp="1"/>
          </p:cNvSpPr>
          <p:nvPr/>
        </p:nvSpPr>
        <p:spPr>
          <a:xfrm>
            <a:off x="723900" y="2076450"/>
            <a:ext cx="10668000" cy="781050"/>
          </a:xfrm>
          <a:prstGeom prst="rect">
            <a:avLst/>
          </a:prstGeom>
          <a:solidFill>
            <a:srgbClr val="EDF7F4"/>
          </a:solidFill>
          <a:ln w="0">
            <a:noFill/>
          </a:ln>
        </p:spPr>
        <p:txBody>
          <a:bodyPr/>
          <a:lstStyle/>
          <a:p>
            <a:endParaRPr lang="zh-CN" altLang="en-US"/>
          </a:p>
        </p:txBody>
      </p:sp>
      <p:sp>
        <p:nvSpPr>
          <p:cNvPr id="7" name="矩形 6">
            <a:extLst>
              <a:ext uri="{FF2B5EF4-FFF2-40B4-BE49-F238E27FC236}">
                <a16:creationId xmlns:a16="http://schemas.microsoft.com/office/drawing/2014/main" id="{E2B97185-81EA-40F8-911D-E4BD80602C77}"/>
              </a:ext>
            </a:extLst>
          </p:cNvPr>
          <p:cNvSpPr>
            <a:spLocks noGrp="1"/>
          </p:cNvSpPr>
          <p:nvPr/>
        </p:nvSpPr>
        <p:spPr>
          <a:xfrm>
            <a:off x="952500" y="2257425"/>
            <a:ext cx="10191750" cy="495300"/>
          </a:xfrm>
          <a:prstGeom prst="rect">
            <a:avLst/>
          </a:prstGeom>
          <a:noFill/>
          <a:ln w="0">
            <a:noFill/>
          </a:ln>
        </p:spPr>
        <p:txBody>
          <a:bodyPr>
            <a:noAutofit/>
          </a:bodyPr>
          <a:lstStyle/>
          <a:p>
            <a:pPr>
              <a:defRPr sz="2475" b="1">
                <a:solidFill>
                  <a:srgbClr val="087F78"/>
                </a:solidFill>
                <a:latin typeface="Arial"/>
                <a:ea typeface="Arial"/>
                <a:cs typeface="Arial"/>
              </a:defRPr>
            </a:pPr>
            <a:r>
              <a:rPr sz="2475" b="1">
                <a:solidFill>
                  <a:srgbClr val="087F78"/>
                </a:solidFill>
                <a:latin typeface="Arial"/>
                <a:ea typeface="Arial"/>
                <a:cs typeface="Arial"/>
              </a:rPr>
              <a:t>:alice!u@host PRIVMSG #hello :Hi Bob</a:t>
            </a:r>
          </a:p>
        </p:txBody>
      </p:sp>
      <p:sp>
        <p:nvSpPr>
          <p:cNvPr id="8" name="矩形 7">
            <a:extLst>
              <a:ext uri="{FF2B5EF4-FFF2-40B4-BE49-F238E27FC236}">
                <a16:creationId xmlns:a16="http://schemas.microsoft.com/office/drawing/2014/main" id="{A0B82BC9-0B64-4886-A939-425AA9C60AFC}"/>
              </a:ext>
            </a:extLst>
          </p:cNvPr>
          <p:cNvSpPr>
            <a:spLocks noGrp="1"/>
          </p:cNvSpPr>
          <p:nvPr/>
        </p:nvSpPr>
        <p:spPr>
          <a:xfrm>
            <a:off x="723900" y="3133725"/>
            <a:ext cx="3238500" cy="419100"/>
          </a:xfrm>
          <a:prstGeom prst="rect">
            <a:avLst/>
          </a:prstGeom>
          <a:noFill/>
          <a:ln w="0">
            <a:noFill/>
          </a:ln>
        </p:spPr>
        <p:txBody>
          <a:bodyPr>
            <a:noAutofit/>
          </a:bodyPr>
          <a:lstStyle/>
          <a:p>
            <a:pPr>
              <a:defRPr sz="2175" b="1">
                <a:solidFill>
                  <a:srgbClr val="087F78"/>
                </a:solidFill>
                <a:latin typeface="Arial"/>
                <a:ea typeface="Arial"/>
                <a:cs typeface="Arial"/>
              </a:defRPr>
            </a:pPr>
            <a:r>
              <a:rPr sz="2175" b="1">
                <a:solidFill>
                  <a:srgbClr val="087F78"/>
                </a:solidFill>
                <a:latin typeface="Arial"/>
                <a:ea typeface="Arial"/>
                <a:cs typeface="Arial"/>
              </a:rPr>
              <a:t>前缀</a:t>
            </a:r>
          </a:p>
        </p:txBody>
      </p:sp>
      <p:sp>
        <p:nvSpPr>
          <p:cNvPr id="9" name="矩形 8">
            <a:extLst>
              <a:ext uri="{FF2B5EF4-FFF2-40B4-BE49-F238E27FC236}">
                <a16:creationId xmlns:a16="http://schemas.microsoft.com/office/drawing/2014/main" id="{E2CC176C-1043-4490-8419-3F9B2C264BDE}"/>
              </a:ext>
            </a:extLst>
          </p:cNvPr>
          <p:cNvSpPr>
            <a:spLocks noGrp="1"/>
          </p:cNvSpPr>
          <p:nvPr/>
        </p:nvSpPr>
        <p:spPr>
          <a:xfrm>
            <a:off x="723900" y="3686175"/>
            <a:ext cx="3333750" cy="523875"/>
          </a:xfrm>
          <a:prstGeom prst="rect">
            <a:avLst/>
          </a:prstGeom>
          <a:noFill/>
          <a:ln w="0">
            <a:noFill/>
          </a:ln>
        </p:spPr>
        <p:txBody>
          <a:bodyPr>
            <a:noAutofit/>
          </a:bodyPr>
          <a:lstStyle/>
          <a:p>
            <a:pPr>
              <a:defRPr sz="2025" b="0">
                <a:solidFill>
                  <a:srgbClr val="172A2A"/>
                </a:solidFill>
                <a:latin typeface="Arial"/>
                <a:ea typeface="Arial"/>
                <a:cs typeface="Arial"/>
              </a:defRPr>
            </a:pPr>
            <a:r>
              <a:rPr sz="2025" b="0">
                <a:solidFill>
                  <a:srgbClr val="172A2A"/>
                </a:solidFill>
                <a:latin typeface="Arial"/>
                <a:ea typeface="Arial"/>
                <a:cs typeface="Arial"/>
              </a:rPr>
              <a:t>alice!u@host</a:t>
            </a:r>
          </a:p>
        </p:txBody>
      </p:sp>
      <p:sp>
        <p:nvSpPr>
          <p:cNvPr id="10" name="矩形 9">
            <a:extLst>
              <a:ext uri="{FF2B5EF4-FFF2-40B4-BE49-F238E27FC236}">
                <a16:creationId xmlns:a16="http://schemas.microsoft.com/office/drawing/2014/main" id="{F83FFC0F-5CD0-4666-9431-EB88BC7A044B}"/>
              </a:ext>
            </a:extLst>
          </p:cNvPr>
          <p:cNvSpPr>
            <a:spLocks noGrp="1"/>
          </p:cNvSpPr>
          <p:nvPr/>
        </p:nvSpPr>
        <p:spPr>
          <a:xfrm>
            <a:off x="4429125" y="3133725"/>
            <a:ext cx="3238500" cy="419100"/>
          </a:xfrm>
          <a:prstGeom prst="rect">
            <a:avLst/>
          </a:prstGeom>
          <a:noFill/>
          <a:ln w="0">
            <a:noFill/>
          </a:ln>
        </p:spPr>
        <p:txBody>
          <a:bodyPr>
            <a:noAutofit/>
          </a:bodyPr>
          <a:lstStyle/>
          <a:p>
            <a:pPr>
              <a:defRPr sz="2175" b="1">
                <a:solidFill>
                  <a:srgbClr val="087F78"/>
                </a:solidFill>
                <a:latin typeface="Arial"/>
                <a:ea typeface="Arial"/>
                <a:cs typeface="Arial"/>
              </a:defRPr>
            </a:pPr>
            <a:r>
              <a:rPr sz="2175" b="1">
                <a:solidFill>
                  <a:srgbClr val="087F78"/>
                </a:solidFill>
                <a:latin typeface="Arial"/>
                <a:ea typeface="Arial"/>
                <a:cs typeface="Arial"/>
              </a:rPr>
              <a:t>命令</a:t>
            </a:r>
          </a:p>
        </p:txBody>
      </p:sp>
      <p:sp>
        <p:nvSpPr>
          <p:cNvPr id="11" name="矩形 10">
            <a:extLst>
              <a:ext uri="{FF2B5EF4-FFF2-40B4-BE49-F238E27FC236}">
                <a16:creationId xmlns:a16="http://schemas.microsoft.com/office/drawing/2014/main" id="{45AF5137-A334-4B96-AEFF-12511D8977E5}"/>
              </a:ext>
            </a:extLst>
          </p:cNvPr>
          <p:cNvSpPr>
            <a:spLocks noGrp="1"/>
          </p:cNvSpPr>
          <p:nvPr/>
        </p:nvSpPr>
        <p:spPr>
          <a:xfrm>
            <a:off x="4429125" y="3686175"/>
            <a:ext cx="3333750" cy="523875"/>
          </a:xfrm>
          <a:prstGeom prst="rect">
            <a:avLst/>
          </a:prstGeom>
          <a:noFill/>
          <a:ln w="0">
            <a:noFill/>
          </a:ln>
        </p:spPr>
        <p:txBody>
          <a:bodyPr>
            <a:noAutofit/>
          </a:bodyPr>
          <a:lstStyle/>
          <a:p>
            <a:pPr>
              <a:defRPr sz="2025" b="0">
                <a:solidFill>
                  <a:srgbClr val="172A2A"/>
                </a:solidFill>
                <a:latin typeface="Arial"/>
                <a:ea typeface="Arial"/>
                <a:cs typeface="Arial"/>
              </a:defRPr>
            </a:pPr>
            <a:r>
              <a:rPr sz="2025" b="0">
                <a:solidFill>
                  <a:srgbClr val="172A2A"/>
                </a:solidFill>
                <a:latin typeface="Arial"/>
                <a:ea typeface="Arial"/>
                <a:cs typeface="Arial"/>
              </a:rPr>
              <a:t>PRIVMSG</a:t>
            </a:r>
          </a:p>
        </p:txBody>
      </p:sp>
      <p:sp>
        <p:nvSpPr>
          <p:cNvPr id="12" name="矩形 11">
            <a:extLst>
              <a:ext uri="{FF2B5EF4-FFF2-40B4-BE49-F238E27FC236}">
                <a16:creationId xmlns:a16="http://schemas.microsoft.com/office/drawing/2014/main" id="{F2733A92-A533-4C16-BFB1-15AC0C345441}"/>
              </a:ext>
            </a:extLst>
          </p:cNvPr>
          <p:cNvSpPr>
            <a:spLocks noGrp="1"/>
          </p:cNvSpPr>
          <p:nvPr/>
        </p:nvSpPr>
        <p:spPr>
          <a:xfrm>
            <a:off x="8134350" y="3133725"/>
            <a:ext cx="3238500" cy="419100"/>
          </a:xfrm>
          <a:prstGeom prst="rect">
            <a:avLst/>
          </a:prstGeom>
          <a:noFill/>
          <a:ln w="0">
            <a:noFill/>
          </a:ln>
        </p:spPr>
        <p:txBody>
          <a:bodyPr>
            <a:noAutofit/>
          </a:bodyPr>
          <a:lstStyle/>
          <a:p>
            <a:pPr>
              <a:defRPr sz="2175" b="1">
                <a:solidFill>
                  <a:srgbClr val="087F78"/>
                </a:solidFill>
                <a:latin typeface="Arial"/>
                <a:ea typeface="Arial"/>
                <a:cs typeface="Arial"/>
              </a:defRPr>
            </a:pPr>
            <a:r>
              <a:rPr sz="2175" b="1">
                <a:solidFill>
                  <a:srgbClr val="087F78"/>
                </a:solidFill>
                <a:latin typeface="Arial"/>
                <a:ea typeface="Arial"/>
                <a:cs typeface="Arial"/>
              </a:rPr>
              <a:t>参数</a:t>
            </a:r>
          </a:p>
        </p:txBody>
      </p:sp>
      <p:sp>
        <p:nvSpPr>
          <p:cNvPr id="13" name="矩形 12">
            <a:extLst>
              <a:ext uri="{FF2B5EF4-FFF2-40B4-BE49-F238E27FC236}">
                <a16:creationId xmlns:a16="http://schemas.microsoft.com/office/drawing/2014/main" id="{AD2DBD81-21B4-4748-A63B-CC88C896C08A}"/>
              </a:ext>
            </a:extLst>
          </p:cNvPr>
          <p:cNvSpPr>
            <a:spLocks noGrp="1"/>
          </p:cNvSpPr>
          <p:nvPr/>
        </p:nvSpPr>
        <p:spPr>
          <a:xfrm>
            <a:off x="8134350" y="3686175"/>
            <a:ext cx="3333750" cy="523875"/>
          </a:xfrm>
          <a:prstGeom prst="rect">
            <a:avLst/>
          </a:prstGeom>
          <a:noFill/>
          <a:ln w="0">
            <a:noFill/>
          </a:ln>
        </p:spPr>
        <p:txBody>
          <a:bodyPr>
            <a:noAutofit/>
          </a:bodyPr>
          <a:lstStyle/>
          <a:p>
            <a:pPr>
              <a:defRPr sz="2025" b="0">
                <a:solidFill>
                  <a:srgbClr val="172A2A"/>
                </a:solidFill>
                <a:latin typeface="Arial"/>
                <a:ea typeface="Arial"/>
                <a:cs typeface="Arial"/>
              </a:defRPr>
            </a:pPr>
            <a:r>
              <a:rPr sz="2025" b="0">
                <a:solidFill>
                  <a:srgbClr val="172A2A"/>
                </a:solidFill>
                <a:latin typeface="Arial"/>
                <a:ea typeface="Arial"/>
                <a:cs typeface="Arial"/>
              </a:rPr>
              <a:t>("#hello", "Hi Bob")</a:t>
            </a:r>
          </a:p>
        </p:txBody>
      </p:sp>
      <p:sp>
        <p:nvSpPr>
          <p:cNvPr id="14" name="矩形 13">
            <a:extLst>
              <a:ext uri="{FF2B5EF4-FFF2-40B4-BE49-F238E27FC236}">
                <a16:creationId xmlns:a16="http://schemas.microsoft.com/office/drawing/2014/main" id="{9ECE9CE4-C7F1-4C1A-872F-234D22BF69D8}"/>
              </a:ext>
            </a:extLst>
          </p:cNvPr>
          <p:cNvSpPr>
            <a:spLocks noGrp="1"/>
          </p:cNvSpPr>
          <p:nvPr/>
        </p:nvSpPr>
        <p:spPr>
          <a:xfrm>
            <a:off x="723900" y="4524375"/>
            <a:ext cx="10668000" cy="19050"/>
          </a:xfrm>
          <a:prstGeom prst="rect">
            <a:avLst/>
          </a:prstGeom>
          <a:solidFill>
            <a:srgbClr val="D6E4E1"/>
          </a:solidFill>
          <a:ln w="0">
            <a:noFill/>
          </a:ln>
        </p:spPr>
        <p:txBody>
          <a:bodyPr/>
          <a:lstStyle/>
          <a:p>
            <a:endParaRPr lang="zh-CN" altLang="en-US"/>
          </a:p>
        </p:txBody>
      </p:sp>
      <p:sp>
        <p:nvSpPr>
          <p:cNvPr id="15" name="矩形 14">
            <a:extLst>
              <a:ext uri="{FF2B5EF4-FFF2-40B4-BE49-F238E27FC236}">
                <a16:creationId xmlns:a16="http://schemas.microsoft.com/office/drawing/2014/main" id="{A0AF1C86-447F-4BAE-9D01-031D20B5699E}"/>
              </a:ext>
            </a:extLst>
          </p:cNvPr>
          <p:cNvSpPr>
            <a:spLocks noGrp="1"/>
          </p:cNvSpPr>
          <p:nvPr/>
        </p:nvSpPr>
        <p:spPr>
          <a:xfrm>
            <a:off x="723900" y="483870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IRCStreamDecoder</a:t>
            </a:r>
          </a:p>
        </p:txBody>
      </p:sp>
      <p:sp>
        <p:nvSpPr>
          <p:cNvPr id="16" name="矩形 15">
            <a:extLst>
              <a:ext uri="{FF2B5EF4-FFF2-40B4-BE49-F238E27FC236}">
                <a16:creationId xmlns:a16="http://schemas.microsoft.com/office/drawing/2014/main" id="{E84D9431-F59D-4EFD-AB3B-DEB3FE726E88}"/>
              </a:ext>
            </a:extLst>
          </p:cNvPr>
          <p:cNvSpPr>
            <a:spLocks noGrp="1"/>
          </p:cNvSpPr>
          <p:nvPr/>
        </p:nvSpPr>
        <p:spPr>
          <a:xfrm>
            <a:off x="723900" y="538162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TCP 字节流转换为完整的 CRLF 消息</a:t>
            </a:r>
          </a:p>
          <a:p>
            <a:pPr>
              <a:defRPr sz="1950" b="0">
                <a:solidFill>
                  <a:srgbClr val="596C6B"/>
                </a:solidFill>
                <a:latin typeface="Arial"/>
                <a:ea typeface="Arial"/>
                <a:cs typeface="Arial"/>
              </a:defRPr>
            </a:pPr>
            <a:r>
              <a:rPr sz="1950" b="0">
                <a:solidFill>
                  <a:srgbClr val="596C6B"/>
                </a:solidFill>
                <a:latin typeface="Arial"/>
                <a:ea typeface="Arial"/>
                <a:cs typeface="Arial"/>
              </a:rPr>
              <a:t>分行、UTF-8 编码和 512 字节限制检查</a:t>
            </a:r>
          </a:p>
        </p:txBody>
      </p:sp>
      <p:sp>
        <p:nvSpPr>
          <p:cNvPr id="17" name="矩形 16">
            <a:extLst>
              <a:ext uri="{FF2B5EF4-FFF2-40B4-BE49-F238E27FC236}">
                <a16:creationId xmlns:a16="http://schemas.microsoft.com/office/drawing/2014/main" id="{B06BC563-AA67-4EE3-AF47-88C0150ABBDA}"/>
              </a:ext>
            </a:extLst>
          </p:cNvPr>
          <p:cNvSpPr>
            <a:spLocks noGrp="1"/>
          </p:cNvSpPr>
          <p:nvPr/>
        </p:nvSpPr>
        <p:spPr>
          <a:xfrm>
            <a:off x="6572250" y="483870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ClientState / IRCState</a:t>
            </a:r>
          </a:p>
        </p:txBody>
      </p:sp>
      <p:sp>
        <p:nvSpPr>
          <p:cNvPr id="18" name="矩形 17">
            <a:extLst>
              <a:ext uri="{FF2B5EF4-FFF2-40B4-BE49-F238E27FC236}">
                <a16:creationId xmlns:a16="http://schemas.microsoft.com/office/drawing/2014/main" id="{DB92FA48-CF84-4282-BF77-843582012378}"/>
              </a:ext>
            </a:extLst>
          </p:cNvPr>
          <p:cNvSpPr>
            <a:spLocks noGrp="1"/>
          </p:cNvSpPr>
          <p:nvPr/>
        </p:nvSpPr>
        <p:spPr>
          <a:xfrm>
            <a:off x="6572250" y="538162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用户身份与昵称索引</a:t>
            </a:r>
          </a:p>
          <a:p>
            <a:pPr>
              <a:defRPr sz="1950" b="0">
                <a:solidFill>
                  <a:srgbClr val="596C6B"/>
                </a:solidFill>
                <a:latin typeface="Arial"/>
                <a:ea typeface="Arial"/>
                <a:cs typeface="Arial"/>
              </a:defRPr>
            </a:pPr>
            <a:r>
              <a:rPr sz="1950" b="0">
                <a:solidFill>
                  <a:srgbClr val="596C6B"/>
                </a:solidFill>
                <a:latin typeface="Arial"/>
                <a:ea typeface="Arial"/>
                <a:cs typeface="Arial"/>
              </a:rPr>
              <a:t>以及频道成员关系</a:t>
            </a:r>
          </a:p>
        </p:txBody>
      </p:sp>
    </p:spTree>
    <p:extLst>
      <p:ext uri="{BB962C8B-B14F-4D97-AF65-F5344CB8AC3E}">
        <p14:creationId xmlns:p14="http://schemas.microsoft.com/office/powerpoint/2010/main" val="1079807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F1DFE6DD-AD92-44CA-B52C-0A8AB4A30FB2}"/>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机器人实现</a:t>
            </a:r>
          </a:p>
        </p:txBody>
      </p:sp>
      <p:sp>
        <p:nvSpPr>
          <p:cNvPr id="2" name="矩形 1">
            <a:extLst>
              <a:ext uri="{FF2B5EF4-FFF2-40B4-BE49-F238E27FC236}">
                <a16:creationId xmlns:a16="http://schemas.microsoft.com/office/drawing/2014/main" id="{C5F1F8E4-47D6-498C-88FB-BD70F086ECD0}"/>
              </a:ext>
            </a:extLst>
          </p:cNvPr>
          <p:cNvSpPr>
            <a:spLocks noGrp="1"/>
          </p:cNvSpPr>
          <p:nvPr/>
        </p:nvSpPr>
        <p:spPr>
          <a:xfrm>
            <a:off x="723900" y="1333500"/>
            <a:ext cx="10668000" cy="571500"/>
          </a:xfrm>
          <a:prstGeom prst="rect">
            <a:avLst/>
          </a:prstGeom>
          <a:noFill/>
          <a:ln w="0">
            <a:noFill/>
          </a:ln>
        </p:spPr>
        <p:txBody>
          <a:bodyPr>
            <a:noAutofit/>
          </a:bodyPr>
          <a:lstStyle/>
          <a:p>
            <a:pPr>
              <a:defRPr sz="1725" b="0">
                <a:solidFill>
                  <a:srgbClr val="596C6B"/>
                </a:solidFill>
                <a:latin typeface="Arial"/>
                <a:ea typeface="Arial"/>
                <a:cs typeface="Arial"/>
              </a:defRPr>
            </a:pPr>
            <a:r>
              <a:rPr sz="1725" b="0">
                <a:solidFill>
                  <a:srgbClr val="596C6B"/>
                </a:solidFill>
                <a:latin typeface="Arial"/>
                <a:ea typeface="Arial"/>
                <a:cs typeface="Arial"/>
              </a:rPr>
              <a:t>我们实现了连接循环、成员关系模型和命令处理器</a:t>
            </a:r>
          </a:p>
        </p:txBody>
      </p:sp>
      <p:sp>
        <p:nvSpPr>
          <p:cNvPr id="3" name="矩形 2">
            <a:extLst>
              <a:ext uri="{FF2B5EF4-FFF2-40B4-BE49-F238E27FC236}">
                <a16:creationId xmlns:a16="http://schemas.microsoft.com/office/drawing/2014/main" id="{82B1D8C9-3B1E-455A-BD68-E286381A0E49}"/>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6DDC35AE-5794-484E-B2D5-0D2731DEA6E7}"/>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套接字编程 | 期中评审</a:t>
            </a:r>
          </a:p>
        </p:txBody>
      </p:sp>
      <p:sp>
        <p:nvSpPr>
          <p:cNvPr id="5" name="矩形 4">
            <a:extLst>
              <a:ext uri="{FF2B5EF4-FFF2-40B4-BE49-F238E27FC236}">
                <a16:creationId xmlns:a16="http://schemas.microsoft.com/office/drawing/2014/main" id="{B1595B55-D714-4BBF-B4AC-15D0F7FDA5F2}"/>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04</a:t>
            </a:r>
          </a:p>
        </p:txBody>
      </p:sp>
      <p:sp>
        <p:nvSpPr>
          <p:cNvPr id="6" name="矩形 5">
            <a:extLst>
              <a:ext uri="{FF2B5EF4-FFF2-40B4-BE49-F238E27FC236}">
                <a16:creationId xmlns:a16="http://schemas.microsoft.com/office/drawing/2014/main" id="{80CFF2FC-3C65-49A1-ACD6-0B69D03B5362}"/>
              </a:ext>
            </a:extLst>
          </p:cNvPr>
          <p:cNvSpPr>
            <a:spLocks noGrp="1"/>
          </p:cNvSpPr>
          <p:nvPr/>
        </p:nvSpPr>
        <p:spPr>
          <a:xfrm>
            <a:off x="723900" y="2133600"/>
            <a:ext cx="61912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注册流程</a:t>
            </a:r>
          </a:p>
        </p:txBody>
      </p:sp>
      <p:sp>
        <p:nvSpPr>
          <p:cNvPr id="7" name="矩形 6">
            <a:extLst>
              <a:ext uri="{FF2B5EF4-FFF2-40B4-BE49-F238E27FC236}">
                <a16:creationId xmlns:a16="http://schemas.microsoft.com/office/drawing/2014/main" id="{00D1F060-367C-485E-9CB9-37BDF12D304F}"/>
              </a:ext>
            </a:extLst>
          </p:cNvPr>
          <p:cNvSpPr>
            <a:spLocks noGrp="1"/>
          </p:cNvSpPr>
          <p:nvPr/>
        </p:nvSpPr>
        <p:spPr>
          <a:xfrm>
            <a:off x="723900" y="2809875"/>
            <a:ext cx="666750" cy="419100"/>
          </a:xfrm>
          <a:prstGeom prst="rect">
            <a:avLst/>
          </a:prstGeom>
          <a:noFill/>
          <a:ln w="0">
            <a:noFill/>
          </a:ln>
        </p:spPr>
        <p:txBody>
          <a:bodyPr>
            <a:noAutofit/>
          </a:bodyPr>
          <a:lstStyle/>
          <a:p>
            <a:pPr>
              <a:defRPr sz="2100" b="1">
                <a:solidFill>
                  <a:srgbClr val="087F78"/>
                </a:solidFill>
                <a:latin typeface="Arial"/>
                <a:ea typeface="Arial"/>
                <a:cs typeface="Arial"/>
              </a:defRPr>
            </a:pPr>
            <a:r>
              <a:rPr sz="2100" b="1">
                <a:solidFill>
                  <a:srgbClr val="087F78"/>
                </a:solidFill>
                <a:latin typeface="Arial"/>
                <a:ea typeface="Arial"/>
                <a:cs typeface="Arial"/>
              </a:rPr>
              <a:t>01</a:t>
            </a:r>
          </a:p>
        </p:txBody>
      </p:sp>
      <p:sp>
        <p:nvSpPr>
          <p:cNvPr id="8" name="矩形 7">
            <a:extLst>
              <a:ext uri="{FF2B5EF4-FFF2-40B4-BE49-F238E27FC236}">
                <a16:creationId xmlns:a16="http://schemas.microsoft.com/office/drawing/2014/main" id="{B09964DD-7FD2-40F3-9535-D2B223CB3F8D}"/>
              </a:ext>
            </a:extLst>
          </p:cNvPr>
          <p:cNvSpPr>
            <a:spLocks noGrp="1"/>
          </p:cNvSpPr>
          <p:nvPr/>
        </p:nvSpPr>
        <p:spPr>
          <a:xfrm>
            <a:off x="1657350" y="2809875"/>
            <a:ext cx="1905000" cy="419100"/>
          </a:xfrm>
          <a:prstGeom prst="rect">
            <a:avLst/>
          </a:prstGeom>
          <a:noFill/>
          <a:ln w="0">
            <a:noFill/>
          </a:ln>
        </p:spPr>
        <p:txBody>
          <a:bodyPr>
            <a:noAutofit/>
          </a:bodyPr>
          <a:lstStyle/>
          <a:p>
            <a:pPr>
              <a:defRPr sz="2025" b="1">
                <a:solidFill>
                  <a:srgbClr val="172A2A"/>
                </a:solidFill>
                <a:latin typeface="Arial"/>
                <a:ea typeface="Arial"/>
                <a:cs typeface="Arial"/>
              </a:defRPr>
            </a:pPr>
            <a:r>
              <a:rPr sz="2025" b="1">
                <a:solidFill>
                  <a:srgbClr val="172A2A"/>
                </a:solidFill>
                <a:latin typeface="Arial"/>
                <a:ea typeface="Arial"/>
                <a:cs typeface="Arial"/>
              </a:rPr>
              <a:t>连接</a:t>
            </a:r>
          </a:p>
        </p:txBody>
      </p:sp>
      <p:sp>
        <p:nvSpPr>
          <p:cNvPr id="9" name="矩形 8">
            <a:extLst>
              <a:ext uri="{FF2B5EF4-FFF2-40B4-BE49-F238E27FC236}">
                <a16:creationId xmlns:a16="http://schemas.microsoft.com/office/drawing/2014/main" id="{605BB33A-CCCF-4C42-A4B5-13227B1B8BF4}"/>
              </a:ext>
            </a:extLst>
          </p:cNvPr>
          <p:cNvSpPr>
            <a:spLocks noGrp="1"/>
          </p:cNvSpPr>
          <p:nvPr/>
        </p:nvSpPr>
        <p:spPr>
          <a:xfrm>
            <a:off x="4048125" y="2809875"/>
            <a:ext cx="7334250" cy="457200"/>
          </a:xfrm>
          <a:prstGeom prst="rect">
            <a:avLst/>
          </a:prstGeom>
          <a:noFill/>
          <a:ln w="0">
            <a:noFill/>
          </a:ln>
        </p:spPr>
        <p:txBody>
          <a:bodyPr>
            <a:noAutofit/>
          </a:bodyPr>
          <a:lstStyle/>
          <a:p>
            <a:pPr>
              <a:defRPr sz="2175" b="0">
                <a:solidFill>
                  <a:srgbClr val="087F78"/>
                </a:solidFill>
                <a:latin typeface="Arial"/>
                <a:ea typeface="Arial"/>
                <a:cs typeface="Arial"/>
              </a:defRPr>
            </a:pPr>
            <a:r>
              <a:rPr sz="2175" b="0">
                <a:solidFill>
                  <a:srgbClr val="087F78"/>
                </a:solidFill>
                <a:latin typeface="Arial"/>
                <a:ea typeface="Arial"/>
                <a:cs typeface="Arial"/>
              </a:rPr>
              <a:t>AF_INET6 TCP 连接</a:t>
            </a:r>
          </a:p>
        </p:txBody>
      </p:sp>
      <p:sp>
        <p:nvSpPr>
          <p:cNvPr id="10" name="矩形 9">
            <a:extLst>
              <a:ext uri="{FF2B5EF4-FFF2-40B4-BE49-F238E27FC236}">
                <a16:creationId xmlns:a16="http://schemas.microsoft.com/office/drawing/2014/main" id="{BF0E424D-D9F5-44AC-868E-452E8E950113}"/>
              </a:ext>
            </a:extLst>
          </p:cNvPr>
          <p:cNvSpPr>
            <a:spLocks noGrp="1"/>
          </p:cNvSpPr>
          <p:nvPr/>
        </p:nvSpPr>
        <p:spPr>
          <a:xfrm>
            <a:off x="723900" y="3600450"/>
            <a:ext cx="666750" cy="419100"/>
          </a:xfrm>
          <a:prstGeom prst="rect">
            <a:avLst/>
          </a:prstGeom>
          <a:noFill/>
          <a:ln w="0">
            <a:noFill/>
          </a:ln>
        </p:spPr>
        <p:txBody>
          <a:bodyPr>
            <a:noAutofit/>
          </a:bodyPr>
          <a:lstStyle/>
          <a:p>
            <a:pPr>
              <a:defRPr sz="2100" b="1">
                <a:solidFill>
                  <a:srgbClr val="087F78"/>
                </a:solidFill>
                <a:latin typeface="Arial"/>
                <a:ea typeface="Arial"/>
                <a:cs typeface="Arial"/>
              </a:defRPr>
            </a:pPr>
            <a:r>
              <a:rPr sz="2100" b="1">
                <a:solidFill>
                  <a:srgbClr val="087F78"/>
                </a:solidFill>
                <a:latin typeface="Arial"/>
                <a:ea typeface="Arial"/>
                <a:cs typeface="Arial"/>
              </a:rPr>
              <a:t>02</a:t>
            </a:r>
          </a:p>
        </p:txBody>
      </p:sp>
      <p:sp>
        <p:nvSpPr>
          <p:cNvPr id="11" name="矩形 10">
            <a:extLst>
              <a:ext uri="{FF2B5EF4-FFF2-40B4-BE49-F238E27FC236}">
                <a16:creationId xmlns:a16="http://schemas.microsoft.com/office/drawing/2014/main" id="{13F587FA-BE16-4061-9806-A990EB566A26}"/>
              </a:ext>
            </a:extLst>
          </p:cNvPr>
          <p:cNvSpPr>
            <a:spLocks noGrp="1"/>
          </p:cNvSpPr>
          <p:nvPr/>
        </p:nvSpPr>
        <p:spPr>
          <a:xfrm>
            <a:off x="1657350" y="3600450"/>
            <a:ext cx="1905000" cy="419100"/>
          </a:xfrm>
          <a:prstGeom prst="rect">
            <a:avLst/>
          </a:prstGeom>
          <a:noFill/>
          <a:ln w="0">
            <a:noFill/>
          </a:ln>
        </p:spPr>
        <p:txBody>
          <a:bodyPr>
            <a:noAutofit/>
          </a:bodyPr>
          <a:lstStyle/>
          <a:p>
            <a:pPr>
              <a:defRPr sz="2025" b="1">
                <a:solidFill>
                  <a:srgbClr val="172A2A"/>
                </a:solidFill>
                <a:latin typeface="Arial"/>
                <a:ea typeface="Arial"/>
                <a:cs typeface="Arial"/>
              </a:defRPr>
            </a:pPr>
            <a:r>
              <a:rPr sz="2025" b="1">
                <a:solidFill>
                  <a:srgbClr val="172A2A"/>
                </a:solidFill>
                <a:latin typeface="Arial"/>
                <a:ea typeface="Arial"/>
                <a:cs typeface="Arial"/>
              </a:rPr>
              <a:t>身份注册</a:t>
            </a:r>
          </a:p>
        </p:txBody>
      </p:sp>
      <p:sp>
        <p:nvSpPr>
          <p:cNvPr id="12" name="矩形 11">
            <a:extLst>
              <a:ext uri="{FF2B5EF4-FFF2-40B4-BE49-F238E27FC236}">
                <a16:creationId xmlns:a16="http://schemas.microsoft.com/office/drawing/2014/main" id="{2EB3D25E-B9FF-402E-92F8-4298AEB0DD37}"/>
              </a:ext>
            </a:extLst>
          </p:cNvPr>
          <p:cNvSpPr>
            <a:spLocks noGrp="1"/>
          </p:cNvSpPr>
          <p:nvPr/>
        </p:nvSpPr>
        <p:spPr>
          <a:xfrm>
            <a:off x="4048125" y="3600450"/>
            <a:ext cx="7334250" cy="457200"/>
          </a:xfrm>
          <a:prstGeom prst="rect">
            <a:avLst/>
          </a:prstGeom>
          <a:noFill/>
          <a:ln w="0">
            <a:noFill/>
          </a:ln>
        </p:spPr>
        <p:txBody>
          <a:bodyPr>
            <a:noAutofit/>
          </a:bodyPr>
          <a:lstStyle/>
          <a:p>
            <a:pPr>
              <a:defRPr sz="2175" b="0">
                <a:solidFill>
                  <a:srgbClr val="087F78"/>
                </a:solidFill>
                <a:latin typeface="Arial"/>
                <a:ea typeface="Arial"/>
                <a:cs typeface="Arial"/>
              </a:defRPr>
            </a:pPr>
            <a:r>
              <a:rPr sz="2175" b="0">
                <a:solidFill>
                  <a:srgbClr val="087F78"/>
                </a:solidFill>
                <a:latin typeface="Arial"/>
                <a:ea typeface="Arial"/>
                <a:cs typeface="Arial"/>
              </a:rPr>
              <a:t>NICK + USER</a:t>
            </a:r>
          </a:p>
        </p:txBody>
      </p:sp>
      <p:sp>
        <p:nvSpPr>
          <p:cNvPr id="13" name="矩形 12">
            <a:extLst>
              <a:ext uri="{FF2B5EF4-FFF2-40B4-BE49-F238E27FC236}">
                <a16:creationId xmlns:a16="http://schemas.microsoft.com/office/drawing/2014/main" id="{A0707F69-DD28-4FEB-9355-E98C15026E70}"/>
              </a:ext>
            </a:extLst>
          </p:cNvPr>
          <p:cNvSpPr>
            <a:spLocks noGrp="1"/>
          </p:cNvSpPr>
          <p:nvPr/>
        </p:nvSpPr>
        <p:spPr>
          <a:xfrm>
            <a:off x="723900" y="4391025"/>
            <a:ext cx="666750" cy="419100"/>
          </a:xfrm>
          <a:prstGeom prst="rect">
            <a:avLst/>
          </a:prstGeom>
          <a:noFill/>
          <a:ln w="0">
            <a:noFill/>
          </a:ln>
        </p:spPr>
        <p:txBody>
          <a:bodyPr>
            <a:noAutofit/>
          </a:bodyPr>
          <a:lstStyle/>
          <a:p>
            <a:pPr>
              <a:defRPr sz="2100" b="1">
                <a:solidFill>
                  <a:srgbClr val="087F78"/>
                </a:solidFill>
                <a:latin typeface="Arial"/>
                <a:ea typeface="Arial"/>
                <a:cs typeface="Arial"/>
              </a:defRPr>
            </a:pPr>
            <a:r>
              <a:rPr sz="2100" b="1">
                <a:solidFill>
                  <a:srgbClr val="087F78"/>
                </a:solidFill>
                <a:latin typeface="Arial"/>
                <a:ea typeface="Arial"/>
                <a:cs typeface="Arial"/>
              </a:rPr>
              <a:t>03</a:t>
            </a:r>
          </a:p>
        </p:txBody>
      </p:sp>
      <p:sp>
        <p:nvSpPr>
          <p:cNvPr id="14" name="矩形 13">
            <a:extLst>
              <a:ext uri="{FF2B5EF4-FFF2-40B4-BE49-F238E27FC236}">
                <a16:creationId xmlns:a16="http://schemas.microsoft.com/office/drawing/2014/main" id="{A3042EBE-1F86-4608-90E9-44C9F27BCFB7}"/>
              </a:ext>
            </a:extLst>
          </p:cNvPr>
          <p:cNvSpPr>
            <a:spLocks noGrp="1"/>
          </p:cNvSpPr>
          <p:nvPr/>
        </p:nvSpPr>
        <p:spPr>
          <a:xfrm>
            <a:off x="1657350" y="4391025"/>
            <a:ext cx="1905000" cy="419100"/>
          </a:xfrm>
          <a:prstGeom prst="rect">
            <a:avLst/>
          </a:prstGeom>
          <a:noFill/>
          <a:ln w="0">
            <a:noFill/>
          </a:ln>
        </p:spPr>
        <p:txBody>
          <a:bodyPr>
            <a:noAutofit/>
          </a:bodyPr>
          <a:lstStyle/>
          <a:p>
            <a:pPr>
              <a:defRPr sz="2025" b="1">
                <a:solidFill>
                  <a:srgbClr val="172A2A"/>
                </a:solidFill>
                <a:latin typeface="Arial"/>
                <a:ea typeface="Arial"/>
                <a:cs typeface="Arial"/>
              </a:defRPr>
            </a:pPr>
            <a:r>
              <a:rPr sz="2025" b="1">
                <a:solidFill>
                  <a:srgbClr val="172A2A"/>
                </a:solidFill>
                <a:latin typeface="Arial"/>
                <a:ea typeface="Arial"/>
                <a:cs typeface="Arial"/>
              </a:rPr>
              <a:t>加入频道</a:t>
            </a:r>
          </a:p>
        </p:txBody>
      </p:sp>
      <p:sp>
        <p:nvSpPr>
          <p:cNvPr id="15" name="矩形 14">
            <a:extLst>
              <a:ext uri="{FF2B5EF4-FFF2-40B4-BE49-F238E27FC236}">
                <a16:creationId xmlns:a16="http://schemas.microsoft.com/office/drawing/2014/main" id="{72CE2AB3-C587-4481-B453-FA2D54A2558F}"/>
              </a:ext>
            </a:extLst>
          </p:cNvPr>
          <p:cNvSpPr>
            <a:spLocks noGrp="1"/>
          </p:cNvSpPr>
          <p:nvPr/>
        </p:nvSpPr>
        <p:spPr>
          <a:xfrm>
            <a:off x="4048125" y="4391025"/>
            <a:ext cx="7334250" cy="457200"/>
          </a:xfrm>
          <a:prstGeom prst="rect">
            <a:avLst/>
          </a:prstGeom>
          <a:noFill/>
          <a:ln w="0">
            <a:noFill/>
          </a:ln>
        </p:spPr>
        <p:txBody>
          <a:bodyPr>
            <a:noAutofit/>
          </a:bodyPr>
          <a:lstStyle/>
          <a:p>
            <a:pPr>
              <a:defRPr sz="2175" b="0">
                <a:solidFill>
                  <a:srgbClr val="087F78"/>
                </a:solidFill>
                <a:latin typeface="Arial"/>
                <a:ea typeface="Arial"/>
                <a:cs typeface="Arial"/>
              </a:defRPr>
            </a:pPr>
            <a:r>
              <a:rPr sz="2175" b="0">
                <a:solidFill>
                  <a:srgbClr val="087F78"/>
                </a:solidFill>
                <a:latin typeface="Arial"/>
                <a:ea typeface="Arial"/>
                <a:cs typeface="Arial"/>
              </a:rPr>
              <a:t>收到 001 后执行 JOIN</a:t>
            </a:r>
          </a:p>
        </p:txBody>
      </p:sp>
      <p:sp>
        <p:nvSpPr>
          <p:cNvPr id="16" name="矩形 15">
            <a:extLst>
              <a:ext uri="{FF2B5EF4-FFF2-40B4-BE49-F238E27FC236}">
                <a16:creationId xmlns:a16="http://schemas.microsoft.com/office/drawing/2014/main" id="{3E27EA8A-8D02-4C56-9FCF-98A0979CA8D6}"/>
              </a:ext>
            </a:extLst>
          </p:cNvPr>
          <p:cNvSpPr>
            <a:spLocks noGrp="1"/>
          </p:cNvSpPr>
          <p:nvPr/>
        </p:nvSpPr>
        <p:spPr>
          <a:xfrm>
            <a:off x="723900" y="5200650"/>
            <a:ext cx="10668000" cy="19050"/>
          </a:xfrm>
          <a:prstGeom prst="rect">
            <a:avLst/>
          </a:prstGeom>
          <a:solidFill>
            <a:srgbClr val="D6E4E1"/>
          </a:solidFill>
          <a:ln w="0">
            <a:noFill/>
          </a:ln>
        </p:spPr>
        <p:txBody>
          <a:bodyPr/>
          <a:lstStyle/>
          <a:p>
            <a:endParaRPr lang="zh-CN" altLang="en-US"/>
          </a:p>
        </p:txBody>
      </p:sp>
      <p:sp>
        <p:nvSpPr>
          <p:cNvPr id="17" name="矩形 16">
            <a:extLst>
              <a:ext uri="{FF2B5EF4-FFF2-40B4-BE49-F238E27FC236}">
                <a16:creationId xmlns:a16="http://schemas.microsoft.com/office/drawing/2014/main" id="{20844157-7C43-44E8-A908-BEA26B7535F7}"/>
              </a:ext>
            </a:extLst>
          </p:cNvPr>
          <p:cNvSpPr>
            <a:spLocks noGrp="1"/>
          </p:cNvSpPr>
          <p:nvPr/>
        </p:nvSpPr>
        <p:spPr>
          <a:xfrm>
            <a:off x="723900" y="5495925"/>
            <a:ext cx="4762500" cy="400050"/>
          </a:xfrm>
          <a:prstGeom prst="rect">
            <a:avLst/>
          </a:prstGeom>
          <a:noFill/>
          <a:ln w="0">
            <a:noFill/>
          </a:ln>
        </p:spPr>
        <p:txBody>
          <a:bodyPr>
            <a:noAutofit/>
          </a:bodyPr>
          <a:lstStyle/>
          <a:p>
            <a:pPr>
              <a:defRPr sz="2025" b="1">
                <a:solidFill>
                  <a:srgbClr val="087F78"/>
                </a:solidFill>
                <a:latin typeface="Arial"/>
                <a:ea typeface="Arial"/>
                <a:cs typeface="Arial"/>
              </a:defRPr>
            </a:pPr>
            <a:r>
              <a:rPr sz="2025" b="1">
                <a:solidFill>
                  <a:srgbClr val="087F78"/>
                </a:solidFill>
                <a:latin typeface="Arial"/>
                <a:ea typeface="Arial"/>
                <a:cs typeface="Arial"/>
              </a:rPr>
              <a:t>保活：PING 与 PONG</a:t>
            </a:r>
          </a:p>
        </p:txBody>
      </p:sp>
      <p:sp>
        <p:nvSpPr>
          <p:cNvPr id="18" name="矩形 17">
            <a:extLst>
              <a:ext uri="{FF2B5EF4-FFF2-40B4-BE49-F238E27FC236}">
                <a16:creationId xmlns:a16="http://schemas.microsoft.com/office/drawing/2014/main" id="{CA007C24-27AE-4270-8348-012D24F329F5}"/>
              </a:ext>
            </a:extLst>
          </p:cNvPr>
          <p:cNvSpPr>
            <a:spLocks noGrp="1"/>
          </p:cNvSpPr>
          <p:nvPr/>
        </p:nvSpPr>
        <p:spPr>
          <a:xfrm>
            <a:off x="6191250" y="5495925"/>
            <a:ext cx="5286375" cy="619125"/>
          </a:xfrm>
          <a:prstGeom prst="rect">
            <a:avLst/>
          </a:prstGeom>
          <a:noFill/>
          <a:ln w="0">
            <a:noFill/>
          </a:ln>
        </p:spPr>
        <p:txBody>
          <a:bodyPr>
            <a:noAutofit/>
          </a:bodyPr>
          <a:lstStyle/>
          <a:p>
            <a:pPr>
              <a:defRPr sz="1875" b="0">
                <a:solidFill>
                  <a:srgbClr val="596C6B"/>
                </a:solidFill>
                <a:latin typeface="Arial"/>
                <a:ea typeface="Arial"/>
                <a:cs typeface="Arial"/>
              </a:defRPr>
            </a:pPr>
            <a:r>
              <a:rPr sz="1875" b="0">
                <a:solidFill>
                  <a:srgbClr val="596C6B"/>
                </a:solidFill>
                <a:latin typeface="Arial"/>
                <a:ea typeface="Arial"/>
                <a:cs typeface="Arial"/>
              </a:rPr>
              <a:t>恢复机制：延迟重连并重建状态</a:t>
            </a:r>
          </a:p>
        </p:txBody>
      </p:sp>
      <p:sp>
        <p:nvSpPr>
          <p:cNvPr id="19" name="矩形 18">
            <a:extLst>
              <a:ext uri="{FF2B5EF4-FFF2-40B4-BE49-F238E27FC236}">
                <a16:creationId xmlns:a16="http://schemas.microsoft.com/office/drawing/2014/main" id="{0BEB9EA5-62A4-4CCF-9297-E78C42D66CE6}"/>
              </a:ext>
            </a:extLst>
          </p:cNvPr>
          <p:cNvSpPr>
            <a:spLocks noGrp="1"/>
          </p:cNvSpPr>
          <p:nvPr/>
        </p:nvSpPr>
        <p:spPr>
          <a:xfrm>
            <a:off x="723900" y="6000750"/>
            <a:ext cx="10668000" cy="266700"/>
          </a:xfrm>
          <a:prstGeom prst="rect">
            <a:avLst/>
          </a:prstGeom>
          <a:noFill/>
          <a:ln w="0">
            <a:noFill/>
          </a:ln>
        </p:spPr>
        <p:txBody>
          <a:bodyPr>
            <a:noAutofit/>
          </a:bodyPr>
          <a:lstStyle/>
          <a:p>
            <a:pPr>
              <a:defRPr sz="1500" b="0">
                <a:solidFill>
                  <a:srgbClr val="596C6B"/>
                </a:solidFill>
                <a:latin typeface="Arial"/>
                <a:ea typeface="Arial"/>
                <a:cs typeface="Arial"/>
              </a:defRPr>
            </a:pPr>
            <a:r>
              <a:rPr sz="1500" b="0">
                <a:solidFill>
                  <a:srgbClr val="596C6B"/>
                </a:solidFill>
                <a:latin typeface="Arial"/>
                <a:ea typeface="Arial"/>
                <a:cs typeface="Arial"/>
              </a:rPr>
              <a:t>IPv6 直接连接、PING/PONG 以及 Windows 虚拟机验收测试均已成功完成。</a:t>
            </a:r>
          </a:p>
        </p:txBody>
      </p:sp>
    </p:spTree>
    <p:extLst>
      <p:ext uri="{BB962C8B-B14F-4D97-AF65-F5344CB8AC3E}">
        <p14:creationId xmlns:p14="http://schemas.microsoft.com/office/powerpoint/2010/main" val="1791716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849129C3-41A2-498F-BCCA-A3979896F71E}"/>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已修复的成员关系问题</a:t>
            </a:r>
          </a:p>
        </p:txBody>
      </p:sp>
      <p:sp>
        <p:nvSpPr>
          <p:cNvPr id="2" name="矩形 1">
            <a:extLst>
              <a:ext uri="{FF2B5EF4-FFF2-40B4-BE49-F238E27FC236}">
                <a16:creationId xmlns:a16="http://schemas.microsoft.com/office/drawing/2014/main" id="{32212081-75E9-49F4-91CB-5CF69E3B5ECE}"/>
              </a:ext>
            </a:extLst>
          </p:cNvPr>
          <p:cNvSpPr>
            <a:spLocks noGrp="1"/>
          </p:cNvSpPr>
          <p:nvPr/>
        </p:nvSpPr>
        <p:spPr>
          <a:xfrm>
            <a:off x="723900" y="1333500"/>
            <a:ext cx="10668000" cy="571500"/>
          </a:xfrm>
          <a:prstGeom prst="rect">
            <a:avLst/>
          </a:prstGeom>
          <a:noFill/>
          <a:ln w="0">
            <a:noFill/>
          </a:ln>
        </p:spPr>
        <p:txBody>
          <a:bodyPr>
            <a:noAutofit/>
          </a:bodyPr>
          <a:lstStyle/>
          <a:p>
            <a:pPr>
              <a:defRPr sz="1725" b="0">
                <a:solidFill>
                  <a:srgbClr val="596C6B"/>
                </a:solidFill>
                <a:latin typeface="Arial"/>
                <a:ea typeface="Arial"/>
                <a:cs typeface="Arial"/>
              </a:defRPr>
            </a:pPr>
            <a:r>
              <a:rPr sz="1725" b="0">
                <a:solidFill>
                  <a:srgbClr val="596C6B"/>
                </a:solidFill>
                <a:latin typeface="Arial"/>
                <a:ea typeface="Arial"/>
                <a:cs typeface="Arial"/>
              </a:rPr>
              <a:t>机器人现在能够保留 NAMES 快照期间到达的实时事件</a:t>
            </a:r>
          </a:p>
        </p:txBody>
      </p:sp>
      <p:sp>
        <p:nvSpPr>
          <p:cNvPr id="3" name="矩形 2">
            <a:extLst>
              <a:ext uri="{FF2B5EF4-FFF2-40B4-BE49-F238E27FC236}">
                <a16:creationId xmlns:a16="http://schemas.microsoft.com/office/drawing/2014/main" id="{AB1E555E-D88B-4B92-A0AA-B12627D84136}"/>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D9259411-A080-46EF-9E58-F06F5C8053AD}"/>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套接字编程 | 期中评审</a:t>
            </a:r>
          </a:p>
        </p:txBody>
      </p:sp>
      <p:sp>
        <p:nvSpPr>
          <p:cNvPr id="5" name="矩形 4">
            <a:extLst>
              <a:ext uri="{FF2B5EF4-FFF2-40B4-BE49-F238E27FC236}">
                <a16:creationId xmlns:a16="http://schemas.microsoft.com/office/drawing/2014/main" id="{D88A3E34-B5DD-4695-928A-385701BA0E88}"/>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05</a:t>
            </a:r>
          </a:p>
        </p:txBody>
      </p:sp>
      <p:sp>
        <p:nvSpPr>
          <p:cNvPr id="6" name="矩形 5">
            <a:extLst>
              <a:ext uri="{FF2B5EF4-FFF2-40B4-BE49-F238E27FC236}">
                <a16:creationId xmlns:a16="http://schemas.microsoft.com/office/drawing/2014/main" id="{11CDDE37-1259-4A05-A745-077A8F60B380}"/>
              </a:ext>
            </a:extLst>
          </p:cNvPr>
          <p:cNvSpPr>
            <a:spLocks noGrp="1"/>
          </p:cNvSpPr>
          <p:nvPr/>
        </p:nvSpPr>
        <p:spPr>
          <a:xfrm>
            <a:off x="723900" y="2238375"/>
            <a:ext cx="3238500" cy="4191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快照开始</a:t>
            </a:r>
          </a:p>
        </p:txBody>
      </p:sp>
      <p:sp>
        <p:nvSpPr>
          <p:cNvPr id="7" name="矩形 6">
            <a:extLst>
              <a:ext uri="{FF2B5EF4-FFF2-40B4-BE49-F238E27FC236}">
                <a16:creationId xmlns:a16="http://schemas.microsoft.com/office/drawing/2014/main" id="{0D45AAFD-3074-4A29-BA68-8D6A64059DCB}"/>
              </a:ext>
            </a:extLst>
          </p:cNvPr>
          <p:cNvSpPr>
            <a:spLocks noGrp="1"/>
          </p:cNvSpPr>
          <p:nvPr/>
        </p:nvSpPr>
        <p:spPr>
          <a:xfrm>
            <a:off x="723900" y="2905125"/>
            <a:ext cx="3238500" cy="2190750"/>
          </a:xfrm>
          <a:prstGeom prst="rect">
            <a:avLst/>
          </a:prstGeom>
          <a:solidFill>
            <a:srgbClr val="EDF7F4"/>
          </a:solidFill>
          <a:ln w="0">
            <a:noFill/>
          </a:ln>
        </p:spPr>
        <p:txBody>
          <a:bodyPr/>
          <a:lstStyle/>
          <a:p>
            <a:endParaRPr lang="zh-CN" altLang="en-US"/>
          </a:p>
        </p:txBody>
      </p:sp>
      <p:sp>
        <p:nvSpPr>
          <p:cNvPr id="8" name="矩形 7">
            <a:extLst>
              <a:ext uri="{FF2B5EF4-FFF2-40B4-BE49-F238E27FC236}">
                <a16:creationId xmlns:a16="http://schemas.microsoft.com/office/drawing/2014/main" id="{BE0317D2-F74C-4876-8588-958266D402D3}"/>
              </a:ext>
            </a:extLst>
          </p:cNvPr>
          <p:cNvSpPr>
            <a:spLocks noGrp="1"/>
          </p:cNvSpPr>
          <p:nvPr/>
        </p:nvSpPr>
        <p:spPr>
          <a:xfrm>
            <a:off x="962025" y="3143250"/>
            <a:ext cx="2762250" cy="1571625"/>
          </a:xfrm>
          <a:prstGeom prst="rect">
            <a:avLst/>
          </a:prstGeom>
          <a:noFill/>
          <a:ln w="0">
            <a:noFill/>
          </a:ln>
        </p:spPr>
        <p:txBody>
          <a:bodyPr>
            <a:noAutofit/>
          </a:bodyPr>
          <a:lstStyle/>
          <a:p>
            <a:pPr>
              <a:defRPr sz="2175" b="0">
                <a:solidFill>
                  <a:srgbClr val="172A2A"/>
                </a:solidFill>
                <a:latin typeface="Arial"/>
                <a:ea typeface="Arial"/>
                <a:cs typeface="Arial"/>
              </a:defRPr>
            </a:pPr>
            <a:r>
              <a:rPr sz="2175" b="0">
                <a:solidFill>
                  <a:srgbClr val="172A2A"/>
                </a:solidFill>
                <a:latin typeface="Arial"/>
                <a:ea typeface="Arial"/>
                <a:cs typeface="Arial"/>
              </a:rPr>
              <a:t>353 列出 alice</a:t>
            </a:r>
          </a:p>
          <a:p>
            <a:pPr>
              <a:defRPr sz="2175" b="0">
                <a:solidFill>
                  <a:srgbClr val="172A2A"/>
                </a:solidFill>
                <a:latin typeface="Arial"/>
                <a:ea typeface="Arial"/>
                <a:cs typeface="Arial"/>
              </a:defRPr>
            </a:pPr>
            <a:r>
              <a:rPr sz="2175" b="0">
                <a:solidFill>
                  <a:srgbClr val="172A2A"/>
                </a:solidFill>
                <a:latin typeface="Arial"/>
                <a:ea typeface="Arial"/>
                <a:cs typeface="Arial"/>
              </a:rPr>
              <a:t>成员列表尚未完成</a:t>
            </a:r>
          </a:p>
        </p:txBody>
      </p:sp>
      <p:sp>
        <p:nvSpPr>
          <p:cNvPr id="9" name="矩形 8">
            <a:extLst>
              <a:ext uri="{FF2B5EF4-FFF2-40B4-BE49-F238E27FC236}">
                <a16:creationId xmlns:a16="http://schemas.microsoft.com/office/drawing/2014/main" id="{77984566-5D1E-459B-8214-6650F2749CDB}"/>
              </a:ext>
            </a:extLst>
          </p:cNvPr>
          <p:cNvSpPr>
            <a:spLocks noGrp="1"/>
          </p:cNvSpPr>
          <p:nvPr/>
        </p:nvSpPr>
        <p:spPr>
          <a:xfrm>
            <a:off x="4429125" y="2238375"/>
            <a:ext cx="3238500" cy="4191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实时事件</a:t>
            </a:r>
          </a:p>
        </p:txBody>
      </p:sp>
      <p:sp>
        <p:nvSpPr>
          <p:cNvPr id="10" name="矩形 9">
            <a:extLst>
              <a:ext uri="{FF2B5EF4-FFF2-40B4-BE49-F238E27FC236}">
                <a16:creationId xmlns:a16="http://schemas.microsoft.com/office/drawing/2014/main" id="{AA0D4981-1237-4247-A3DA-77ABF12E14B4}"/>
              </a:ext>
            </a:extLst>
          </p:cNvPr>
          <p:cNvSpPr>
            <a:spLocks noGrp="1"/>
          </p:cNvSpPr>
          <p:nvPr/>
        </p:nvSpPr>
        <p:spPr>
          <a:xfrm>
            <a:off x="4429125" y="2905125"/>
            <a:ext cx="3238500" cy="2190750"/>
          </a:xfrm>
          <a:prstGeom prst="rect">
            <a:avLst/>
          </a:prstGeom>
          <a:solidFill>
            <a:srgbClr val="EDF7F4"/>
          </a:solidFill>
          <a:ln w="0">
            <a:noFill/>
          </a:ln>
        </p:spPr>
        <p:txBody>
          <a:bodyPr/>
          <a:lstStyle/>
          <a:p>
            <a:endParaRPr lang="zh-CN" altLang="en-US"/>
          </a:p>
        </p:txBody>
      </p:sp>
      <p:sp>
        <p:nvSpPr>
          <p:cNvPr id="11" name="矩形 10">
            <a:extLst>
              <a:ext uri="{FF2B5EF4-FFF2-40B4-BE49-F238E27FC236}">
                <a16:creationId xmlns:a16="http://schemas.microsoft.com/office/drawing/2014/main" id="{BD41402C-6040-4A6C-8735-655965EC1465}"/>
              </a:ext>
            </a:extLst>
          </p:cNvPr>
          <p:cNvSpPr>
            <a:spLocks noGrp="1"/>
          </p:cNvSpPr>
          <p:nvPr/>
        </p:nvSpPr>
        <p:spPr>
          <a:xfrm>
            <a:off x="4667250" y="3143250"/>
            <a:ext cx="2762250" cy="1571625"/>
          </a:xfrm>
          <a:prstGeom prst="rect">
            <a:avLst/>
          </a:prstGeom>
          <a:noFill/>
          <a:ln w="0">
            <a:noFill/>
          </a:ln>
        </p:spPr>
        <p:txBody>
          <a:bodyPr>
            <a:noAutofit/>
          </a:bodyPr>
          <a:lstStyle/>
          <a:p>
            <a:pPr>
              <a:defRPr sz="2175" b="0">
                <a:solidFill>
                  <a:srgbClr val="172A2A"/>
                </a:solidFill>
                <a:latin typeface="Arial"/>
                <a:ea typeface="Arial"/>
                <a:cs typeface="Arial"/>
              </a:defRPr>
            </a:pPr>
            <a:r>
              <a:rPr sz="2175" b="0">
                <a:solidFill>
                  <a:srgbClr val="172A2A"/>
                </a:solidFill>
                <a:latin typeface="Arial"/>
                <a:ea typeface="Arial"/>
                <a:cs typeface="Arial"/>
              </a:rPr>
              <a:t>alice 执行 PART</a:t>
            </a:r>
          </a:p>
          <a:p>
            <a:pPr>
              <a:defRPr sz="2175" b="0">
                <a:solidFill>
                  <a:srgbClr val="172A2A"/>
                </a:solidFill>
                <a:latin typeface="Arial"/>
                <a:ea typeface="Arial"/>
                <a:cs typeface="Arial"/>
              </a:defRPr>
            </a:pPr>
            <a:r>
              <a:rPr sz="2175" b="0">
                <a:solidFill>
                  <a:srgbClr val="172A2A"/>
                </a:solidFill>
                <a:latin typeface="Arial"/>
                <a:ea typeface="Arial"/>
                <a:cs typeface="Arial"/>
              </a:rPr>
              <a:t>记录离开事件</a:t>
            </a:r>
          </a:p>
        </p:txBody>
      </p:sp>
      <p:sp>
        <p:nvSpPr>
          <p:cNvPr id="12" name="矩形 11">
            <a:extLst>
              <a:ext uri="{FF2B5EF4-FFF2-40B4-BE49-F238E27FC236}">
                <a16:creationId xmlns:a16="http://schemas.microsoft.com/office/drawing/2014/main" id="{DCBF39EE-059B-458F-8468-840C157CF014}"/>
              </a:ext>
            </a:extLst>
          </p:cNvPr>
          <p:cNvSpPr>
            <a:spLocks noGrp="1"/>
          </p:cNvSpPr>
          <p:nvPr/>
        </p:nvSpPr>
        <p:spPr>
          <a:xfrm>
            <a:off x="8134350" y="2238375"/>
            <a:ext cx="3238500" cy="4191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快照完成</a:t>
            </a:r>
          </a:p>
        </p:txBody>
      </p:sp>
      <p:sp>
        <p:nvSpPr>
          <p:cNvPr id="13" name="矩形 12">
            <a:extLst>
              <a:ext uri="{FF2B5EF4-FFF2-40B4-BE49-F238E27FC236}">
                <a16:creationId xmlns:a16="http://schemas.microsoft.com/office/drawing/2014/main" id="{CE17049E-D0EE-4B9E-A828-2D6BC9FC588F}"/>
              </a:ext>
            </a:extLst>
          </p:cNvPr>
          <p:cNvSpPr>
            <a:spLocks noGrp="1"/>
          </p:cNvSpPr>
          <p:nvPr/>
        </p:nvSpPr>
        <p:spPr>
          <a:xfrm>
            <a:off x="8134350" y="2905125"/>
            <a:ext cx="3238500" cy="2190750"/>
          </a:xfrm>
          <a:prstGeom prst="rect">
            <a:avLst/>
          </a:prstGeom>
          <a:solidFill>
            <a:srgbClr val="EDF7F4"/>
          </a:solidFill>
          <a:ln w="0">
            <a:noFill/>
          </a:ln>
        </p:spPr>
        <p:txBody>
          <a:bodyPr/>
          <a:lstStyle/>
          <a:p>
            <a:endParaRPr lang="zh-CN" altLang="en-US"/>
          </a:p>
        </p:txBody>
      </p:sp>
      <p:sp>
        <p:nvSpPr>
          <p:cNvPr id="14" name="矩形 13">
            <a:extLst>
              <a:ext uri="{FF2B5EF4-FFF2-40B4-BE49-F238E27FC236}">
                <a16:creationId xmlns:a16="http://schemas.microsoft.com/office/drawing/2014/main" id="{666E3C22-2705-4439-A8AC-B90D63BF29BB}"/>
              </a:ext>
            </a:extLst>
          </p:cNvPr>
          <p:cNvSpPr>
            <a:spLocks noGrp="1"/>
          </p:cNvSpPr>
          <p:nvPr/>
        </p:nvSpPr>
        <p:spPr>
          <a:xfrm>
            <a:off x="8372475" y="3143250"/>
            <a:ext cx="2762250" cy="1571625"/>
          </a:xfrm>
          <a:prstGeom prst="rect">
            <a:avLst/>
          </a:prstGeom>
          <a:noFill/>
          <a:ln w="0">
            <a:noFill/>
          </a:ln>
        </p:spPr>
        <p:txBody>
          <a:bodyPr>
            <a:noAutofit/>
          </a:bodyPr>
          <a:lstStyle/>
          <a:p>
            <a:pPr>
              <a:defRPr sz="2175" b="0">
                <a:solidFill>
                  <a:srgbClr val="172A2A"/>
                </a:solidFill>
                <a:latin typeface="Arial"/>
                <a:ea typeface="Arial"/>
                <a:cs typeface="Arial"/>
              </a:defRPr>
            </a:pPr>
            <a:r>
              <a:rPr sz="2175" b="0">
                <a:solidFill>
                  <a:srgbClr val="172A2A"/>
                </a:solidFill>
                <a:latin typeface="Arial"/>
                <a:ea typeface="Arial"/>
                <a:cs typeface="Arial"/>
              </a:rPr>
              <a:t>收到 366</a:t>
            </a:r>
          </a:p>
          <a:p>
            <a:pPr>
              <a:defRPr sz="2175" b="0">
                <a:solidFill>
                  <a:srgbClr val="172A2A"/>
                </a:solidFill>
                <a:latin typeface="Arial"/>
                <a:ea typeface="Arial"/>
                <a:cs typeface="Arial"/>
              </a:defRPr>
            </a:pPr>
            <a:r>
              <a:rPr sz="2175" b="0">
                <a:solidFill>
                  <a:srgbClr val="172A2A"/>
                </a:solidFill>
                <a:latin typeface="Arial"/>
                <a:ea typeface="Arial"/>
                <a:cs typeface="Arial"/>
              </a:rPr>
              <a:t>重放离开事件</a:t>
            </a:r>
          </a:p>
          <a:p>
            <a:pPr>
              <a:defRPr sz="2175" b="0">
                <a:solidFill>
                  <a:srgbClr val="172A2A"/>
                </a:solidFill>
                <a:latin typeface="Arial"/>
                <a:ea typeface="Arial"/>
                <a:cs typeface="Arial"/>
              </a:defRPr>
            </a:pPr>
            <a:r>
              <a:rPr sz="2175" b="0">
                <a:solidFill>
                  <a:srgbClr val="172A2A"/>
                </a:solidFill>
                <a:latin typeface="Arial"/>
                <a:ea typeface="Arial"/>
                <a:cs typeface="Arial"/>
              </a:rPr>
              <a:t>alice 保持离开状态</a:t>
            </a:r>
          </a:p>
        </p:txBody>
      </p:sp>
      <p:sp>
        <p:nvSpPr>
          <p:cNvPr id="15" name="矩形 14">
            <a:extLst>
              <a:ext uri="{FF2B5EF4-FFF2-40B4-BE49-F238E27FC236}">
                <a16:creationId xmlns:a16="http://schemas.microsoft.com/office/drawing/2014/main" id="{7D238159-F54B-48EC-905B-21FD20274E48}"/>
              </a:ext>
            </a:extLst>
          </p:cNvPr>
          <p:cNvSpPr>
            <a:spLocks noGrp="1"/>
          </p:cNvSpPr>
          <p:nvPr/>
        </p:nvSpPr>
        <p:spPr>
          <a:xfrm>
            <a:off x="723900" y="5410200"/>
            <a:ext cx="1381125" cy="381000"/>
          </a:xfrm>
          <a:prstGeom prst="rect">
            <a:avLst/>
          </a:prstGeom>
          <a:noFill/>
          <a:ln w="0">
            <a:noFill/>
          </a:ln>
        </p:spPr>
        <p:txBody>
          <a:bodyPr>
            <a:noAutofit/>
          </a:bodyPr>
          <a:lstStyle/>
          <a:p>
            <a:pPr>
              <a:defRPr sz="1650" b="1">
                <a:solidFill>
                  <a:srgbClr val="596C6B"/>
                </a:solidFill>
                <a:latin typeface="Arial"/>
                <a:ea typeface="Arial"/>
                <a:cs typeface="Arial"/>
              </a:defRPr>
            </a:pPr>
            <a:r>
              <a:rPr sz="1650" b="1">
                <a:solidFill>
                  <a:srgbClr val="596C6B"/>
                </a:solidFill>
                <a:latin typeface="Arial"/>
                <a:ea typeface="Arial"/>
                <a:cs typeface="Arial"/>
              </a:rPr>
              <a:t>修复前</a:t>
            </a:r>
          </a:p>
        </p:txBody>
      </p:sp>
      <p:sp>
        <p:nvSpPr>
          <p:cNvPr id="16" name="矩形 15">
            <a:extLst>
              <a:ext uri="{FF2B5EF4-FFF2-40B4-BE49-F238E27FC236}">
                <a16:creationId xmlns:a16="http://schemas.microsoft.com/office/drawing/2014/main" id="{5545F080-C230-4352-B883-1154E6873571}"/>
              </a:ext>
            </a:extLst>
          </p:cNvPr>
          <p:cNvSpPr>
            <a:spLocks noGrp="1"/>
          </p:cNvSpPr>
          <p:nvPr/>
        </p:nvSpPr>
        <p:spPr>
          <a:xfrm>
            <a:off x="2305050" y="5410200"/>
            <a:ext cx="9048750" cy="400050"/>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已离开的用户可能重新出现在成员列表中。</a:t>
            </a:r>
          </a:p>
        </p:txBody>
      </p:sp>
      <p:sp>
        <p:nvSpPr>
          <p:cNvPr id="17" name="矩形 16">
            <a:extLst>
              <a:ext uri="{FF2B5EF4-FFF2-40B4-BE49-F238E27FC236}">
                <a16:creationId xmlns:a16="http://schemas.microsoft.com/office/drawing/2014/main" id="{FF74004E-892B-4EAE-9923-5932E4E4853B}"/>
              </a:ext>
            </a:extLst>
          </p:cNvPr>
          <p:cNvSpPr>
            <a:spLocks noGrp="1"/>
          </p:cNvSpPr>
          <p:nvPr/>
        </p:nvSpPr>
        <p:spPr>
          <a:xfrm>
            <a:off x="723900" y="5876925"/>
            <a:ext cx="1381125" cy="304800"/>
          </a:xfrm>
          <a:prstGeom prst="rect">
            <a:avLst/>
          </a:prstGeom>
          <a:noFill/>
          <a:ln w="0">
            <a:noFill/>
          </a:ln>
        </p:spPr>
        <p:txBody>
          <a:bodyPr>
            <a:noAutofit/>
          </a:bodyPr>
          <a:lstStyle/>
          <a:p>
            <a:pPr>
              <a:defRPr sz="1650" b="1">
                <a:solidFill>
                  <a:srgbClr val="087F78"/>
                </a:solidFill>
                <a:latin typeface="Arial"/>
                <a:ea typeface="Arial"/>
                <a:cs typeface="Arial"/>
              </a:defRPr>
            </a:pPr>
            <a:r>
              <a:rPr sz="1650" b="1">
                <a:solidFill>
                  <a:srgbClr val="087F78"/>
                </a:solidFill>
                <a:latin typeface="Arial"/>
                <a:ea typeface="Arial"/>
                <a:cs typeface="Arial"/>
              </a:rPr>
              <a:t>修复后</a:t>
            </a:r>
          </a:p>
        </p:txBody>
      </p:sp>
      <p:sp>
        <p:nvSpPr>
          <p:cNvPr id="18" name="矩形 17">
            <a:extLst>
              <a:ext uri="{FF2B5EF4-FFF2-40B4-BE49-F238E27FC236}">
                <a16:creationId xmlns:a16="http://schemas.microsoft.com/office/drawing/2014/main" id="{913F0547-7A43-4737-91F9-B976AC22498D}"/>
              </a:ext>
            </a:extLst>
          </p:cNvPr>
          <p:cNvSpPr>
            <a:spLocks noGrp="1"/>
          </p:cNvSpPr>
          <p:nvPr/>
        </p:nvSpPr>
        <p:spPr>
          <a:xfrm>
            <a:off x="2305050" y="5876925"/>
            <a:ext cx="9048750" cy="304800"/>
          </a:xfrm>
          <a:prstGeom prst="rect">
            <a:avLst/>
          </a:prstGeom>
          <a:noFill/>
          <a:ln w="0">
            <a:noFill/>
          </a:ln>
        </p:spPr>
        <p:txBody>
          <a:bodyPr>
            <a:noAutofit/>
          </a:bodyPr>
          <a:lstStyle/>
          <a:p>
            <a:pPr>
              <a:defRPr sz="1875" b="1">
                <a:solidFill>
                  <a:srgbClr val="087F78"/>
                </a:solidFill>
                <a:latin typeface="Arial"/>
                <a:ea typeface="Arial"/>
                <a:cs typeface="Arial"/>
              </a:defRPr>
            </a:pPr>
            <a:r>
              <a:rPr sz="1875" b="1">
                <a:solidFill>
                  <a:srgbClr val="087F78"/>
                </a:solidFill>
                <a:latin typeface="Arial"/>
                <a:ea typeface="Arial"/>
                <a:cs typeface="Arial"/>
              </a:rPr>
              <a:t>在提交快照时重放事件，成员列表保留最新状态。</a:t>
            </a:r>
          </a:p>
        </p:txBody>
      </p:sp>
    </p:spTree>
    <p:extLst>
      <p:ext uri="{BB962C8B-B14F-4D97-AF65-F5344CB8AC3E}">
        <p14:creationId xmlns:p14="http://schemas.microsoft.com/office/powerpoint/2010/main" val="1113370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4717351F-AC46-456A-9678-13743660817C}"/>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服务器工作与边界修复</a:t>
            </a:r>
          </a:p>
        </p:txBody>
      </p:sp>
      <p:sp>
        <p:nvSpPr>
          <p:cNvPr id="2" name="矩形 1">
            <a:extLst>
              <a:ext uri="{FF2B5EF4-FFF2-40B4-BE49-F238E27FC236}">
                <a16:creationId xmlns:a16="http://schemas.microsoft.com/office/drawing/2014/main" id="{FA70FFEE-5484-4760-94B7-E4BEB8E539BD}"/>
              </a:ext>
            </a:extLst>
          </p:cNvPr>
          <p:cNvSpPr>
            <a:spLocks noGrp="1"/>
          </p:cNvSpPr>
          <p:nvPr/>
        </p:nvSpPr>
        <p:spPr>
          <a:xfrm>
            <a:off x="723900" y="1333500"/>
            <a:ext cx="10668000" cy="571500"/>
          </a:xfrm>
          <a:prstGeom prst="rect">
            <a:avLst/>
          </a:prstGeom>
          <a:noFill/>
          <a:ln w="0">
            <a:noFill/>
          </a:ln>
        </p:spPr>
        <p:txBody>
          <a:bodyPr>
            <a:noAutofit/>
          </a:bodyPr>
          <a:lstStyle/>
          <a:p>
            <a:pPr>
              <a:defRPr sz="1725" b="0">
                <a:solidFill>
                  <a:srgbClr val="596C6B"/>
                </a:solidFill>
                <a:latin typeface="Arial"/>
                <a:ea typeface="Arial"/>
                <a:cs typeface="Arial"/>
              </a:defRPr>
            </a:pPr>
            <a:r>
              <a:rPr sz="1725" b="0">
                <a:solidFill>
                  <a:srgbClr val="596C6B"/>
                </a:solidFill>
                <a:latin typeface="Arial"/>
                <a:ea typeface="Arial"/>
                <a:cs typeface="Arial"/>
              </a:rPr>
              <a:t>我们实现了注册、路由和清理，并修复了评审中发现的问题</a:t>
            </a:r>
          </a:p>
        </p:txBody>
      </p:sp>
      <p:sp>
        <p:nvSpPr>
          <p:cNvPr id="3" name="矩形 2">
            <a:extLst>
              <a:ext uri="{FF2B5EF4-FFF2-40B4-BE49-F238E27FC236}">
                <a16:creationId xmlns:a16="http://schemas.microsoft.com/office/drawing/2014/main" id="{0EA057B4-8F96-4D74-AB6F-5CBBEC66DF53}"/>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2040720C-DDD5-45D6-B99D-413B9007A497}"/>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套接字编程 | 期中评审</a:t>
            </a:r>
          </a:p>
        </p:txBody>
      </p:sp>
      <p:sp>
        <p:nvSpPr>
          <p:cNvPr id="5" name="矩形 4">
            <a:extLst>
              <a:ext uri="{FF2B5EF4-FFF2-40B4-BE49-F238E27FC236}">
                <a16:creationId xmlns:a16="http://schemas.microsoft.com/office/drawing/2014/main" id="{BC1FE376-4D0A-4F70-92DA-32F360493CBF}"/>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06</a:t>
            </a:r>
          </a:p>
        </p:txBody>
      </p:sp>
      <p:sp>
        <p:nvSpPr>
          <p:cNvPr id="6" name="矩形 5">
            <a:extLst>
              <a:ext uri="{FF2B5EF4-FFF2-40B4-BE49-F238E27FC236}">
                <a16:creationId xmlns:a16="http://schemas.microsoft.com/office/drawing/2014/main" id="{378D533E-DDCE-42E8-BBFC-8985BC1E9AF1}"/>
              </a:ext>
            </a:extLst>
          </p:cNvPr>
          <p:cNvSpPr>
            <a:spLocks noGrp="1"/>
          </p:cNvSpPr>
          <p:nvPr/>
        </p:nvSpPr>
        <p:spPr>
          <a:xfrm>
            <a:off x="6162675" y="2209800"/>
            <a:ext cx="19050" cy="2114550"/>
          </a:xfrm>
          <a:prstGeom prst="rect">
            <a:avLst/>
          </a:prstGeom>
          <a:solidFill>
            <a:srgbClr val="D6E4E1"/>
          </a:solidFill>
          <a:ln w="0">
            <a:noFill/>
          </a:ln>
        </p:spPr>
        <p:txBody>
          <a:bodyPr/>
          <a:lstStyle/>
          <a:p>
            <a:endParaRPr lang="zh-CN" altLang="en-US"/>
          </a:p>
        </p:txBody>
      </p:sp>
      <p:sp>
        <p:nvSpPr>
          <p:cNvPr id="7" name="矩形 6">
            <a:extLst>
              <a:ext uri="{FF2B5EF4-FFF2-40B4-BE49-F238E27FC236}">
                <a16:creationId xmlns:a16="http://schemas.microsoft.com/office/drawing/2014/main" id="{1822F958-CAC4-4300-8470-3A606FF65F48}"/>
              </a:ext>
            </a:extLst>
          </p:cNvPr>
          <p:cNvSpPr>
            <a:spLocks noGrp="1"/>
          </p:cNvSpPr>
          <p:nvPr/>
        </p:nvSpPr>
        <p:spPr>
          <a:xfrm>
            <a:off x="723900" y="220980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已实现</a:t>
            </a:r>
          </a:p>
        </p:txBody>
      </p:sp>
      <p:sp>
        <p:nvSpPr>
          <p:cNvPr id="8" name="矩形 7">
            <a:extLst>
              <a:ext uri="{FF2B5EF4-FFF2-40B4-BE49-F238E27FC236}">
                <a16:creationId xmlns:a16="http://schemas.microsoft.com/office/drawing/2014/main" id="{39C165B7-57AA-407E-8EC8-A36DC63A13D4}"/>
              </a:ext>
            </a:extLst>
          </p:cNvPr>
          <p:cNvSpPr>
            <a:spLocks noGrp="1"/>
          </p:cNvSpPr>
          <p:nvPr/>
        </p:nvSpPr>
        <p:spPr>
          <a:xfrm>
            <a:off x="723900" y="275272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每个客户端的会话与注册</a:t>
            </a:r>
          </a:p>
          <a:p>
            <a:pPr>
              <a:defRPr sz="1950" b="0">
                <a:solidFill>
                  <a:srgbClr val="596C6B"/>
                </a:solidFill>
                <a:latin typeface="Arial"/>
                <a:ea typeface="Arial"/>
                <a:cs typeface="Arial"/>
              </a:defRPr>
            </a:pPr>
            <a:r>
              <a:rPr sz="1950" b="0">
                <a:solidFill>
                  <a:srgbClr val="596C6B"/>
                </a:solidFill>
                <a:latin typeface="Arial"/>
                <a:ea typeface="Arial"/>
                <a:cs typeface="Arial"/>
              </a:rPr>
              <a:t>用户和频道索引加锁</a:t>
            </a:r>
          </a:p>
          <a:p>
            <a:pPr>
              <a:defRPr sz="1950" b="0">
                <a:solidFill>
                  <a:srgbClr val="596C6B"/>
                </a:solidFill>
                <a:latin typeface="Arial"/>
                <a:ea typeface="Arial"/>
                <a:cs typeface="Arial"/>
              </a:defRPr>
            </a:pPr>
            <a:r>
              <a:rPr sz="1950" b="0">
                <a:solidFill>
                  <a:srgbClr val="596C6B"/>
                </a:solidFill>
                <a:latin typeface="Arial"/>
                <a:ea typeface="Arial"/>
                <a:cs typeface="Arial"/>
              </a:rPr>
              <a:t>频道消息与私信路由</a:t>
            </a:r>
          </a:p>
        </p:txBody>
      </p:sp>
      <p:sp>
        <p:nvSpPr>
          <p:cNvPr id="9" name="矩形 8">
            <a:extLst>
              <a:ext uri="{FF2B5EF4-FFF2-40B4-BE49-F238E27FC236}">
                <a16:creationId xmlns:a16="http://schemas.microsoft.com/office/drawing/2014/main" id="{26A89A71-F285-4A98-A4B9-5A53AF824B2F}"/>
              </a:ext>
            </a:extLst>
          </p:cNvPr>
          <p:cNvSpPr>
            <a:spLocks noGrp="1"/>
          </p:cNvSpPr>
          <p:nvPr/>
        </p:nvSpPr>
        <p:spPr>
          <a:xfrm>
            <a:off x="6572250" y="220980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评审后修复</a:t>
            </a:r>
          </a:p>
        </p:txBody>
      </p:sp>
      <p:sp>
        <p:nvSpPr>
          <p:cNvPr id="10" name="矩形 9">
            <a:extLst>
              <a:ext uri="{FF2B5EF4-FFF2-40B4-BE49-F238E27FC236}">
                <a16:creationId xmlns:a16="http://schemas.microsoft.com/office/drawing/2014/main" id="{BC8A3328-07C1-4CC8-A79C-16D5E83E9DDB}"/>
              </a:ext>
            </a:extLst>
          </p:cNvPr>
          <p:cNvSpPr>
            <a:spLocks noGrp="1"/>
          </p:cNvSpPr>
          <p:nvPr/>
        </p:nvSpPr>
        <p:spPr>
          <a:xfrm>
            <a:off x="6572250" y="275272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重复清理不会影响昵称复用</a:t>
            </a:r>
          </a:p>
          <a:p>
            <a:pPr>
              <a:defRPr sz="1950" b="0">
                <a:solidFill>
                  <a:srgbClr val="596C6B"/>
                </a:solidFill>
                <a:latin typeface="Arial"/>
                <a:ea typeface="Arial"/>
                <a:cs typeface="Arial"/>
              </a:defRPr>
            </a:pPr>
            <a:r>
              <a:rPr sz="1950" b="0">
                <a:solidFill>
                  <a:srgbClr val="596C6B"/>
                </a:solidFill>
                <a:latin typeface="Arial"/>
                <a:ea typeface="Arial"/>
                <a:cs typeface="Arial"/>
              </a:rPr>
              <a:t>超大消息转发返回 417</a:t>
            </a:r>
          </a:p>
        </p:txBody>
      </p:sp>
      <p:sp>
        <p:nvSpPr>
          <p:cNvPr id="11" name="矩形 10">
            <a:extLst>
              <a:ext uri="{FF2B5EF4-FFF2-40B4-BE49-F238E27FC236}">
                <a16:creationId xmlns:a16="http://schemas.microsoft.com/office/drawing/2014/main" id="{E46B2415-8F85-487F-B0B8-35B823DA8F9E}"/>
              </a:ext>
            </a:extLst>
          </p:cNvPr>
          <p:cNvSpPr>
            <a:spLocks noGrp="1"/>
          </p:cNvSpPr>
          <p:nvPr/>
        </p:nvSpPr>
        <p:spPr>
          <a:xfrm>
            <a:off x="723900" y="4733925"/>
            <a:ext cx="10668000" cy="857250"/>
          </a:xfrm>
          <a:prstGeom prst="rect">
            <a:avLst/>
          </a:prstGeom>
          <a:solidFill>
            <a:srgbClr val="EDF7F4"/>
          </a:solidFill>
          <a:ln w="0">
            <a:noFill/>
          </a:ln>
        </p:spPr>
        <p:txBody>
          <a:bodyPr/>
          <a:lstStyle/>
          <a:p>
            <a:endParaRPr lang="zh-CN" altLang="en-US"/>
          </a:p>
        </p:txBody>
      </p:sp>
      <p:sp>
        <p:nvSpPr>
          <p:cNvPr id="12" name="矩形 11">
            <a:extLst>
              <a:ext uri="{FF2B5EF4-FFF2-40B4-BE49-F238E27FC236}">
                <a16:creationId xmlns:a16="http://schemas.microsoft.com/office/drawing/2014/main" id="{145DC7B1-91B1-4E96-806D-BD8377C786DE}"/>
              </a:ext>
            </a:extLst>
          </p:cNvPr>
          <p:cNvSpPr>
            <a:spLocks noGrp="1"/>
          </p:cNvSpPr>
          <p:nvPr/>
        </p:nvSpPr>
        <p:spPr>
          <a:xfrm>
            <a:off x="952500" y="4924425"/>
            <a:ext cx="10191750" cy="523875"/>
          </a:xfrm>
          <a:prstGeom prst="rect">
            <a:avLst/>
          </a:prstGeom>
          <a:noFill/>
          <a:ln w="0">
            <a:noFill/>
          </a:ln>
        </p:spPr>
        <p:txBody>
          <a:bodyPr>
            <a:noAutofit/>
          </a:bodyPr>
          <a:lstStyle/>
          <a:p>
            <a:pPr>
              <a:defRPr sz="2175" b="1">
                <a:solidFill>
                  <a:srgbClr val="087F78"/>
                </a:solidFill>
                <a:latin typeface="Arial"/>
                <a:ea typeface="Arial"/>
                <a:cs typeface="Arial"/>
              </a:defRPr>
            </a:pPr>
            <a:r>
              <a:rPr sz="2175" b="1">
                <a:solidFill>
                  <a:srgbClr val="087F78"/>
                </a:solidFill>
                <a:latin typeface="Arial"/>
                <a:ea typeface="Arial"/>
                <a:cs typeface="Arial"/>
              </a:rPr>
              <a:t>格式错误的输入只影响当前会话，不会影响整个服务器。</a:t>
            </a:r>
          </a:p>
        </p:txBody>
      </p:sp>
      <p:sp>
        <p:nvSpPr>
          <p:cNvPr id="13" name="矩形 12">
            <a:extLst>
              <a:ext uri="{FF2B5EF4-FFF2-40B4-BE49-F238E27FC236}">
                <a16:creationId xmlns:a16="http://schemas.microsoft.com/office/drawing/2014/main" id="{7D4AF281-61C0-4EDF-8EB2-67B656C37841}"/>
              </a:ext>
            </a:extLst>
          </p:cNvPr>
          <p:cNvSpPr>
            <a:spLocks noGrp="1"/>
          </p:cNvSpPr>
          <p:nvPr/>
        </p:nvSpPr>
        <p:spPr>
          <a:xfrm>
            <a:off x="723900" y="5848350"/>
            <a:ext cx="10668000" cy="342900"/>
          </a:xfrm>
          <a:prstGeom prst="rect">
            <a:avLst/>
          </a:prstGeom>
          <a:noFill/>
          <a:ln w="0">
            <a:noFill/>
          </a:ln>
        </p:spPr>
        <p:txBody>
          <a:bodyPr>
            <a:noAutofit/>
          </a:bodyPr>
          <a:lstStyle/>
          <a:p>
            <a:pPr>
              <a:defRPr sz="1725" b="0">
                <a:solidFill>
                  <a:srgbClr val="596C6B"/>
                </a:solidFill>
                <a:latin typeface="Arial"/>
                <a:ea typeface="Arial"/>
                <a:cs typeface="Arial"/>
              </a:defRPr>
            </a:pPr>
            <a:r>
              <a:rPr sz="1725" b="0">
                <a:solidFill>
                  <a:srgbClr val="596C6B"/>
                </a:solidFill>
                <a:latin typeface="Arial"/>
                <a:ea typeface="Arial"/>
                <a:cs typeface="Arial"/>
              </a:rPr>
              <a:t>HexChat 显示和自动昵称恢复已在 Windows 虚拟机测试中完成验证。</a:t>
            </a:r>
          </a:p>
        </p:txBody>
      </p:sp>
    </p:spTree>
    <p:extLst>
      <p:ext uri="{BB962C8B-B14F-4D97-AF65-F5344CB8AC3E}">
        <p14:creationId xmlns:p14="http://schemas.microsoft.com/office/powerpoint/2010/main" val="8240817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1195</Words>
  <Application>Microsoft Macintosh PowerPoint</Application>
  <DocSecurity>0</DocSecurity>
  <PresentationFormat>宽屏</PresentationFormat>
  <Paragraphs>121</Paragraphs>
  <Slides>6</Slides>
  <Notes>7</Notes>
  <HiddenSlides>6</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vt:i4>
      </vt:variant>
    </vt:vector>
  </HeadingPairs>
  <TitlesOfParts>
    <vt:vector size="11" baseType="lpstr">
      <vt:lpstr>Microsoft YaHei</vt: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Yibo Xu (Student)</cp:lastModifiedBy>
  <cp:revision>4</cp:revision>
  <dcterms:created xsi:type="dcterms:W3CDTF">2026-10-05T21:00:45Z</dcterms:created>
  <dcterms:modified xsi:type="dcterms:W3CDTF">2026-10-07T04:18:06Z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18d1e0-f5d7-4da7-8ddd-3b83021a2c85_Enabled">
    <vt:lpwstr>true</vt:lpwstr>
  </property>
  <property fmtid="{D5CDD505-2E9C-101B-9397-08002B2CF9AE}" pid="3" name="MSIP_Label_a618d1e0-f5d7-4da7-8ddd-3b83021a2c85_SetDate">
    <vt:lpwstr>2026-10-07T04:01:36Z</vt:lpwstr>
  </property>
  <property fmtid="{D5CDD505-2E9C-101B-9397-08002B2CF9AE}" pid="4" name="MSIP_Label_a618d1e0-f5d7-4da7-8ddd-3b83021a2c85_Method">
    <vt:lpwstr>Standard</vt:lpwstr>
  </property>
  <property fmtid="{D5CDD505-2E9C-101B-9397-08002B2CF9AE}" pid="5" name="MSIP_Label_a618d1e0-f5d7-4da7-8ddd-3b83021a2c85_Name">
    <vt:lpwstr>Private</vt:lpwstr>
  </property>
  <property fmtid="{D5CDD505-2E9C-101B-9397-08002B2CF9AE}" pid="6" name="MSIP_Label_a618d1e0-f5d7-4da7-8ddd-3b83021a2c85_SiteId">
    <vt:lpwstr>ae323139-093a-4d2a-81a6-5d334bcd9019</vt:lpwstr>
  </property>
  <property fmtid="{D5CDD505-2E9C-101B-9397-08002B2CF9AE}" pid="7" name="MSIP_Label_a618d1e0-f5d7-4da7-8ddd-3b83021a2c85_ActionId">
    <vt:lpwstr>af92ae42-600f-437e-ace2-006d6576073d</vt:lpwstr>
  </property>
  <property fmtid="{D5CDD505-2E9C-101B-9397-08002B2CF9AE}" pid="8" name="MSIP_Label_a618d1e0-f5d7-4da7-8ddd-3b83021a2c85_ContentBits">
    <vt:lpwstr>0</vt:lpwstr>
  </property>
  <property fmtid="{D5CDD505-2E9C-101B-9397-08002B2CF9AE}" pid="9" name="MSIP_Label_a618d1e0-f5d7-4da7-8ddd-3b83021a2c85_Tag">
    <vt:lpwstr>50, 3, 0, 1</vt:lpwstr>
  </property>
</Properties>
</file>