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68626"/>
  </p:normalViewPr>
  <p:slideViewPr>
    <p:cSldViewPr snapToGrid="0">
      <p:cViewPr varScale="1">
        <p:scale>
          <a:sx n="82" d="100"/>
          <a:sy n="82" d="100"/>
        </p:scale>
        <p:origin x="188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Good morning, and thank you for having us. For this midterm review I'll explain how our implementation meets the project requirements for a lightweight IPv6 IRC server and command Bot, both built with Python sockets. I'll cover the protocol foundation, the Bot features, the server behavior for multiple clients, and error handling.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effectLst/>
              </a:rPr>
              <a:t>Our group split the implementation into three modules, and every member owns both the code and its documentation. Kun Qian built the common protocol layer with IRCMessage and IRCStreamDecoder. Yibo Xu and She Jingsong handled the server, including client sessions, shared state, and routing. Tianxing Wei and Li Yuzong built the Bot, including the connection client, membership tracking, and command processor. The three modules work together as one IRC system, organized around the project requirements.</a:t>
            </a:r>
            <a:r>
              <a:rPr lang="en-US" altLang="zh-CN" sz="1200" kern="1200" dirty="0">
                <a:effectLst/>
              </a:rPr>
              <a:t/>
            </a:r>
            <a:r>
              <a:rPr lang="zh-CN" altLang="zh-CN" sz="1200" kern="1200" dirty="0">
                <a:effectLst/>
              </a:rPr>
              <a:t/>
            </a:r>
            <a:r>
              <a:rPr lang="en-US" altLang="zh-CN" sz="1200" kern="1200" dirty="0">
                <a:effectLst/>
              </a:rPr>
              <a:t/>
            </a:r>
            <a:r>
              <a:rPr lang="zh-CN" altLang="zh-CN" sz="1200" kern="1200" dirty="0">
                <a:effectLst/>
              </a:rPr>
              <a:t/>
            </a:r>
            <a:r>
              <a:rPr lang="en-US" altLang="zh-CN" sz="1200" kern="1200" dirty="0" err="1">
                <a:effectLst/>
              </a:rPr>
              <a:t/>
            </a:r>
            <a:r>
              <a:rPr lang="en-US" altLang="zh-CN" sz="1200" kern="1200" dirty="0">
                <a:effectLst/>
              </a:rPr>
              <a:t/>
            </a:r>
            <a:r>
              <a:rPr lang="zh-CN" altLang="zh-CN" sz="1200" kern="1200" dirty="0">
                <a:effectLst/>
              </a:rPr>
              <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Starting with the protocol layer. IRC is a line-based, text protocol, so one TCP read may not equal one message. We built IRCMessage to store a normalized command, its prefix, and its parameters - for example parsing 'PRIVMSG #hello :Hi Bob' into a clean target and body, dropping the colon delimiter. The IRCStreamDecoder sits between the raw socket and that model: it buffers incomplete lines until a full CRLF arrives, emits several messages if one read contains them, and rejects bad UTF-8 or over-long lines before they touch our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On the Bot side, the core is a connection loop. It opens an AF_INET6 TCP socket, sends NICK and USER, waits for the 001 welcome, then JOINs. For keepalive it answers PING with PONG, and if the link drops it reconnects later and resets its membership state. The Bot builds its member list from NAMES replies and keeps it current with live JOIN, PART, QUIT and NICK events. It also responds to !hello, !slap and !time, and sends a fact in private messages. This implements the required Bot connection, tracking, command, and private-message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This slide summarizes the server behavior required by the rubric. Each client gets its own session, while IRCState maintains the shared nickname and channel indexes under a lock. The server routes channel messages only to members of that channel and routes private messages only to the named user. JOIN, PART, NAMES and QUIT keep channel membership current, while multiple clients can exchange both channel and private messages.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The final implementation area is error handling and reliability. The server returns numeric errors for missing parameters, invalid channels, duplicate nicknames and unknown targets. It checks the encoded UTF-8 length of relayed PRIVMSG messages and returns 417 when the IRC limit would be exceeded. Malformed input stays isolated to one session, while disconnect cleanup, nickname reuse and PING timeout handling keep shared state correct. These behaviors cover the main project requirements for reliable server operation.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BD820F1-EB97-4191-8C2E-49CCCF180226}"/>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IPv6 IRC Server and Command Bot</a:t>
            </a:r>
          </a:p>
        </p:txBody>
      </p:sp>
      <p:sp>
        <p:nvSpPr>
          <p:cNvPr id="3" name="矩形 2">
            <a:extLst>
              <a:ext uri="{FF2B5EF4-FFF2-40B4-BE49-F238E27FC236}">
                <a16:creationId xmlns:a16="http://schemas.microsoft.com/office/drawing/2014/main" id="{84019799-B02C-4509-BD32-30AEA52D70EB}"/>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DA9ADF5A-EAA6-4469-B06C-F80FF5B42B52}"/>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Socket Programming | Midterm review</a:t>
            </a:r>
          </a:p>
        </p:txBody>
      </p:sp>
      <p:sp>
        <p:nvSpPr>
          <p:cNvPr id="5" name="矩形 4">
            <a:extLst>
              <a:ext uri="{FF2B5EF4-FFF2-40B4-BE49-F238E27FC236}">
                <a16:creationId xmlns:a16="http://schemas.microsoft.com/office/drawing/2014/main" id="{59836A07-296A-4470-8616-21A640241CD3}"/>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01</a:t>
            </a:r>
          </a:p>
        </p:txBody>
      </p:sp>
      <p:sp>
        <p:nvSpPr>
          <p:cNvPr id="6" name="矩形 5">
            <a:extLst>
              <a:ext uri="{FF2B5EF4-FFF2-40B4-BE49-F238E27FC236}">
                <a16:creationId xmlns:a16="http://schemas.microsoft.com/office/drawing/2014/main" id="{539DB85B-57B6-4A6C-8C89-CB964CB66B23}"/>
              </a:ext>
            </a:extLst>
          </p:cNvPr>
          <p:cNvSpPr>
            <a:spLocks noGrp="1"/>
          </p:cNvSpPr>
          <p:nvPr/>
        </p:nvSpPr>
        <p:spPr>
          <a:xfrm>
            <a:off x="723900" y="2419350"/>
            <a:ext cx="10477500" cy="1524000"/>
          </a:xfrm>
          <a:prstGeom prst="rect">
            <a:avLst/>
          </a:prstGeom>
          <a:noFill/>
          <a:ln w="0">
            <a:noFill/>
          </a:ln>
        </p:spPr>
        <p:txBody>
          <a:bodyPr>
            <a:noAutofit/>
          </a:bodyPr>
          <a:lstStyle/>
          <a:p>
            <a:pPr>
              <a:defRPr sz="4575" b="1">
                <a:solidFill>
                  <a:srgbClr val="172A2A"/>
                </a:solidFill>
                <a:latin typeface="Arial"/>
                <a:ea typeface="Arial"/>
                <a:cs typeface="Arial"/>
              </a:defRPr>
            </a:pPr>
            <a:r>
              <a:rPr sz="4575" b="1">
                <a:solidFill>
                  <a:srgbClr val="172A2A"/>
                </a:solidFill>
                <a:latin typeface="Arial"/>
                <a:ea typeface="Arial"/>
                <a:cs typeface="Arial"/>
              </a:rPr>
              <a:t>project requirements</a:t>
            </a:r>
          </a:p>
          <a:p>
            <a:pPr>
              <a:defRPr sz="4575" b="1">
                <a:solidFill>
                  <a:srgbClr val="172A2A"/>
                </a:solidFill>
                <a:latin typeface="Arial"/>
                <a:ea typeface="Arial"/>
                <a:cs typeface="Arial"/>
              </a:defRPr>
            </a:pPr>
            <a:r>
              <a:rPr sz="4575" b="1">
                <a:solidFill>
                  <a:srgbClr val="172A2A"/>
                </a:solidFill>
                <a:latin typeface="Arial"/>
                <a:ea typeface="Arial"/>
                <a:cs typeface="Arial"/>
              </a:rPr>
              <a:t>and implementation status</a:t>
            </a:r>
          </a:p>
        </p:txBody>
      </p:sp>
      <p:sp>
        <p:nvSpPr>
          <p:cNvPr id="7" name="矩形 6">
            <a:extLst>
              <a:ext uri="{FF2B5EF4-FFF2-40B4-BE49-F238E27FC236}">
                <a16:creationId xmlns:a16="http://schemas.microsoft.com/office/drawing/2014/main" id="{C1709A3D-A439-41C4-BFB3-7D50447A12AE}"/>
              </a:ext>
            </a:extLst>
          </p:cNvPr>
          <p:cNvSpPr>
            <a:spLocks noGrp="1"/>
          </p:cNvSpPr>
          <p:nvPr/>
        </p:nvSpPr>
        <p:spPr>
          <a:xfrm>
            <a:off x="723900" y="4448175"/>
            <a:ext cx="10668000" cy="495300"/>
          </a:xfrm>
          <a:prstGeom prst="rect">
            <a:avLst/>
          </a:prstGeom>
          <a:noFill/>
          <a:ln w="0">
            <a:noFill/>
          </a:ln>
        </p:spPr>
        <p:txBody>
          <a:bodyPr>
            <a:noAutofit/>
          </a:bodyPr>
          <a:lstStyle/>
          <a:p>
            <a:pPr>
              <a:defRPr sz="2025" b="0">
                <a:solidFill>
                  <a:srgbClr val="087F78"/>
                </a:solidFill>
                <a:latin typeface="Arial"/>
                <a:ea typeface="Arial"/>
                <a:cs typeface="Arial"/>
              </a:defRPr>
            </a:pPr>
            <a:r>
              <a:rPr sz="2025" b="0">
                <a:solidFill>
                  <a:srgbClr val="087F78"/>
                </a:solidFill>
                <a:latin typeface="Arial"/>
                <a:ea typeface="Arial"/>
                <a:cs typeface="Arial"/>
              </a:rPr>
              <a:t>Protocol foundation  /  Bot functionality  /  Server behavior</a:t>
            </a:r>
          </a:p>
        </p:txBody>
      </p:sp>
      <p:sp>
        <p:nvSpPr>
          <p:cNvPr id="8" name="矩形 7">
            <a:extLst>
              <a:ext uri="{FF2B5EF4-FFF2-40B4-BE49-F238E27FC236}">
                <a16:creationId xmlns:a16="http://schemas.microsoft.com/office/drawing/2014/main" id="{98903485-BE93-43FE-8B84-4948A722905C}"/>
              </a:ext>
            </a:extLst>
          </p:cNvPr>
          <p:cNvSpPr>
            <a:spLocks noGrp="1"/>
          </p:cNvSpPr>
          <p:nvPr/>
        </p:nvSpPr>
        <p:spPr>
          <a:xfrm>
            <a:off x="723900" y="5381625"/>
            <a:ext cx="10668000" cy="476250"/>
          </a:xfrm>
          <a:prstGeom prst="rect">
            <a:avLst/>
          </a:prstGeom>
          <a:noFill/>
          <a:ln w="0">
            <a:noFill/>
          </a:ln>
        </p:spPr>
        <p:txBody>
          <a:bodyPr>
            <a:noAutofit/>
          </a:bodyPr>
          <a:lstStyle/>
          <a:p>
            <a:pPr>
              <a:defRPr sz="1875" b="0">
                <a:solidFill>
                  <a:srgbClr val="596C6B"/>
                </a:solidFill>
                <a:latin typeface="Arial"/>
                <a:ea typeface="Arial"/>
                <a:cs typeface="Arial"/>
              </a:defRPr>
            </a:pPr>
            <a:r>
              <a:rPr sz="1875" b="0">
                <a:solidFill>
                  <a:srgbClr val="596C6B"/>
                </a:solidFill>
                <a:latin typeface="Arial"/>
                <a:ea typeface="Arial"/>
                <a:cs typeface="Arial"/>
              </a:rPr>
              <a:t>Core code and required behavior completed</a:t>
            </a:r>
          </a:p>
        </p:txBody>
      </p:sp>
    </p:spTree>
    <p:extLst>
      <p:ext uri="{BB962C8B-B14F-4D97-AF65-F5344CB8AC3E}">
        <p14:creationId xmlns:p14="http://schemas.microsoft.com/office/powerpoint/2010/main" val="1457592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57226061-6908-4428-9DFA-447A019955E6}"/>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Project scope and code structure</a:t>
            </a:r>
          </a:p>
        </p:txBody>
      </p:sp>
      <p:sp>
        <p:nvSpPr>
          <p:cNvPr id="3" name="矩形 2">
            <a:extLst>
              <a:ext uri="{FF2B5EF4-FFF2-40B4-BE49-F238E27FC236}">
                <a16:creationId xmlns:a16="http://schemas.microsoft.com/office/drawing/2014/main" id="{9E8C5FA4-454E-4FFA-BCC7-5F5651AF4CCE}"/>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3897394C-AEFF-49C5-B41E-9CC2669C67C7}"/>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Socket Programming | Midterm review</a:t>
            </a:r>
          </a:p>
        </p:txBody>
      </p:sp>
      <p:sp>
        <p:nvSpPr>
          <p:cNvPr id="5" name="矩形 4">
            <a:extLst>
              <a:ext uri="{FF2B5EF4-FFF2-40B4-BE49-F238E27FC236}">
                <a16:creationId xmlns:a16="http://schemas.microsoft.com/office/drawing/2014/main" id="{E9EF21CA-621E-4633-AA9B-47F795885D88}"/>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02</a:t>
            </a:r>
          </a:p>
        </p:txBody>
      </p:sp>
      <p:sp>
        <p:nvSpPr>
          <p:cNvPr id="6" name="矩形 5">
            <a:extLst>
              <a:ext uri="{FF2B5EF4-FFF2-40B4-BE49-F238E27FC236}">
                <a16:creationId xmlns:a16="http://schemas.microsoft.com/office/drawing/2014/main" id="{194BBFE2-55C4-47C4-8B28-3C93E0E83E47}"/>
              </a:ext>
            </a:extLst>
          </p:cNvPr>
          <p:cNvSpPr>
            <a:spLocks noGrp="1"/>
          </p:cNvSpPr>
          <p:nvPr/>
        </p:nvSpPr>
        <p:spPr>
          <a:xfrm>
            <a:off x="723900" y="2200275"/>
            <a:ext cx="3257550" cy="1495425"/>
          </a:xfrm>
          <a:prstGeom prst="rect">
            <a:avLst/>
          </a:prstGeom>
          <a:solidFill>
            <a:srgbClr val="EDF7F4"/>
          </a:solidFill>
          <a:ln w="0">
            <a:noFill/>
          </a:ln>
        </p:spPr>
        <p:txBody>
          <a:bodyPr/>
          <a:lstStyle/>
          <a:p>
            <a:endParaRPr lang="zh-CN" altLang="en-US"/>
          </a:p>
        </p:txBody>
      </p:sp>
      <p:sp>
        <p:nvSpPr>
          <p:cNvPr id="7" name="矩形 6">
            <a:extLst>
              <a:ext uri="{FF2B5EF4-FFF2-40B4-BE49-F238E27FC236}">
                <a16:creationId xmlns:a16="http://schemas.microsoft.com/office/drawing/2014/main" id="{62D116A5-280E-47A1-9620-CAC209316A9E}"/>
              </a:ext>
            </a:extLst>
          </p:cNvPr>
          <p:cNvSpPr>
            <a:spLocks noGrp="1"/>
          </p:cNvSpPr>
          <p:nvPr/>
        </p:nvSpPr>
        <p:spPr>
          <a:xfrm>
            <a:off x="914400" y="2381250"/>
            <a:ext cx="2857500" cy="3810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common</a:t>
            </a:r>
          </a:p>
        </p:txBody>
      </p:sp>
      <p:sp>
        <p:nvSpPr>
          <p:cNvPr id="8" name="矩形 7">
            <a:extLst>
              <a:ext uri="{FF2B5EF4-FFF2-40B4-BE49-F238E27FC236}">
                <a16:creationId xmlns:a16="http://schemas.microsoft.com/office/drawing/2014/main" id="{A2769178-8F8D-404D-BE34-D27811DF5F80}"/>
              </a:ext>
            </a:extLst>
          </p:cNvPr>
          <p:cNvSpPr>
            <a:spLocks noGrp="1"/>
          </p:cNvSpPr>
          <p:nvPr/>
        </p:nvSpPr>
        <p:spPr>
          <a:xfrm>
            <a:off x="914400" y="2886075"/>
            <a:ext cx="2905125" cy="714375"/>
          </a:xfrm>
          <a:prstGeom prst="rect">
            <a:avLst/>
          </a:prstGeom>
          <a:noFill/>
          <a:ln w="0">
            <a:noFill/>
          </a:ln>
        </p:spPr>
        <p:txBody>
          <a:bodyPr>
            <a:noAutofit/>
          </a:bodyPr>
          <a:lstStyle/>
          <a:p>
            <a:pPr>
              <a:defRPr sz="1800" b="0">
                <a:solidFill>
                  <a:srgbClr val="172A2A"/>
                </a:solidFill>
                <a:latin typeface="Arial"/>
                <a:ea typeface="Arial"/>
                <a:cs typeface="Arial"/>
              </a:defRPr>
            </a:pPr>
            <a:r>
              <a:rPr sz="1800" b="0">
                <a:solidFill>
                  <a:srgbClr val="172A2A"/>
                </a:solidFill>
                <a:latin typeface="Arial"/>
                <a:ea typeface="Arial"/>
                <a:cs typeface="Arial"/>
              </a:rPr>
              <a:t>IRCMessage</a:t>
            </a:r>
          </a:p>
          <a:p>
            <a:pPr>
              <a:defRPr sz="1800" b="0">
                <a:solidFill>
                  <a:srgbClr val="172A2A"/>
                </a:solidFill>
                <a:latin typeface="Arial"/>
                <a:ea typeface="Arial"/>
                <a:cs typeface="Arial"/>
              </a:defRPr>
            </a:pPr>
            <a:r>
              <a:rPr sz="1800" b="0">
                <a:solidFill>
                  <a:srgbClr val="172A2A"/>
                </a:solidFill>
                <a:latin typeface="Arial"/>
                <a:ea typeface="Arial"/>
                <a:cs typeface="Arial"/>
              </a:rPr>
              <a:t>IRCStreamDecoder</a:t>
            </a:r>
          </a:p>
        </p:txBody>
      </p:sp>
      <p:sp>
        <p:nvSpPr>
          <p:cNvPr id="9" name="矩形 8">
            <a:extLst>
              <a:ext uri="{FF2B5EF4-FFF2-40B4-BE49-F238E27FC236}">
                <a16:creationId xmlns:a16="http://schemas.microsoft.com/office/drawing/2014/main" id="{A2818483-280A-4720-A312-237E13F51E53}"/>
              </a:ext>
            </a:extLst>
          </p:cNvPr>
          <p:cNvSpPr>
            <a:spLocks noGrp="1"/>
          </p:cNvSpPr>
          <p:nvPr/>
        </p:nvSpPr>
        <p:spPr>
          <a:xfrm>
            <a:off x="4429125" y="2200275"/>
            <a:ext cx="3257550" cy="1495425"/>
          </a:xfrm>
          <a:prstGeom prst="rect">
            <a:avLst/>
          </a:prstGeom>
          <a:solidFill>
            <a:srgbClr val="EDF7F4"/>
          </a:solidFill>
          <a:ln w="0">
            <a:noFill/>
          </a:ln>
        </p:spPr>
        <p:txBody>
          <a:bodyPr/>
          <a:lstStyle/>
          <a:p>
            <a:endParaRPr lang="zh-CN" altLang="en-US"/>
          </a:p>
        </p:txBody>
      </p:sp>
      <p:sp>
        <p:nvSpPr>
          <p:cNvPr id="10" name="矩形 9">
            <a:extLst>
              <a:ext uri="{FF2B5EF4-FFF2-40B4-BE49-F238E27FC236}">
                <a16:creationId xmlns:a16="http://schemas.microsoft.com/office/drawing/2014/main" id="{9751D897-F5FA-4F4A-ABCA-C9D9CE66BCF2}"/>
              </a:ext>
            </a:extLst>
          </p:cNvPr>
          <p:cNvSpPr>
            <a:spLocks noGrp="1"/>
          </p:cNvSpPr>
          <p:nvPr/>
        </p:nvSpPr>
        <p:spPr>
          <a:xfrm>
            <a:off x="4619625" y="2381250"/>
            <a:ext cx="2857500" cy="3810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server</a:t>
            </a:r>
          </a:p>
        </p:txBody>
      </p:sp>
      <p:sp>
        <p:nvSpPr>
          <p:cNvPr id="11" name="矩形 10">
            <a:extLst>
              <a:ext uri="{FF2B5EF4-FFF2-40B4-BE49-F238E27FC236}">
                <a16:creationId xmlns:a16="http://schemas.microsoft.com/office/drawing/2014/main" id="{37234434-96E2-41DB-A5BD-620443195715}"/>
              </a:ext>
            </a:extLst>
          </p:cNvPr>
          <p:cNvSpPr>
            <a:spLocks noGrp="1"/>
          </p:cNvSpPr>
          <p:nvPr/>
        </p:nvSpPr>
        <p:spPr>
          <a:xfrm>
            <a:off x="4619625" y="2886075"/>
            <a:ext cx="2905125" cy="714375"/>
          </a:xfrm>
          <a:prstGeom prst="rect">
            <a:avLst/>
          </a:prstGeom>
          <a:noFill/>
          <a:ln w="0">
            <a:noFill/>
          </a:ln>
        </p:spPr>
        <p:txBody>
          <a:bodyPr>
            <a:noAutofit/>
          </a:bodyPr>
          <a:lstStyle/>
          <a:p>
            <a:pPr>
              <a:defRPr sz="1800" b="0">
                <a:solidFill>
                  <a:srgbClr val="172A2A"/>
                </a:solidFill>
                <a:latin typeface="Arial"/>
                <a:ea typeface="Arial"/>
                <a:cs typeface="Arial"/>
              </a:defRPr>
            </a:pPr>
            <a:r>
              <a:rPr sz="1800" b="0">
                <a:solidFill>
                  <a:srgbClr val="172A2A"/>
                </a:solidFill>
                <a:latin typeface="Arial"/>
                <a:ea typeface="Arial"/>
                <a:cs typeface="Arial"/>
              </a:rPr>
              <a:t>ClientSession + handlers</a:t>
            </a:r>
          </a:p>
          <a:p>
            <a:pPr>
              <a:defRPr sz="1800" b="0">
                <a:solidFill>
                  <a:srgbClr val="172A2A"/>
                </a:solidFill>
                <a:latin typeface="Arial"/>
                <a:ea typeface="Arial"/>
                <a:cs typeface="Arial"/>
              </a:defRPr>
            </a:pPr>
            <a:r>
              <a:rPr sz="1800" b="0">
                <a:solidFill>
                  <a:srgbClr val="172A2A"/>
                </a:solidFill>
                <a:latin typeface="Arial"/>
                <a:ea typeface="Arial"/>
                <a:cs typeface="Arial"/>
              </a:rPr>
              <a:t>IRCState</a:t>
            </a:r>
          </a:p>
        </p:txBody>
      </p:sp>
      <p:sp>
        <p:nvSpPr>
          <p:cNvPr id="12" name="矩形 11">
            <a:extLst>
              <a:ext uri="{FF2B5EF4-FFF2-40B4-BE49-F238E27FC236}">
                <a16:creationId xmlns:a16="http://schemas.microsoft.com/office/drawing/2014/main" id="{5C4A9340-4407-4A4B-B52E-724B24445A80}"/>
              </a:ext>
            </a:extLst>
          </p:cNvPr>
          <p:cNvSpPr>
            <a:spLocks noGrp="1"/>
          </p:cNvSpPr>
          <p:nvPr/>
        </p:nvSpPr>
        <p:spPr>
          <a:xfrm>
            <a:off x="8134350" y="2200275"/>
            <a:ext cx="3257550" cy="1495425"/>
          </a:xfrm>
          <a:prstGeom prst="rect">
            <a:avLst/>
          </a:prstGeom>
          <a:solidFill>
            <a:srgbClr val="EDF7F4"/>
          </a:solidFill>
          <a:ln w="0">
            <a:noFill/>
          </a:ln>
        </p:spPr>
        <p:txBody>
          <a:bodyPr/>
          <a:lstStyle/>
          <a:p>
            <a:endParaRPr lang="zh-CN" altLang="en-US"/>
          </a:p>
        </p:txBody>
      </p:sp>
      <p:sp>
        <p:nvSpPr>
          <p:cNvPr id="13" name="矩形 12">
            <a:extLst>
              <a:ext uri="{FF2B5EF4-FFF2-40B4-BE49-F238E27FC236}">
                <a16:creationId xmlns:a16="http://schemas.microsoft.com/office/drawing/2014/main" id="{D4980BD2-38CE-492F-885C-05AF4D668BFE}"/>
              </a:ext>
            </a:extLst>
          </p:cNvPr>
          <p:cNvSpPr>
            <a:spLocks noGrp="1"/>
          </p:cNvSpPr>
          <p:nvPr/>
        </p:nvSpPr>
        <p:spPr>
          <a:xfrm>
            <a:off x="8324850" y="2381250"/>
            <a:ext cx="2857500" cy="3810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bot</a:t>
            </a:r>
          </a:p>
        </p:txBody>
      </p:sp>
      <p:sp>
        <p:nvSpPr>
          <p:cNvPr id="14" name="矩形 13">
            <a:extLst>
              <a:ext uri="{FF2B5EF4-FFF2-40B4-BE49-F238E27FC236}">
                <a16:creationId xmlns:a16="http://schemas.microsoft.com/office/drawing/2014/main" id="{0D4B5F4B-67C5-491F-B3F2-AA5238162134}"/>
              </a:ext>
            </a:extLst>
          </p:cNvPr>
          <p:cNvSpPr>
            <a:spLocks noGrp="1"/>
          </p:cNvSpPr>
          <p:nvPr/>
        </p:nvSpPr>
        <p:spPr>
          <a:xfrm>
            <a:off x="8324850" y="2886075"/>
            <a:ext cx="2905125" cy="714375"/>
          </a:xfrm>
          <a:prstGeom prst="rect">
            <a:avLst/>
          </a:prstGeom>
          <a:noFill/>
          <a:ln w="0">
            <a:noFill/>
          </a:ln>
        </p:spPr>
        <p:txBody>
          <a:bodyPr>
            <a:noAutofit/>
          </a:bodyPr>
          <a:lstStyle/>
          <a:p>
            <a:pPr>
              <a:defRPr sz="1800" b="0">
                <a:solidFill>
                  <a:srgbClr val="172A2A"/>
                </a:solidFill>
                <a:latin typeface="Arial"/>
                <a:ea typeface="Arial"/>
                <a:cs typeface="Arial"/>
              </a:defRPr>
            </a:pPr>
            <a:r>
              <a:rPr sz="1800" b="0">
                <a:solidFill>
                  <a:srgbClr val="172A2A"/>
                </a:solidFill>
                <a:latin typeface="Arial"/>
                <a:ea typeface="Arial"/>
                <a:cs typeface="Arial"/>
              </a:rPr>
              <a:t>BotClient + BotState</a:t>
            </a:r>
          </a:p>
          <a:p>
            <a:pPr>
              <a:defRPr sz="1800" b="0">
                <a:solidFill>
                  <a:srgbClr val="172A2A"/>
                </a:solidFill>
                <a:latin typeface="Arial"/>
                <a:ea typeface="Arial"/>
                <a:cs typeface="Arial"/>
              </a:defRPr>
            </a:pPr>
            <a:r>
              <a:rPr sz="1800" b="0">
                <a:solidFill>
                  <a:srgbClr val="172A2A"/>
                </a:solidFill>
                <a:latin typeface="Arial"/>
                <a:ea typeface="Arial"/>
                <a:cs typeface="Arial"/>
              </a:rPr>
              <a:t>Command processor</a:t>
            </a:r>
          </a:p>
        </p:txBody>
      </p:sp>
      <p:sp>
        <p:nvSpPr>
          <p:cNvPr id="15" name="矩形 14">
            <a:extLst>
              <a:ext uri="{FF2B5EF4-FFF2-40B4-BE49-F238E27FC236}">
                <a16:creationId xmlns:a16="http://schemas.microsoft.com/office/drawing/2014/main" id="{E551E0E7-0194-451B-9C7F-A591A01B7018}"/>
              </a:ext>
            </a:extLst>
          </p:cNvPr>
          <p:cNvSpPr>
            <a:spLocks noGrp="1"/>
          </p:cNvSpPr>
          <p:nvPr/>
        </p:nvSpPr>
        <p:spPr>
          <a:xfrm>
            <a:off x="723900" y="421005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Core modules</a:t>
            </a:r>
          </a:p>
        </p:txBody>
      </p:sp>
      <p:sp>
        <p:nvSpPr>
          <p:cNvPr id="16" name="矩形 15">
            <a:extLst>
              <a:ext uri="{FF2B5EF4-FFF2-40B4-BE49-F238E27FC236}">
                <a16:creationId xmlns:a16="http://schemas.microsoft.com/office/drawing/2014/main" id="{29635160-CA18-4B08-8910-3B4140066D7E}"/>
              </a:ext>
            </a:extLst>
          </p:cNvPr>
          <p:cNvSpPr>
            <a:spLocks noGrp="1"/>
          </p:cNvSpPr>
          <p:nvPr/>
        </p:nvSpPr>
        <p:spPr>
          <a:xfrm>
            <a:off x="723900" y="475297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Message model, sessions, shared state, and Bot behavior</a:t>
            </a:r>
          </a:p>
        </p:txBody>
      </p:sp>
      <p:sp>
        <p:nvSpPr>
          <p:cNvPr id="17" name="矩形 16">
            <a:extLst>
              <a:ext uri="{FF2B5EF4-FFF2-40B4-BE49-F238E27FC236}">
                <a16:creationId xmlns:a16="http://schemas.microsoft.com/office/drawing/2014/main" id="{43F66AFC-B921-4881-B3B6-9847BB97792F}"/>
              </a:ext>
            </a:extLst>
          </p:cNvPr>
          <p:cNvSpPr>
            <a:spLocks noGrp="1"/>
          </p:cNvSpPr>
          <p:nvPr/>
        </p:nvSpPr>
        <p:spPr>
          <a:xfrm>
            <a:off x="6572250" y="421005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Requirements covered</a:t>
            </a:r>
          </a:p>
        </p:txBody>
      </p:sp>
      <p:sp>
        <p:nvSpPr>
          <p:cNvPr id="18" name="矩形 17">
            <a:extLst>
              <a:ext uri="{FF2B5EF4-FFF2-40B4-BE49-F238E27FC236}">
                <a16:creationId xmlns:a16="http://schemas.microsoft.com/office/drawing/2014/main" id="{9C2339DF-93B6-4B74-9178-410128C950F0}"/>
              </a:ext>
            </a:extLst>
          </p:cNvPr>
          <p:cNvSpPr>
            <a:spLocks noGrp="1"/>
          </p:cNvSpPr>
          <p:nvPr/>
        </p:nvSpPr>
        <p:spPr>
          <a:xfrm>
            <a:off x="6572250" y="475297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Protocol, Bot, server, and error-handling requirements implemented</a:t>
            </a:r>
          </a:p>
        </p:txBody>
      </p:sp>
      <p:sp>
        <p:nvSpPr>
          <p:cNvPr id="19" name="矩形 18">
            <a:extLst>
              <a:ext uri="{FF2B5EF4-FFF2-40B4-BE49-F238E27FC236}">
                <a16:creationId xmlns:a16="http://schemas.microsoft.com/office/drawing/2014/main" id="{16AB2E05-4E0C-446F-BAFC-F33AB85BBE2A}"/>
              </a:ext>
            </a:extLst>
          </p:cNvPr>
          <p:cNvSpPr>
            <a:spLocks noGrp="1"/>
          </p:cNvSpPr>
          <p:nvPr/>
        </p:nvSpPr>
        <p:spPr>
          <a:xfrm>
            <a:off x="914400" y="3790950"/>
            <a:ext cx="3048000" cy="257175"/>
          </a:xfrm>
          <a:prstGeom prst="rect">
            <a:avLst/>
          </a:prstGeom>
          <a:noFill/>
          <a:ln w="0">
            <a:noFill/>
          </a:ln>
        </p:spPr>
        <p:txBody>
          <a:bodyPr>
            <a:noAutofit/>
          </a:bodyPr>
          <a:lstStyle/>
          <a:p>
            <a:pPr>
              <a:defRPr sz="1425">
                <a:solidFill>
                  <a:srgbClr val="087F78"/>
                </a:solidFill>
                <a:latin typeface="Microsoft YaHei"/>
                <a:ea typeface="Microsoft YaHei"/>
                <a:cs typeface="Microsoft YaHei"/>
              </a:defRPr>
            </a:pPr>
            <a:r>
              <a:rPr sz="1425" dirty="0">
                <a:solidFill>
                  <a:srgbClr val="087F78"/>
                </a:solidFill>
                <a:latin typeface="Microsoft YaHei"/>
                <a:ea typeface="Microsoft YaHei"/>
                <a:cs typeface="Microsoft YaHei"/>
              </a:rPr>
              <a:t>Code + docs:</a:t>
            </a:r>
            <a:r>
              <a:rPr lang="zh-CN" altLang="en-US" sz="1425" dirty="0">
                <a:solidFill>
                  <a:srgbClr val="087F78"/>
                </a:solidFill>
                <a:latin typeface="Microsoft YaHei"/>
                <a:ea typeface="Microsoft YaHei"/>
                <a:cs typeface="Microsoft YaHei"/>
              </a:rPr>
              <a:t> </a:t>
            </a:r>
            <a:r>
              <a:rPr lang="en-US" altLang="zh-CN" sz="1425" dirty="0">
                <a:solidFill>
                  <a:srgbClr val="087F78"/>
                </a:solidFill>
                <a:latin typeface="Microsoft YaHei"/>
                <a:ea typeface="Microsoft YaHei"/>
                <a:cs typeface="Microsoft YaHei"/>
              </a:rPr>
              <a:t>Kun Qian</a:t>
            </a:r>
            <a:endParaRPr sz="1425" dirty="0">
              <a:solidFill>
                <a:srgbClr val="087F78"/>
              </a:solidFill>
              <a:latin typeface="Microsoft YaHei"/>
              <a:ea typeface="Microsoft YaHei"/>
              <a:cs typeface="Microsoft YaHei"/>
            </a:endParaRPr>
          </a:p>
        </p:txBody>
      </p:sp>
      <p:sp>
        <p:nvSpPr>
          <p:cNvPr id="20" name="矩形 19">
            <a:extLst>
              <a:ext uri="{FF2B5EF4-FFF2-40B4-BE49-F238E27FC236}">
                <a16:creationId xmlns:a16="http://schemas.microsoft.com/office/drawing/2014/main" id="{DE4F2C4E-2704-4B86-919E-A2868FE18E9B}"/>
              </a:ext>
            </a:extLst>
          </p:cNvPr>
          <p:cNvSpPr>
            <a:spLocks noGrp="1"/>
          </p:cNvSpPr>
          <p:nvPr/>
        </p:nvSpPr>
        <p:spPr>
          <a:xfrm>
            <a:off x="4377252" y="3790950"/>
            <a:ext cx="3333750" cy="257175"/>
          </a:xfrm>
          <a:prstGeom prst="rect">
            <a:avLst/>
          </a:prstGeom>
          <a:noFill/>
          <a:ln w="0">
            <a:noFill/>
          </a:ln>
        </p:spPr>
        <p:txBody>
          <a:bodyPr>
            <a:noAutofit/>
          </a:bodyPr>
          <a:lstStyle/>
          <a:p>
            <a:pPr>
              <a:defRPr sz="1425">
                <a:solidFill>
                  <a:srgbClr val="087F78"/>
                </a:solidFill>
                <a:latin typeface="Microsoft YaHei"/>
                <a:ea typeface="Microsoft YaHei"/>
                <a:cs typeface="Microsoft YaHei"/>
              </a:defRPr>
            </a:pPr>
            <a:r>
              <a:rPr sz="1425" dirty="0">
                <a:solidFill>
                  <a:srgbClr val="087F78"/>
                </a:solidFill>
                <a:latin typeface="Microsoft YaHei"/>
                <a:ea typeface="Microsoft YaHei"/>
                <a:cs typeface="Microsoft YaHei"/>
              </a:rPr>
              <a:t>Code + docs:</a:t>
            </a:r>
            <a:r>
              <a:rPr lang="en-US" sz="1425" dirty="0">
                <a:solidFill>
                  <a:srgbClr val="087F78"/>
                </a:solidFill>
                <a:latin typeface="Microsoft YaHei"/>
                <a:ea typeface="Microsoft YaHei"/>
                <a:cs typeface="Microsoft YaHei"/>
              </a:rPr>
              <a:t> Yibo Xu, </a:t>
            </a:r>
            <a:r>
              <a:rPr lang="en-US" sz="1425" dirty="0" err="1">
                <a:solidFill>
                  <a:srgbClr val="087F78"/>
                </a:solidFill>
                <a:latin typeface="Microsoft YaHei"/>
                <a:ea typeface="Microsoft YaHei"/>
                <a:cs typeface="Microsoft YaHei"/>
              </a:rPr>
              <a:t>Jingsong</a:t>
            </a:r>
            <a:r>
              <a:rPr lang="en-US" sz="1425" dirty="0">
                <a:solidFill>
                  <a:srgbClr val="087F78"/>
                </a:solidFill>
                <a:latin typeface="Microsoft YaHei"/>
                <a:ea typeface="Microsoft YaHei"/>
                <a:cs typeface="Microsoft YaHei"/>
              </a:rPr>
              <a:t> She</a:t>
            </a:r>
            <a:endParaRPr sz="1425" dirty="0">
              <a:solidFill>
                <a:srgbClr val="087F78"/>
              </a:solidFill>
              <a:latin typeface="Microsoft YaHei"/>
              <a:ea typeface="Microsoft YaHei"/>
              <a:cs typeface="Microsoft YaHei"/>
            </a:endParaRPr>
          </a:p>
        </p:txBody>
      </p:sp>
      <p:sp>
        <p:nvSpPr>
          <p:cNvPr id="21" name="矩形 20">
            <a:extLst>
              <a:ext uri="{FF2B5EF4-FFF2-40B4-BE49-F238E27FC236}">
                <a16:creationId xmlns:a16="http://schemas.microsoft.com/office/drawing/2014/main" id="{59CB13E5-8238-415E-A9AD-2F5735A4CA02}"/>
              </a:ext>
            </a:extLst>
          </p:cNvPr>
          <p:cNvSpPr>
            <a:spLocks noGrp="1"/>
          </p:cNvSpPr>
          <p:nvPr/>
        </p:nvSpPr>
        <p:spPr>
          <a:xfrm>
            <a:off x="8134350" y="3790950"/>
            <a:ext cx="3708323" cy="209550"/>
          </a:xfrm>
          <a:prstGeom prst="rect">
            <a:avLst/>
          </a:prstGeom>
          <a:noFill/>
          <a:ln w="0">
            <a:noFill/>
          </a:ln>
        </p:spPr>
        <p:txBody>
          <a:bodyPr>
            <a:noAutofit/>
          </a:bodyPr>
          <a:lstStyle/>
          <a:p>
            <a:pPr>
              <a:defRPr sz="1425">
                <a:solidFill>
                  <a:srgbClr val="087F78"/>
                </a:solidFill>
                <a:latin typeface="Microsoft YaHei"/>
                <a:ea typeface="Microsoft YaHei"/>
                <a:cs typeface="Microsoft YaHei"/>
              </a:defRPr>
            </a:pPr>
            <a:r>
              <a:rPr sz="1425" dirty="0">
                <a:solidFill>
                  <a:srgbClr val="087F78"/>
                </a:solidFill>
                <a:latin typeface="Microsoft YaHei"/>
                <a:ea typeface="Microsoft YaHei"/>
                <a:cs typeface="Microsoft YaHei"/>
              </a:rPr>
              <a:t>Code + docs:</a:t>
            </a:r>
            <a:r>
              <a:rPr lang="en-US" sz="1425" dirty="0">
                <a:solidFill>
                  <a:srgbClr val="087F78"/>
                </a:solidFill>
                <a:latin typeface="Microsoft YaHei"/>
                <a:ea typeface="Microsoft YaHei"/>
                <a:cs typeface="Microsoft YaHei"/>
              </a:rPr>
              <a:t> </a:t>
            </a:r>
            <a:r>
              <a:rPr lang="en-US" sz="1425" dirty="0" err="1">
                <a:solidFill>
                  <a:srgbClr val="087F78"/>
                </a:solidFill>
                <a:latin typeface="Microsoft YaHei"/>
                <a:ea typeface="Microsoft YaHei"/>
                <a:cs typeface="Microsoft YaHei"/>
              </a:rPr>
              <a:t>Tianxing</a:t>
            </a:r>
            <a:r>
              <a:rPr lang="en-US" sz="1425" dirty="0">
                <a:solidFill>
                  <a:srgbClr val="087F78"/>
                </a:solidFill>
                <a:latin typeface="Microsoft YaHei"/>
                <a:ea typeface="Microsoft YaHei"/>
                <a:cs typeface="Microsoft YaHei"/>
              </a:rPr>
              <a:t> Wei</a:t>
            </a:r>
            <a:r>
              <a:rPr sz="1425" dirty="0">
                <a:solidFill>
                  <a:srgbClr val="087F78"/>
                </a:solidFill>
                <a:latin typeface="Microsoft YaHei"/>
                <a:ea typeface="Microsoft YaHei"/>
                <a:cs typeface="Microsoft YaHei"/>
              </a:rPr>
              <a:t>, Li </a:t>
            </a:r>
            <a:r>
              <a:rPr sz="1425" dirty="0" err="1">
                <a:solidFill>
                  <a:srgbClr val="087F78"/>
                </a:solidFill>
                <a:latin typeface="Microsoft YaHei"/>
                <a:ea typeface="Microsoft YaHei"/>
                <a:cs typeface="Microsoft YaHei"/>
              </a:rPr>
              <a:t>Yuzong</a:t>
            </a:r>
            <a:endParaRPr sz="1425" dirty="0">
              <a:solidFill>
                <a:srgbClr val="087F78"/>
              </a:solidFill>
              <a:latin typeface="Microsoft YaHei"/>
              <a:ea typeface="Microsoft YaHei"/>
              <a:cs typeface="Microsoft YaHei"/>
            </a:endParaRPr>
          </a:p>
        </p:txBody>
      </p:sp>
    </p:spTree>
    <p:extLst>
      <p:ext uri="{BB962C8B-B14F-4D97-AF65-F5344CB8AC3E}">
        <p14:creationId xmlns:p14="http://schemas.microsoft.com/office/powerpoint/2010/main" val="1430402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99C5E4FF-841F-4728-8D58-98DAD6174336}"/>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Protocol foundation</a:t>
            </a:r>
          </a:p>
        </p:txBody>
      </p:sp>
      <p:sp>
        <p:nvSpPr>
          <p:cNvPr id="3" name="矩形 2">
            <a:extLst>
              <a:ext uri="{FF2B5EF4-FFF2-40B4-BE49-F238E27FC236}">
                <a16:creationId xmlns:a16="http://schemas.microsoft.com/office/drawing/2014/main" id="{1D540BB3-85ED-4D54-BAED-8D4494D1F5B5}"/>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F15E9E15-F2CB-4D0D-8FFA-F4372C43EFCD}"/>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Socket Programming | Midterm review</a:t>
            </a:r>
          </a:p>
        </p:txBody>
      </p:sp>
      <p:sp>
        <p:nvSpPr>
          <p:cNvPr id="5" name="矩形 4">
            <a:extLst>
              <a:ext uri="{FF2B5EF4-FFF2-40B4-BE49-F238E27FC236}">
                <a16:creationId xmlns:a16="http://schemas.microsoft.com/office/drawing/2014/main" id="{BADD1EB4-32E5-474F-85CF-F5DACFC95900}"/>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03</a:t>
            </a:r>
          </a:p>
        </p:txBody>
      </p:sp>
      <p:sp>
        <p:nvSpPr>
          <p:cNvPr id="6" name="矩形 5">
            <a:extLst>
              <a:ext uri="{FF2B5EF4-FFF2-40B4-BE49-F238E27FC236}">
                <a16:creationId xmlns:a16="http://schemas.microsoft.com/office/drawing/2014/main" id="{E3294006-2DEB-4C41-9F93-89CF2EF6C66B}"/>
              </a:ext>
            </a:extLst>
          </p:cNvPr>
          <p:cNvSpPr>
            <a:spLocks noGrp="1"/>
          </p:cNvSpPr>
          <p:nvPr/>
        </p:nvSpPr>
        <p:spPr>
          <a:xfrm>
            <a:off x="723900" y="2076450"/>
            <a:ext cx="10668000" cy="781050"/>
          </a:xfrm>
          <a:prstGeom prst="rect">
            <a:avLst/>
          </a:prstGeom>
          <a:solidFill>
            <a:srgbClr val="EDF7F4"/>
          </a:solidFill>
          <a:ln w="0">
            <a:noFill/>
          </a:ln>
        </p:spPr>
        <p:txBody>
          <a:bodyPr/>
          <a:lstStyle/>
          <a:p>
            <a:endParaRPr lang="zh-CN" altLang="en-US"/>
          </a:p>
        </p:txBody>
      </p:sp>
      <p:sp>
        <p:nvSpPr>
          <p:cNvPr id="7" name="矩形 6">
            <a:extLst>
              <a:ext uri="{FF2B5EF4-FFF2-40B4-BE49-F238E27FC236}">
                <a16:creationId xmlns:a16="http://schemas.microsoft.com/office/drawing/2014/main" id="{E2B97185-81EA-40F8-911D-E4BD80602C77}"/>
              </a:ext>
            </a:extLst>
          </p:cNvPr>
          <p:cNvSpPr>
            <a:spLocks noGrp="1"/>
          </p:cNvSpPr>
          <p:nvPr/>
        </p:nvSpPr>
        <p:spPr>
          <a:xfrm>
            <a:off x="952500" y="2257425"/>
            <a:ext cx="10191750" cy="495300"/>
          </a:xfrm>
          <a:prstGeom prst="rect">
            <a:avLst/>
          </a:prstGeom>
          <a:noFill/>
          <a:ln w="0">
            <a:noFill/>
          </a:ln>
        </p:spPr>
        <p:txBody>
          <a:bodyPr>
            <a:noAutofit/>
          </a:bodyPr>
          <a:lstStyle/>
          <a:p>
            <a:pPr>
              <a:defRPr sz="2475" b="1">
                <a:solidFill>
                  <a:srgbClr val="087F78"/>
                </a:solidFill>
                <a:latin typeface="Arial"/>
                <a:ea typeface="Arial"/>
                <a:cs typeface="Arial"/>
              </a:defRPr>
            </a:pPr>
            <a:r>
              <a:rPr sz="2475" b="1">
                <a:solidFill>
                  <a:srgbClr val="087F78"/>
                </a:solidFill>
                <a:latin typeface="Arial"/>
                <a:ea typeface="Arial"/>
                <a:cs typeface="Arial"/>
              </a:rPr>
              <a:t>:alice!u@host PRIVMSG #hello :Hi Bob</a:t>
            </a:r>
          </a:p>
        </p:txBody>
      </p:sp>
      <p:sp>
        <p:nvSpPr>
          <p:cNvPr id="8" name="矩形 7">
            <a:extLst>
              <a:ext uri="{FF2B5EF4-FFF2-40B4-BE49-F238E27FC236}">
                <a16:creationId xmlns:a16="http://schemas.microsoft.com/office/drawing/2014/main" id="{A0B82BC9-0B64-4886-A939-425AA9C60AFC}"/>
              </a:ext>
            </a:extLst>
          </p:cNvPr>
          <p:cNvSpPr>
            <a:spLocks noGrp="1"/>
          </p:cNvSpPr>
          <p:nvPr/>
        </p:nvSpPr>
        <p:spPr>
          <a:xfrm>
            <a:off x="723900" y="3133725"/>
            <a:ext cx="3238500" cy="419100"/>
          </a:xfrm>
          <a:prstGeom prst="rect">
            <a:avLst/>
          </a:prstGeom>
          <a:noFill/>
          <a:ln w="0">
            <a:noFill/>
          </a:ln>
        </p:spPr>
        <p:txBody>
          <a:bodyPr>
            <a:noAutofit/>
          </a:bodyPr>
          <a:lstStyle/>
          <a:p>
            <a:pPr>
              <a:defRPr sz="2175" b="1">
                <a:solidFill>
                  <a:srgbClr val="087F78"/>
                </a:solidFill>
                <a:latin typeface="Arial"/>
                <a:ea typeface="Arial"/>
                <a:cs typeface="Arial"/>
              </a:defRPr>
            </a:pPr>
            <a:r>
              <a:rPr sz="2175" b="1">
                <a:solidFill>
                  <a:srgbClr val="087F78"/>
                </a:solidFill>
                <a:latin typeface="Arial"/>
                <a:ea typeface="Arial"/>
                <a:cs typeface="Arial"/>
              </a:rPr>
              <a:t>prefix</a:t>
            </a:r>
          </a:p>
        </p:txBody>
      </p:sp>
      <p:sp>
        <p:nvSpPr>
          <p:cNvPr id="9" name="矩形 8">
            <a:extLst>
              <a:ext uri="{FF2B5EF4-FFF2-40B4-BE49-F238E27FC236}">
                <a16:creationId xmlns:a16="http://schemas.microsoft.com/office/drawing/2014/main" id="{E2CC176C-1043-4490-8419-3F9B2C264BDE}"/>
              </a:ext>
            </a:extLst>
          </p:cNvPr>
          <p:cNvSpPr>
            <a:spLocks noGrp="1"/>
          </p:cNvSpPr>
          <p:nvPr/>
        </p:nvSpPr>
        <p:spPr>
          <a:xfrm>
            <a:off x="723900" y="3686175"/>
            <a:ext cx="3333750" cy="523875"/>
          </a:xfrm>
          <a:prstGeom prst="rect">
            <a:avLst/>
          </a:prstGeom>
          <a:noFill/>
          <a:ln w="0">
            <a:noFill/>
          </a:ln>
        </p:spPr>
        <p:txBody>
          <a:bodyPr>
            <a:noAutofit/>
          </a:bodyPr>
          <a:lstStyle/>
          <a:p>
            <a:pPr>
              <a:defRPr sz="2025" b="0">
                <a:solidFill>
                  <a:srgbClr val="172A2A"/>
                </a:solidFill>
                <a:latin typeface="Arial"/>
                <a:ea typeface="Arial"/>
                <a:cs typeface="Arial"/>
              </a:defRPr>
            </a:pPr>
            <a:r>
              <a:rPr sz="2025" b="0">
                <a:solidFill>
                  <a:srgbClr val="172A2A"/>
                </a:solidFill>
                <a:latin typeface="Arial"/>
                <a:ea typeface="Arial"/>
                <a:cs typeface="Arial"/>
              </a:rPr>
              <a:t>alice!u@host</a:t>
            </a:r>
          </a:p>
        </p:txBody>
      </p:sp>
      <p:sp>
        <p:nvSpPr>
          <p:cNvPr id="10" name="矩形 9">
            <a:extLst>
              <a:ext uri="{FF2B5EF4-FFF2-40B4-BE49-F238E27FC236}">
                <a16:creationId xmlns:a16="http://schemas.microsoft.com/office/drawing/2014/main" id="{F83FFC0F-5CD0-4666-9431-EB88BC7A044B}"/>
              </a:ext>
            </a:extLst>
          </p:cNvPr>
          <p:cNvSpPr>
            <a:spLocks noGrp="1"/>
          </p:cNvSpPr>
          <p:nvPr/>
        </p:nvSpPr>
        <p:spPr>
          <a:xfrm>
            <a:off x="4429125" y="3133725"/>
            <a:ext cx="3238500" cy="419100"/>
          </a:xfrm>
          <a:prstGeom prst="rect">
            <a:avLst/>
          </a:prstGeom>
          <a:noFill/>
          <a:ln w="0">
            <a:noFill/>
          </a:ln>
        </p:spPr>
        <p:txBody>
          <a:bodyPr>
            <a:noAutofit/>
          </a:bodyPr>
          <a:lstStyle/>
          <a:p>
            <a:pPr>
              <a:defRPr sz="2175" b="1">
                <a:solidFill>
                  <a:srgbClr val="087F78"/>
                </a:solidFill>
                <a:latin typeface="Arial"/>
                <a:ea typeface="Arial"/>
                <a:cs typeface="Arial"/>
              </a:defRPr>
            </a:pPr>
            <a:r>
              <a:rPr sz="2175" b="1">
                <a:solidFill>
                  <a:srgbClr val="087F78"/>
                </a:solidFill>
                <a:latin typeface="Arial"/>
                <a:ea typeface="Arial"/>
                <a:cs typeface="Arial"/>
              </a:rPr>
              <a:t>command</a:t>
            </a:r>
          </a:p>
        </p:txBody>
      </p:sp>
      <p:sp>
        <p:nvSpPr>
          <p:cNvPr id="11" name="矩形 10">
            <a:extLst>
              <a:ext uri="{FF2B5EF4-FFF2-40B4-BE49-F238E27FC236}">
                <a16:creationId xmlns:a16="http://schemas.microsoft.com/office/drawing/2014/main" id="{45AF5137-A334-4B96-AEFF-12511D8977E5}"/>
              </a:ext>
            </a:extLst>
          </p:cNvPr>
          <p:cNvSpPr>
            <a:spLocks noGrp="1"/>
          </p:cNvSpPr>
          <p:nvPr/>
        </p:nvSpPr>
        <p:spPr>
          <a:xfrm>
            <a:off x="4429125" y="3686175"/>
            <a:ext cx="3333750" cy="523875"/>
          </a:xfrm>
          <a:prstGeom prst="rect">
            <a:avLst/>
          </a:prstGeom>
          <a:noFill/>
          <a:ln w="0">
            <a:noFill/>
          </a:ln>
        </p:spPr>
        <p:txBody>
          <a:bodyPr>
            <a:noAutofit/>
          </a:bodyPr>
          <a:lstStyle/>
          <a:p>
            <a:pPr>
              <a:defRPr sz="2025" b="0">
                <a:solidFill>
                  <a:srgbClr val="172A2A"/>
                </a:solidFill>
                <a:latin typeface="Arial"/>
                <a:ea typeface="Arial"/>
                <a:cs typeface="Arial"/>
              </a:defRPr>
            </a:pPr>
            <a:r>
              <a:rPr sz="2025" b="0">
                <a:solidFill>
                  <a:srgbClr val="172A2A"/>
                </a:solidFill>
                <a:latin typeface="Arial"/>
                <a:ea typeface="Arial"/>
                <a:cs typeface="Arial"/>
              </a:rPr>
              <a:t>PRIVMSG</a:t>
            </a:r>
          </a:p>
        </p:txBody>
      </p:sp>
      <p:sp>
        <p:nvSpPr>
          <p:cNvPr id="12" name="矩形 11">
            <a:extLst>
              <a:ext uri="{FF2B5EF4-FFF2-40B4-BE49-F238E27FC236}">
                <a16:creationId xmlns:a16="http://schemas.microsoft.com/office/drawing/2014/main" id="{F2733A92-A533-4C16-BFB1-15AC0C345441}"/>
              </a:ext>
            </a:extLst>
          </p:cNvPr>
          <p:cNvSpPr>
            <a:spLocks noGrp="1"/>
          </p:cNvSpPr>
          <p:nvPr/>
        </p:nvSpPr>
        <p:spPr>
          <a:xfrm>
            <a:off x="8134350" y="3133725"/>
            <a:ext cx="3238500" cy="419100"/>
          </a:xfrm>
          <a:prstGeom prst="rect">
            <a:avLst/>
          </a:prstGeom>
          <a:noFill/>
          <a:ln w="0">
            <a:noFill/>
          </a:ln>
        </p:spPr>
        <p:txBody>
          <a:bodyPr>
            <a:noAutofit/>
          </a:bodyPr>
          <a:lstStyle/>
          <a:p>
            <a:pPr>
              <a:defRPr sz="2175" b="1">
                <a:solidFill>
                  <a:srgbClr val="087F78"/>
                </a:solidFill>
                <a:latin typeface="Arial"/>
                <a:ea typeface="Arial"/>
                <a:cs typeface="Arial"/>
              </a:defRPr>
            </a:pPr>
            <a:r>
              <a:rPr sz="2175" b="1">
                <a:solidFill>
                  <a:srgbClr val="087F78"/>
                </a:solidFill>
                <a:latin typeface="Arial"/>
                <a:ea typeface="Arial"/>
                <a:cs typeface="Arial"/>
              </a:rPr>
              <a:t>params</a:t>
            </a:r>
          </a:p>
        </p:txBody>
      </p:sp>
      <p:sp>
        <p:nvSpPr>
          <p:cNvPr id="13" name="矩形 12">
            <a:extLst>
              <a:ext uri="{FF2B5EF4-FFF2-40B4-BE49-F238E27FC236}">
                <a16:creationId xmlns:a16="http://schemas.microsoft.com/office/drawing/2014/main" id="{AD2DBD81-21B4-4748-A63B-CC88C896C08A}"/>
              </a:ext>
            </a:extLst>
          </p:cNvPr>
          <p:cNvSpPr>
            <a:spLocks noGrp="1"/>
          </p:cNvSpPr>
          <p:nvPr/>
        </p:nvSpPr>
        <p:spPr>
          <a:xfrm>
            <a:off x="8134350" y="3686175"/>
            <a:ext cx="3333750" cy="523875"/>
          </a:xfrm>
          <a:prstGeom prst="rect">
            <a:avLst/>
          </a:prstGeom>
          <a:noFill/>
          <a:ln w="0">
            <a:noFill/>
          </a:ln>
        </p:spPr>
        <p:txBody>
          <a:bodyPr>
            <a:noAutofit/>
          </a:bodyPr>
          <a:lstStyle/>
          <a:p>
            <a:pPr>
              <a:defRPr sz="2025" b="0">
                <a:solidFill>
                  <a:srgbClr val="172A2A"/>
                </a:solidFill>
                <a:latin typeface="Arial"/>
                <a:ea typeface="Arial"/>
                <a:cs typeface="Arial"/>
              </a:defRPr>
            </a:pPr>
            <a:r>
              <a:rPr sz="2025" b="0">
                <a:solidFill>
                  <a:srgbClr val="172A2A"/>
                </a:solidFill>
                <a:latin typeface="Arial"/>
                <a:ea typeface="Arial"/>
                <a:cs typeface="Arial"/>
              </a:rPr>
              <a:t>("#hello", "Hi Bob")</a:t>
            </a:r>
          </a:p>
        </p:txBody>
      </p:sp>
      <p:sp>
        <p:nvSpPr>
          <p:cNvPr id="14" name="矩形 13">
            <a:extLst>
              <a:ext uri="{FF2B5EF4-FFF2-40B4-BE49-F238E27FC236}">
                <a16:creationId xmlns:a16="http://schemas.microsoft.com/office/drawing/2014/main" id="{9ECE9CE4-C7F1-4C1A-872F-234D22BF69D8}"/>
              </a:ext>
            </a:extLst>
          </p:cNvPr>
          <p:cNvSpPr>
            <a:spLocks noGrp="1"/>
          </p:cNvSpPr>
          <p:nvPr/>
        </p:nvSpPr>
        <p:spPr>
          <a:xfrm>
            <a:off x="723900" y="4524375"/>
            <a:ext cx="10668000" cy="19050"/>
          </a:xfrm>
          <a:prstGeom prst="rect">
            <a:avLst/>
          </a:prstGeom>
          <a:solidFill>
            <a:srgbClr val="D6E4E1"/>
          </a:solidFill>
          <a:ln w="0">
            <a:noFill/>
          </a:ln>
        </p:spPr>
        <p:txBody>
          <a:bodyPr/>
          <a:lstStyle/>
          <a:p>
            <a:endParaRPr lang="zh-CN" altLang="en-US"/>
          </a:p>
        </p:txBody>
      </p:sp>
      <p:sp>
        <p:nvSpPr>
          <p:cNvPr id="15" name="矩形 14">
            <a:extLst>
              <a:ext uri="{FF2B5EF4-FFF2-40B4-BE49-F238E27FC236}">
                <a16:creationId xmlns:a16="http://schemas.microsoft.com/office/drawing/2014/main" id="{A0AF1C86-447F-4BAE-9D01-031D20B5699E}"/>
              </a:ext>
            </a:extLst>
          </p:cNvPr>
          <p:cNvSpPr>
            <a:spLocks noGrp="1"/>
          </p:cNvSpPr>
          <p:nvPr/>
        </p:nvSpPr>
        <p:spPr>
          <a:xfrm>
            <a:off x="723900" y="483870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IRCStreamDecoder</a:t>
            </a:r>
          </a:p>
        </p:txBody>
      </p:sp>
      <p:sp>
        <p:nvSpPr>
          <p:cNvPr id="16" name="矩形 15">
            <a:extLst>
              <a:ext uri="{FF2B5EF4-FFF2-40B4-BE49-F238E27FC236}">
                <a16:creationId xmlns:a16="http://schemas.microsoft.com/office/drawing/2014/main" id="{E84D9431-F59D-4EFD-AB3B-DEB3FE726E88}"/>
              </a:ext>
            </a:extLst>
          </p:cNvPr>
          <p:cNvSpPr>
            <a:spLocks noGrp="1"/>
          </p:cNvSpPr>
          <p:nvPr/>
        </p:nvSpPr>
        <p:spPr>
          <a:xfrm>
            <a:off x="723900" y="538162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TCP bytes → complete CRLF messages</a:t>
            </a:r>
          </a:p>
          <a:p>
            <a:pPr>
              <a:defRPr sz="1950" b="0">
                <a:solidFill>
                  <a:srgbClr val="596C6B"/>
                </a:solidFill>
                <a:latin typeface="Arial"/>
                <a:ea typeface="Arial"/>
                <a:cs typeface="Arial"/>
              </a:defRPr>
            </a:pPr>
            <a:r>
              <a:rPr sz="1950" b="0">
                <a:solidFill>
                  <a:srgbClr val="596C6B"/>
                </a:solidFill>
                <a:latin typeface="Arial"/>
                <a:ea typeface="Arial"/>
                <a:cs typeface="Arial"/>
              </a:rPr>
              <a:t>Split lines, UTF-8 and 512-byte checks</a:t>
            </a:r>
          </a:p>
        </p:txBody>
      </p:sp>
      <p:sp>
        <p:nvSpPr>
          <p:cNvPr id="17" name="矩形 16">
            <a:extLst>
              <a:ext uri="{FF2B5EF4-FFF2-40B4-BE49-F238E27FC236}">
                <a16:creationId xmlns:a16="http://schemas.microsoft.com/office/drawing/2014/main" id="{B06BC563-AA67-4EE3-AF47-88C0150ABBDA}"/>
              </a:ext>
            </a:extLst>
          </p:cNvPr>
          <p:cNvSpPr>
            <a:spLocks noGrp="1"/>
          </p:cNvSpPr>
          <p:nvPr/>
        </p:nvSpPr>
        <p:spPr>
          <a:xfrm>
            <a:off x="6572250" y="483870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ClientState / IRCState</a:t>
            </a:r>
          </a:p>
        </p:txBody>
      </p:sp>
      <p:sp>
        <p:nvSpPr>
          <p:cNvPr id="18" name="矩形 17">
            <a:extLst>
              <a:ext uri="{FF2B5EF4-FFF2-40B4-BE49-F238E27FC236}">
                <a16:creationId xmlns:a16="http://schemas.microsoft.com/office/drawing/2014/main" id="{DB92FA48-CF84-4282-BF77-843582012378}"/>
              </a:ext>
            </a:extLst>
          </p:cNvPr>
          <p:cNvSpPr>
            <a:spLocks noGrp="1"/>
          </p:cNvSpPr>
          <p:nvPr/>
        </p:nvSpPr>
        <p:spPr>
          <a:xfrm>
            <a:off x="6572250" y="538162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User identity, nickname indexes</a:t>
            </a:r>
          </a:p>
          <a:p>
            <a:pPr>
              <a:defRPr sz="1950" b="0">
                <a:solidFill>
                  <a:srgbClr val="596C6B"/>
                </a:solidFill>
                <a:latin typeface="Arial"/>
                <a:ea typeface="Arial"/>
                <a:cs typeface="Arial"/>
              </a:defRPr>
            </a:pPr>
            <a:r>
              <a:rPr sz="1950" b="0">
                <a:solidFill>
                  <a:srgbClr val="596C6B"/>
                </a:solidFill>
                <a:latin typeface="Arial"/>
                <a:ea typeface="Arial"/>
                <a:cs typeface="Arial"/>
              </a:rPr>
              <a:t>and channel membership</a:t>
            </a:r>
          </a:p>
        </p:txBody>
      </p:sp>
    </p:spTree>
    <p:extLst>
      <p:ext uri="{BB962C8B-B14F-4D97-AF65-F5344CB8AC3E}">
        <p14:creationId xmlns:p14="http://schemas.microsoft.com/office/powerpoint/2010/main" val="1079807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F1DFE6DD-AD92-44CA-B52C-0A8AB4A30FB2}"/>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Bot functionality</a:t>
            </a:r>
          </a:p>
        </p:txBody>
      </p:sp>
      <p:sp>
        <p:nvSpPr>
          <p:cNvPr id="3" name="矩形 2">
            <a:extLst>
              <a:ext uri="{FF2B5EF4-FFF2-40B4-BE49-F238E27FC236}">
                <a16:creationId xmlns:a16="http://schemas.microsoft.com/office/drawing/2014/main" id="{82B1D8C9-3B1E-455A-BD68-E286381A0E49}"/>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6DDC35AE-5794-484E-B2D5-0D2731DEA6E7}"/>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Socket Programming | Midterm review</a:t>
            </a:r>
          </a:p>
        </p:txBody>
      </p:sp>
      <p:sp>
        <p:nvSpPr>
          <p:cNvPr id="5" name="矩形 4">
            <a:extLst>
              <a:ext uri="{FF2B5EF4-FFF2-40B4-BE49-F238E27FC236}">
                <a16:creationId xmlns:a16="http://schemas.microsoft.com/office/drawing/2014/main" id="{B1595B55-D714-4BBF-B4AC-15D0F7FDA5F2}"/>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04</a:t>
            </a:r>
          </a:p>
        </p:txBody>
      </p:sp>
      <p:sp>
        <p:nvSpPr>
          <p:cNvPr id="6" name="矩形 5">
            <a:extLst>
              <a:ext uri="{FF2B5EF4-FFF2-40B4-BE49-F238E27FC236}">
                <a16:creationId xmlns:a16="http://schemas.microsoft.com/office/drawing/2014/main" id="{80CFF2FC-3C65-49A1-ACD6-0B69D03B5362}"/>
              </a:ext>
            </a:extLst>
          </p:cNvPr>
          <p:cNvSpPr>
            <a:spLocks noGrp="1"/>
          </p:cNvSpPr>
          <p:nvPr/>
        </p:nvSpPr>
        <p:spPr>
          <a:xfrm>
            <a:off x="723900" y="2133600"/>
            <a:ext cx="61912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Registration flow</a:t>
            </a:r>
          </a:p>
        </p:txBody>
      </p:sp>
      <p:sp>
        <p:nvSpPr>
          <p:cNvPr id="7" name="矩形 6">
            <a:extLst>
              <a:ext uri="{FF2B5EF4-FFF2-40B4-BE49-F238E27FC236}">
                <a16:creationId xmlns:a16="http://schemas.microsoft.com/office/drawing/2014/main" id="{00D1F060-367C-485E-9CB9-37BDF12D304F}"/>
              </a:ext>
            </a:extLst>
          </p:cNvPr>
          <p:cNvSpPr>
            <a:spLocks noGrp="1"/>
          </p:cNvSpPr>
          <p:nvPr/>
        </p:nvSpPr>
        <p:spPr>
          <a:xfrm>
            <a:off x="723900" y="2809875"/>
            <a:ext cx="666750" cy="419100"/>
          </a:xfrm>
          <a:prstGeom prst="rect">
            <a:avLst/>
          </a:prstGeom>
          <a:noFill/>
          <a:ln w="0">
            <a:noFill/>
          </a:ln>
        </p:spPr>
        <p:txBody>
          <a:bodyPr>
            <a:noAutofit/>
          </a:bodyPr>
          <a:lstStyle/>
          <a:p>
            <a:pPr>
              <a:defRPr sz="2100" b="1">
                <a:solidFill>
                  <a:srgbClr val="087F78"/>
                </a:solidFill>
                <a:latin typeface="Arial"/>
                <a:ea typeface="Arial"/>
                <a:cs typeface="Arial"/>
              </a:defRPr>
            </a:pPr>
            <a:r>
              <a:rPr sz="2100" b="1">
                <a:solidFill>
                  <a:srgbClr val="087F78"/>
                </a:solidFill>
                <a:latin typeface="Arial"/>
                <a:ea typeface="Arial"/>
                <a:cs typeface="Arial"/>
              </a:rPr>
              <a:t>01</a:t>
            </a:r>
          </a:p>
        </p:txBody>
      </p:sp>
      <p:sp>
        <p:nvSpPr>
          <p:cNvPr id="8" name="矩形 7">
            <a:extLst>
              <a:ext uri="{FF2B5EF4-FFF2-40B4-BE49-F238E27FC236}">
                <a16:creationId xmlns:a16="http://schemas.microsoft.com/office/drawing/2014/main" id="{B09964DD-7FD2-40F3-9535-D2B223CB3F8D}"/>
              </a:ext>
            </a:extLst>
          </p:cNvPr>
          <p:cNvSpPr>
            <a:spLocks noGrp="1"/>
          </p:cNvSpPr>
          <p:nvPr/>
        </p:nvSpPr>
        <p:spPr>
          <a:xfrm>
            <a:off x="1657350" y="2809875"/>
            <a:ext cx="1905000" cy="419100"/>
          </a:xfrm>
          <a:prstGeom prst="rect">
            <a:avLst/>
          </a:prstGeom>
          <a:noFill/>
          <a:ln w="0">
            <a:noFill/>
          </a:ln>
        </p:spPr>
        <p:txBody>
          <a:bodyPr>
            <a:noAutofit/>
          </a:bodyPr>
          <a:lstStyle/>
          <a:p>
            <a:pPr>
              <a:defRPr sz="2025" b="1">
                <a:solidFill>
                  <a:srgbClr val="172A2A"/>
                </a:solidFill>
                <a:latin typeface="Arial"/>
                <a:ea typeface="Arial"/>
                <a:cs typeface="Arial"/>
              </a:defRPr>
            </a:pPr>
            <a:r>
              <a:rPr sz="2025" b="1">
                <a:solidFill>
                  <a:srgbClr val="172A2A"/>
                </a:solidFill>
                <a:latin typeface="Arial"/>
                <a:ea typeface="Arial"/>
                <a:cs typeface="Arial"/>
              </a:rPr>
              <a:t>Connect</a:t>
            </a:r>
          </a:p>
        </p:txBody>
      </p:sp>
      <p:sp>
        <p:nvSpPr>
          <p:cNvPr id="9" name="矩形 8">
            <a:extLst>
              <a:ext uri="{FF2B5EF4-FFF2-40B4-BE49-F238E27FC236}">
                <a16:creationId xmlns:a16="http://schemas.microsoft.com/office/drawing/2014/main" id="{605BB33A-CCCF-4C42-A4B5-13227B1B8BF4}"/>
              </a:ext>
            </a:extLst>
          </p:cNvPr>
          <p:cNvSpPr>
            <a:spLocks noGrp="1"/>
          </p:cNvSpPr>
          <p:nvPr/>
        </p:nvSpPr>
        <p:spPr>
          <a:xfrm>
            <a:off x="4048125" y="2809875"/>
            <a:ext cx="7334250" cy="457200"/>
          </a:xfrm>
          <a:prstGeom prst="rect">
            <a:avLst/>
          </a:prstGeom>
          <a:noFill/>
          <a:ln w="0">
            <a:noFill/>
          </a:ln>
        </p:spPr>
        <p:txBody>
          <a:bodyPr>
            <a:noAutofit/>
          </a:bodyPr>
          <a:lstStyle/>
          <a:p>
            <a:pPr>
              <a:defRPr sz="2175" b="0">
                <a:solidFill>
                  <a:srgbClr val="087F78"/>
                </a:solidFill>
                <a:latin typeface="Arial"/>
                <a:ea typeface="Arial"/>
                <a:cs typeface="Arial"/>
              </a:defRPr>
            </a:pPr>
            <a:r>
              <a:rPr sz="2175" b="0">
                <a:solidFill>
                  <a:srgbClr val="087F78"/>
                </a:solidFill>
                <a:latin typeface="Arial"/>
                <a:ea typeface="Arial"/>
                <a:cs typeface="Arial"/>
              </a:rPr>
              <a:t>AF_INET6 TCP connection →</a:t>
            </a:r>
          </a:p>
        </p:txBody>
      </p:sp>
      <p:sp>
        <p:nvSpPr>
          <p:cNvPr id="10" name="矩形 9">
            <a:extLst>
              <a:ext uri="{FF2B5EF4-FFF2-40B4-BE49-F238E27FC236}">
                <a16:creationId xmlns:a16="http://schemas.microsoft.com/office/drawing/2014/main" id="{BF0E424D-D9F5-44AC-868E-452E8E950113}"/>
              </a:ext>
            </a:extLst>
          </p:cNvPr>
          <p:cNvSpPr>
            <a:spLocks noGrp="1"/>
          </p:cNvSpPr>
          <p:nvPr/>
        </p:nvSpPr>
        <p:spPr>
          <a:xfrm>
            <a:off x="723900" y="3600450"/>
            <a:ext cx="666750" cy="419100"/>
          </a:xfrm>
          <a:prstGeom prst="rect">
            <a:avLst/>
          </a:prstGeom>
          <a:noFill/>
          <a:ln w="0">
            <a:noFill/>
          </a:ln>
        </p:spPr>
        <p:txBody>
          <a:bodyPr>
            <a:noAutofit/>
          </a:bodyPr>
          <a:lstStyle/>
          <a:p>
            <a:pPr>
              <a:defRPr sz="2100" b="1">
                <a:solidFill>
                  <a:srgbClr val="087F78"/>
                </a:solidFill>
                <a:latin typeface="Arial"/>
                <a:ea typeface="Arial"/>
                <a:cs typeface="Arial"/>
              </a:defRPr>
            </a:pPr>
            <a:r>
              <a:rPr sz="2100" b="1">
                <a:solidFill>
                  <a:srgbClr val="087F78"/>
                </a:solidFill>
                <a:latin typeface="Arial"/>
                <a:ea typeface="Arial"/>
                <a:cs typeface="Arial"/>
              </a:rPr>
              <a:t>02</a:t>
            </a:r>
          </a:p>
        </p:txBody>
      </p:sp>
      <p:sp>
        <p:nvSpPr>
          <p:cNvPr id="11" name="矩形 10">
            <a:extLst>
              <a:ext uri="{FF2B5EF4-FFF2-40B4-BE49-F238E27FC236}">
                <a16:creationId xmlns:a16="http://schemas.microsoft.com/office/drawing/2014/main" id="{13F587FA-BE16-4061-9806-A990EB566A26}"/>
              </a:ext>
            </a:extLst>
          </p:cNvPr>
          <p:cNvSpPr>
            <a:spLocks noGrp="1"/>
          </p:cNvSpPr>
          <p:nvPr/>
        </p:nvSpPr>
        <p:spPr>
          <a:xfrm>
            <a:off x="1657350" y="3600450"/>
            <a:ext cx="1905000" cy="419100"/>
          </a:xfrm>
          <a:prstGeom prst="rect">
            <a:avLst/>
          </a:prstGeom>
          <a:noFill/>
          <a:ln w="0">
            <a:noFill/>
          </a:ln>
        </p:spPr>
        <p:txBody>
          <a:bodyPr>
            <a:noAutofit/>
          </a:bodyPr>
          <a:lstStyle/>
          <a:p>
            <a:pPr>
              <a:defRPr sz="2025" b="1">
                <a:solidFill>
                  <a:srgbClr val="172A2A"/>
                </a:solidFill>
                <a:latin typeface="Arial"/>
                <a:ea typeface="Arial"/>
                <a:cs typeface="Arial"/>
              </a:defRPr>
            </a:pPr>
            <a:r>
              <a:rPr sz="2025" b="1">
                <a:solidFill>
                  <a:srgbClr val="172A2A"/>
                </a:solidFill>
                <a:latin typeface="Arial"/>
                <a:ea typeface="Arial"/>
                <a:cs typeface="Arial"/>
              </a:rPr>
              <a:t>Identify</a:t>
            </a:r>
          </a:p>
        </p:txBody>
      </p:sp>
      <p:sp>
        <p:nvSpPr>
          <p:cNvPr id="12" name="矩形 11">
            <a:extLst>
              <a:ext uri="{FF2B5EF4-FFF2-40B4-BE49-F238E27FC236}">
                <a16:creationId xmlns:a16="http://schemas.microsoft.com/office/drawing/2014/main" id="{2EB3D25E-B9FF-402E-92F8-4298AEB0DD37}"/>
              </a:ext>
            </a:extLst>
          </p:cNvPr>
          <p:cNvSpPr>
            <a:spLocks noGrp="1"/>
          </p:cNvSpPr>
          <p:nvPr/>
        </p:nvSpPr>
        <p:spPr>
          <a:xfrm>
            <a:off x="4048125" y="3600450"/>
            <a:ext cx="7334250" cy="457200"/>
          </a:xfrm>
          <a:prstGeom prst="rect">
            <a:avLst/>
          </a:prstGeom>
          <a:noFill/>
          <a:ln w="0">
            <a:noFill/>
          </a:ln>
        </p:spPr>
        <p:txBody>
          <a:bodyPr>
            <a:noAutofit/>
          </a:bodyPr>
          <a:lstStyle/>
          <a:p>
            <a:pPr>
              <a:defRPr sz="2175" b="0">
                <a:solidFill>
                  <a:srgbClr val="087F78"/>
                </a:solidFill>
                <a:latin typeface="Arial"/>
                <a:ea typeface="Arial"/>
                <a:cs typeface="Arial"/>
              </a:defRPr>
            </a:pPr>
            <a:r>
              <a:rPr sz="2175" b="0">
                <a:solidFill>
                  <a:srgbClr val="087F78"/>
                </a:solidFill>
                <a:latin typeface="Arial"/>
                <a:ea typeface="Arial"/>
                <a:cs typeface="Arial"/>
              </a:rPr>
              <a:t>NICK + USER →</a:t>
            </a:r>
          </a:p>
        </p:txBody>
      </p:sp>
      <p:sp>
        <p:nvSpPr>
          <p:cNvPr id="13" name="矩形 12">
            <a:extLst>
              <a:ext uri="{FF2B5EF4-FFF2-40B4-BE49-F238E27FC236}">
                <a16:creationId xmlns:a16="http://schemas.microsoft.com/office/drawing/2014/main" id="{A0707F69-DD28-4FEB-9355-E98C15026E70}"/>
              </a:ext>
            </a:extLst>
          </p:cNvPr>
          <p:cNvSpPr>
            <a:spLocks noGrp="1"/>
          </p:cNvSpPr>
          <p:nvPr/>
        </p:nvSpPr>
        <p:spPr>
          <a:xfrm>
            <a:off x="723900" y="4391025"/>
            <a:ext cx="666750" cy="419100"/>
          </a:xfrm>
          <a:prstGeom prst="rect">
            <a:avLst/>
          </a:prstGeom>
          <a:noFill/>
          <a:ln w="0">
            <a:noFill/>
          </a:ln>
        </p:spPr>
        <p:txBody>
          <a:bodyPr>
            <a:noAutofit/>
          </a:bodyPr>
          <a:lstStyle/>
          <a:p>
            <a:pPr>
              <a:defRPr sz="2100" b="1">
                <a:solidFill>
                  <a:srgbClr val="087F78"/>
                </a:solidFill>
                <a:latin typeface="Arial"/>
                <a:ea typeface="Arial"/>
                <a:cs typeface="Arial"/>
              </a:defRPr>
            </a:pPr>
            <a:r>
              <a:rPr sz="2100" b="1">
                <a:solidFill>
                  <a:srgbClr val="087F78"/>
                </a:solidFill>
                <a:latin typeface="Arial"/>
                <a:ea typeface="Arial"/>
                <a:cs typeface="Arial"/>
              </a:rPr>
              <a:t>03</a:t>
            </a:r>
          </a:p>
        </p:txBody>
      </p:sp>
      <p:sp>
        <p:nvSpPr>
          <p:cNvPr id="14" name="矩形 13">
            <a:extLst>
              <a:ext uri="{FF2B5EF4-FFF2-40B4-BE49-F238E27FC236}">
                <a16:creationId xmlns:a16="http://schemas.microsoft.com/office/drawing/2014/main" id="{A3042EBE-1F86-4608-90E9-44C9F27BCFB7}"/>
              </a:ext>
            </a:extLst>
          </p:cNvPr>
          <p:cNvSpPr>
            <a:spLocks noGrp="1"/>
          </p:cNvSpPr>
          <p:nvPr/>
        </p:nvSpPr>
        <p:spPr>
          <a:xfrm>
            <a:off x="1657350" y="4391025"/>
            <a:ext cx="1905000" cy="419100"/>
          </a:xfrm>
          <a:prstGeom prst="rect">
            <a:avLst/>
          </a:prstGeom>
          <a:noFill/>
          <a:ln w="0">
            <a:noFill/>
          </a:ln>
        </p:spPr>
        <p:txBody>
          <a:bodyPr>
            <a:noAutofit/>
          </a:bodyPr>
          <a:lstStyle/>
          <a:p>
            <a:pPr>
              <a:defRPr sz="2025" b="1">
                <a:solidFill>
                  <a:srgbClr val="172A2A"/>
                </a:solidFill>
                <a:latin typeface="Arial"/>
                <a:ea typeface="Arial"/>
                <a:cs typeface="Arial"/>
              </a:defRPr>
            </a:pPr>
            <a:r>
              <a:rPr sz="2025" b="1">
                <a:solidFill>
                  <a:srgbClr val="172A2A"/>
                </a:solidFill>
                <a:latin typeface="Arial"/>
                <a:ea typeface="Arial"/>
                <a:cs typeface="Arial"/>
              </a:rPr>
              <a:t>Join</a:t>
            </a:r>
          </a:p>
        </p:txBody>
      </p:sp>
      <p:sp>
        <p:nvSpPr>
          <p:cNvPr id="15" name="矩形 14">
            <a:extLst>
              <a:ext uri="{FF2B5EF4-FFF2-40B4-BE49-F238E27FC236}">
                <a16:creationId xmlns:a16="http://schemas.microsoft.com/office/drawing/2014/main" id="{72CE2AB3-C587-4481-B453-FA2D54A2558F}"/>
              </a:ext>
            </a:extLst>
          </p:cNvPr>
          <p:cNvSpPr>
            <a:spLocks noGrp="1"/>
          </p:cNvSpPr>
          <p:nvPr/>
        </p:nvSpPr>
        <p:spPr>
          <a:xfrm>
            <a:off x="4048125" y="4391025"/>
            <a:ext cx="7334250" cy="457200"/>
          </a:xfrm>
          <a:prstGeom prst="rect">
            <a:avLst/>
          </a:prstGeom>
          <a:noFill/>
          <a:ln w="0">
            <a:noFill/>
          </a:ln>
        </p:spPr>
        <p:txBody>
          <a:bodyPr>
            <a:noAutofit/>
          </a:bodyPr>
          <a:lstStyle/>
          <a:p>
            <a:pPr>
              <a:defRPr sz="2175" b="0">
                <a:solidFill>
                  <a:srgbClr val="087F78"/>
                </a:solidFill>
                <a:latin typeface="Arial"/>
                <a:ea typeface="Arial"/>
                <a:cs typeface="Arial"/>
              </a:defRPr>
            </a:pPr>
            <a:r>
              <a:rPr sz="2175" b="0">
                <a:solidFill>
                  <a:srgbClr val="087F78"/>
                </a:solidFill>
                <a:latin typeface="Arial"/>
                <a:ea typeface="Arial"/>
                <a:cs typeface="Arial"/>
              </a:rPr>
              <a:t>← 001, then JOIN →</a:t>
            </a:r>
          </a:p>
        </p:txBody>
      </p:sp>
      <p:sp>
        <p:nvSpPr>
          <p:cNvPr id="16" name="矩形 15">
            <a:extLst>
              <a:ext uri="{FF2B5EF4-FFF2-40B4-BE49-F238E27FC236}">
                <a16:creationId xmlns:a16="http://schemas.microsoft.com/office/drawing/2014/main" id="{3E27EA8A-8D02-4C56-9FCF-98A0979CA8D6}"/>
              </a:ext>
            </a:extLst>
          </p:cNvPr>
          <p:cNvSpPr>
            <a:spLocks noGrp="1"/>
          </p:cNvSpPr>
          <p:nvPr/>
        </p:nvSpPr>
        <p:spPr>
          <a:xfrm>
            <a:off x="723900" y="5200650"/>
            <a:ext cx="10668000" cy="19050"/>
          </a:xfrm>
          <a:prstGeom prst="rect">
            <a:avLst/>
          </a:prstGeom>
          <a:solidFill>
            <a:srgbClr val="D6E4E1"/>
          </a:solidFill>
          <a:ln w="0">
            <a:noFill/>
          </a:ln>
        </p:spPr>
        <p:txBody>
          <a:bodyPr/>
          <a:lstStyle/>
          <a:p>
            <a:endParaRPr lang="zh-CN" altLang="en-US"/>
          </a:p>
        </p:txBody>
      </p:sp>
      <p:sp>
        <p:nvSpPr>
          <p:cNvPr id="17" name="矩形 16">
            <a:extLst>
              <a:ext uri="{FF2B5EF4-FFF2-40B4-BE49-F238E27FC236}">
                <a16:creationId xmlns:a16="http://schemas.microsoft.com/office/drawing/2014/main" id="{20844157-7C43-44E8-A908-BEA26B7535F7}"/>
              </a:ext>
            </a:extLst>
          </p:cNvPr>
          <p:cNvSpPr>
            <a:spLocks noGrp="1"/>
          </p:cNvSpPr>
          <p:nvPr/>
        </p:nvSpPr>
        <p:spPr>
          <a:xfrm>
            <a:off x="723900" y="5495925"/>
            <a:ext cx="4762500" cy="400050"/>
          </a:xfrm>
          <a:prstGeom prst="rect">
            <a:avLst/>
          </a:prstGeom>
          <a:noFill/>
          <a:ln w="0">
            <a:noFill/>
          </a:ln>
        </p:spPr>
        <p:txBody>
          <a:bodyPr>
            <a:noAutofit/>
          </a:bodyPr>
          <a:lstStyle/>
          <a:p>
            <a:pPr>
              <a:defRPr sz="2025" b="1">
                <a:solidFill>
                  <a:srgbClr val="087F78"/>
                </a:solidFill>
                <a:latin typeface="Arial"/>
                <a:ea typeface="Arial"/>
                <a:cs typeface="Arial"/>
              </a:defRPr>
            </a:pPr>
            <a:r>
              <a:rPr sz="2025" b="1">
                <a:solidFill>
                  <a:srgbClr val="087F78"/>
                </a:solidFill>
                <a:latin typeface="Arial"/>
                <a:ea typeface="Arial"/>
                <a:cs typeface="Arial"/>
              </a:rPr>
              <a:t>Commands: !hello / !slap / !time</a:t>
            </a:r>
          </a:p>
        </p:txBody>
      </p:sp>
      <p:sp>
        <p:nvSpPr>
          <p:cNvPr id="18" name="矩形 17">
            <a:extLst>
              <a:ext uri="{FF2B5EF4-FFF2-40B4-BE49-F238E27FC236}">
                <a16:creationId xmlns:a16="http://schemas.microsoft.com/office/drawing/2014/main" id="{CA007C24-27AE-4270-8348-012D24F329F5}"/>
              </a:ext>
            </a:extLst>
          </p:cNvPr>
          <p:cNvSpPr>
            <a:spLocks noGrp="1"/>
          </p:cNvSpPr>
          <p:nvPr/>
        </p:nvSpPr>
        <p:spPr>
          <a:xfrm>
            <a:off x="6191250" y="5495925"/>
            <a:ext cx="5286375" cy="619125"/>
          </a:xfrm>
          <a:prstGeom prst="rect">
            <a:avLst/>
          </a:prstGeom>
          <a:noFill/>
          <a:ln w="0">
            <a:noFill/>
          </a:ln>
        </p:spPr>
        <p:txBody>
          <a:bodyPr>
            <a:noAutofit/>
          </a:bodyPr>
          <a:lstStyle/>
          <a:p>
            <a:pPr>
              <a:defRPr sz="1875" b="0">
                <a:solidFill>
                  <a:srgbClr val="596C6B"/>
                </a:solidFill>
                <a:latin typeface="Arial"/>
                <a:ea typeface="Arial"/>
                <a:cs typeface="Arial"/>
              </a:defRPr>
            </a:pPr>
            <a:r>
              <a:rPr sz="1875" b="0">
                <a:solidFill>
                  <a:srgbClr val="596C6B"/>
                </a:solidFill>
                <a:latin typeface="Arial"/>
                <a:ea typeface="Arial"/>
                <a:cs typeface="Arial"/>
              </a:rPr>
              <a:t>Recovery: reconnect and facts.txt replies</a:t>
            </a:r>
          </a:p>
        </p:txBody>
      </p:sp>
      <p:sp>
        <p:nvSpPr>
          <p:cNvPr id="19" name="矩形 18">
            <a:extLst>
              <a:ext uri="{FF2B5EF4-FFF2-40B4-BE49-F238E27FC236}">
                <a16:creationId xmlns:a16="http://schemas.microsoft.com/office/drawing/2014/main" id="{0BEB9EA5-62A4-4CCF-9297-E78C42D66CE6}"/>
              </a:ext>
            </a:extLst>
          </p:cNvPr>
          <p:cNvSpPr>
            <a:spLocks noGrp="1"/>
          </p:cNvSpPr>
          <p:nvPr/>
        </p:nvSpPr>
        <p:spPr>
          <a:xfrm>
            <a:off x="723900" y="6000750"/>
            <a:ext cx="10668000" cy="266700"/>
          </a:xfrm>
          <a:prstGeom prst="rect">
            <a:avLst/>
          </a:prstGeom>
          <a:noFill/>
          <a:ln w="0">
            <a:noFill/>
          </a:ln>
        </p:spPr>
        <p:txBody>
          <a:bodyPr>
            <a:noAutofit/>
          </a:bodyPr>
          <a:lstStyle/>
          <a:p>
            <a:pPr>
              <a:defRPr sz="1500" b="0">
                <a:solidFill>
                  <a:srgbClr val="596C6B"/>
                </a:solidFill>
                <a:latin typeface="Arial"/>
                <a:ea typeface="Arial"/>
                <a:cs typeface="Arial"/>
              </a:defRPr>
            </a:pPr>
            <a:r>
              <a:rPr sz="1500" b="0">
                <a:solidFill>
                  <a:srgbClr val="596C6B"/>
                </a:solidFill>
                <a:latin typeface="Arial"/>
                <a:ea typeface="Arial"/>
                <a:cs typeface="Arial"/>
              </a:rPr>
              <a:t>Connection, commands, membership, and recovery implemented.</a:t>
            </a:r>
          </a:p>
        </p:txBody>
      </p:sp>
    </p:spTree>
    <p:extLst>
      <p:ext uri="{BB962C8B-B14F-4D97-AF65-F5344CB8AC3E}">
        <p14:creationId xmlns:p14="http://schemas.microsoft.com/office/powerpoint/2010/main" val="1791716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849129C3-41A2-498F-BCCA-A3979896F71E}"/>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IRC server core behavior</a:t>
            </a:r>
          </a:p>
        </p:txBody>
      </p:sp>
      <p:sp>
        <p:nvSpPr>
          <p:cNvPr id="3" name="矩形 2">
            <a:extLst>
              <a:ext uri="{FF2B5EF4-FFF2-40B4-BE49-F238E27FC236}">
                <a16:creationId xmlns:a16="http://schemas.microsoft.com/office/drawing/2014/main" id="{AB1E555E-D88B-4B92-A0AA-B12627D84136}"/>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D9259411-A080-46EF-9E58-F06F5C8053AD}"/>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Socket Programming | Midterm review</a:t>
            </a:r>
          </a:p>
        </p:txBody>
      </p:sp>
      <p:sp>
        <p:nvSpPr>
          <p:cNvPr id="5" name="矩形 4">
            <a:extLst>
              <a:ext uri="{FF2B5EF4-FFF2-40B4-BE49-F238E27FC236}">
                <a16:creationId xmlns:a16="http://schemas.microsoft.com/office/drawing/2014/main" id="{D88A3E34-B5DD-4695-928A-385701BA0E88}"/>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05</a:t>
            </a:r>
          </a:p>
        </p:txBody>
      </p:sp>
      <p:sp>
        <p:nvSpPr>
          <p:cNvPr id="6" name="矩形 5">
            <a:extLst>
              <a:ext uri="{FF2B5EF4-FFF2-40B4-BE49-F238E27FC236}">
                <a16:creationId xmlns:a16="http://schemas.microsoft.com/office/drawing/2014/main" id="{11CDDE37-1259-4A05-A745-077A8F60B380}"/>
              </a:ext>
            </a:extLst>
          </p:cNvPr>
          <p:cNvSpPr>
            <a:spLocks noGrp="1"/>
          </p:cNvSpPr>
          <p:nvPr/>
        </p:nvSpPr>
        <p:spPr>
          <a:xfrm>
            <a:off x="723900" y="2238375"/>
            <a:ext cx="3238500" cy="4191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Client sessions</a:t>
            </a:r>
          </a:p>
        </p:txBody>
      </p:sp>
      <p:sp>
        <p:nvSpPr>
          <p:cNvPr id="7" name="矩形 6">
            <a:extLst>
              <a:ext uri="{FF2B5EF4-FFF2-40B4-BE49-F238E27FC236}">
                <a16:creationId xmlns:a16="http://schemas.microsoft.com/office/drawing/2014/main" id="{0D45AAFD-3074-4A29-BA68-8D6A64059DCB}"/>
              </a:ext>
            </a:extLst>
          </p:cNvPr>
          <p:cNvSpPr>
            <a:spLocks noGrp="1"/>
          </p:cNvSpPr>
          <p:nvPr/>
        </p:nvSpPr>
        <p:spPr>
          <a:xfrm>
            <a:off x="723900" y="2905125"/>
            <a:ext cx="3238500" cy="2190750"/>
          </a:xfrm>
          <a:prstGeom prst="rect">
            <a:avLst/>
          </a:prstGeom>
          <a:solidFill>
            <a:srgbClr val="EDF7F4"/>
          </a:solidFill>
          <a:ln w="0">
            <a:noFill/>
          </a:ln>
        </p:spPr>
        <p:txBody>
          <a:bodyPr/>
          <a:lstStyle/>
          <a:p>
            <a:endParaRPr lang="zh-CN" altLang="en-US"/>
          </a:p>
        </p:txBody>
      </p:sp>
      <p:sp>
        <p:nvSpPr>
          <p:cNvPr id="8" name="矩形 7">
            <a:extLst>
              <a:ext uri="{FF2B5EF4-FFF2-40B4-BE49-F238E27FC236}">
                <a16:creationId xmlns:a16="http://schemas.microsoft.com/office/drawing/2014/main" id="{BE0317D2-F74C-4876-8588-958266D402D3}"/>
              </a:ext>
            </a:extLst>
          </p:cNvPr>
          <p:cNvSpPr>
            <a:spLocks noGrp="1"/>
          </p:cNvSpPr>
          <p:nvPr/>
        </p:nvSpPr>
        <p:spPr>
          <a:xfrm>
            <a:off x="962025" y="3143250"/>
            <a:ext cx="2762250" cy="1571625"/>
          </a:xfrm>
          <a:prstGeom prst="rect">
            <a:avLst/>
          </a:prstGeom>
          <a:noFill/>
          <a:ln w="0">
            <a:noFill/>
          </a:ln>
        </p:spPr>
        <p:txBody>
          <a:bodyPr>
            <a:noAutofit/>
          </a:bodyPr>
          <a:lstStyle/>
          <a:p>
            <a:pPr>
              <a:defRPr sz="2175" b="0">
                <a:solidFill>
                  <a:srgbClr val="172A2A"/>
                </a:solidFill>
                <a:latin typeface="Arial"/>
                <a:ea typeface="Arial"/>
                <a:cs typeface="Arial"/>
              </a:defRPr>
            </a:pPr>
            <a:r>
              <a:rPr sz="2175" b="0">
                <a:solidFill>
                  <a:srgbClr val="172A2A"/>
                </a:solidFill>
                <a:latin typeface="Arial"/>
                <a:ea typeface="Arial"/>
                <a:cs typeface="Arial"/>
              </a:rPr>
              <a:t>Registration handled</a:t>
            </a:r>
          </a:p>
          <a:p>
            <a:pPr>
              <a:defRPr sz="2175" b="0">
                <a:solidFill>
                  <a:srgbClr val="172A2A"/>
                </a:solidFill>
                <a:latin typeface="Arial"/>
                <a:ea typeface="Arial"/>
                <a:cs typeface="Arial"/>
              </a:defRPr>
            </a:pPr>
            <a:r>
              <a:rPr sz="2175" b="0">
                <a:solidFill>
                  <a:srgbClr val="172A2A"/>
                </a:solidFill>
                <a:latin typeface="Arial"/>
                <a:ea typeface="Arial"/>
                <a:cs typeface="Arial"/>
              </a:rPr>
              <a:t>One session per client</a:t>
            </a:r>
          </a:p>
        </p:txBody>
      </p:sp>
      <p:sp>
        <p:nvSpPr>
          <p:cNvPr id="9" name="矩形 8">
            <a:extLst>
              <a:ext uri="{FF2B5EF4-FFF2-40B4-BE49-F238E27FC236}">
                <a16:creationId xmlns:a16="http://schemas.microsoft.com/office/drawing/2014/main" id="{77984566-5D1E-459B-8214-6650F2749CDB}"/>
              </a:ext>
            </a:extLst>
          </p:cNvPr>
          <p:cNvSpPr>
            <a:spLocks noGrp="1"/>
          </p:cNvSpPr>
          <p:nvPr/>
        </p:nvSpPr>
        <p:spPr>
          <a:xfrm>
            <a:off x="4429125" y="2238375"/>
            <a:ext cx="3238500" cy="4191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Shared state</a:t>
            </a:r>
          </a:p>
        </p:txBody>
      </p:sp>
      <p:sp>
        <p:nvSpPr>
          <p:cNvPr id="10" name="矩形 9">
            <a:extLst>
              <a:ext uri="{FF2B5EF4-FFF2-40B4-BE49-F238E27FC236}">
                <a16:creationId xmlns:a16="http://schemas.microsoft.com/office/drawing/2014/main" id="{AA0D4981-1237-4247-A3DA-77ABF12E14B4}"/>
              </a:ext>
            </a:extLst>
          </p:cNvPr>
          <p:cNvSpPr>
            <a:spLocks noGrp="1"/>
          </p:cNvSpPr>
          <p:nvPr/>
        </p:nvSpPr>
        <p:spPr>
          <a:xfrm>
            <a:off x="4429125" y="2905125"/>
            <a:ext cx="3238500" cy="2190750"/>
          </a:xfrm>
          <a:prstGeom prst="rect">
            <a:avLst/>
          </a:prstGeom>
          <a:solidFill>
            <a:srgbClr val="EDF7F4"/>
          </a:solidFill>
          <a:ln w="0">
            <a:noFill/>
          </a:ln>
        </p:spPr>
        <p:txBody>
          <a:bodyPr/>
          <a:lstStyle/>
          <a:p>
            <a:endParaRPr lang="zh-CN" altLang="en-US"/>
          </a:p>
        </p:txBody>
      </p:sp>
      <p:sp>
        <p:nvSpPr>
          <p:cNvPr id="11" name="矩形 10">
            <a:extLst>
              <a:ext uri="{FF2B5EF4-FFF2-40B4-BE49-F238E27FC236}">
                <a16:creationId xmlns:a16="http://schemas.microsoft.com/office/drawing/2014/main" id="{BD41402C-6040-4A6C-8735-655965EC1465}"/>
              </a:ext>
            </a:extLst>
          </p:cNvPr>
          <p:cNvSpPr>
            <a:spLocks noGrp="1"/>
          </p:cNvSpPr>
          <p:nvPr/>
        </p:nvSpPr>
        <p:spPr>
          <a:xfrm>
            <a:off x="4667250" y="3143250"/>
            <a:ext cx="2762250" cy="1571625"/>
          </a:xfrm>
          <a:prstGeom prst="rect">
            <a:avLst/>
          </a:prstGeom>
          <a:noFill/>
          <a:ln w="0">
            <a:noFill/>
          </a:ln>
        </p:spPr>
        <p:txBody>
          <a:bodyPr>
            <a:noAutofit/>
          </a:bodyPr>
          <a:lstStyle/>
          <a:p>
            <a:pPr>
              <a:defRPr sz="2175" b="0">
                <a:solidFill>
                  <a:srgbClr val="172A2A"/>
                </a:solidFill>
                <a:latin typeface="Arial"/>
                <a:ea typeface="Arial"/>
                <a:cs typeface="Arial"/>
              </a:defRPr>
            </a:pPr>
            <a:r>
              <a:rPr sz="2175" b="0">
                <a:solidFill>
                  <a:srgbClr val="172A2A"/>
                </a:solidFill>
                <a:latin typeface="Arial"/>
                <a:ea typeface="Arial"/>
                <a:cs typeface="Arial"/>
              </a:rPr>
              <a:t>Locked user and channel indexes</a:t>
            </a:r>
          </a:p>
          <a:p>
            <a:pPr>
              <a:defRPr sz="2175" b="0">
                <a:solidFill>
                  <a:srgbClr val="172A2A"/>
                </a:solidFill>
                <a:latin typeface="Arial"/>
                <a:ea typeface="Arial"/>
                <a:cs typeface="Arial"/>
              </a:defRPr>
            </a:pPr>
            <a:r>
              <a:rPr sz="2175" b="0">
                <a:solidFill>
                  <a:srgbClr val="172A2A"/>
                </a:solidFill>
                <a:latin typeface="Arial"/>
                <a:ea typeface="Arial"/>
                <a:cs typeface="Arial"/>
              </a:rPr>
              <a:t>Safe concurrent access</a:t>
            </a:r>
          </a:p>
        </p:txBody>
      </p:sp>
      <p:sp>
        <p:nvSpPr>
          <p:cNvPr id="12" name="矩形 11">
            <a:extLst>
              <a:ext uri="{FF2B5EF4-FFF2-40B4-BE49-F238E27FC236}">
                <a16:creationId xmlns:a16="http://schemas.microsoft.com/office/drawing/2014/main" id="{DCBF39EE-059B-458F-8468-840C157CF014}"/>
              </a:ext>
            </a:extLst>
          </p:cNvPr>
          <p:cNvSpPr>
            <a:spLocks noGrp="1"/>
          </p:cNvSpPr>
          <p:nvPr/>
        </p:nvSpPr>
        <p:spPr>
          <a:xfrm>
            <a:off x="8134350" y="2238375"/>
            <a:ext cx="3238500" cy="41910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Message routing</a:t>
            </a:r>
          </a:p>
        </p:txBody>
      </p:sp>
      <p:sp>
        <p:nvSpPr>
          <p:cNvPr id="13" name="矩形 12">
            <a:extLst>
              <a:ext uri="{FF2B5EF4-FFF2-40B4-BE49-F238E27FC236}">
                <a16:creationId xmlns:a16="http://schemas.microsoft.com/office/drawing/2014/main" id="{CE17049E-D0EE-4B9E-A828-2D6BC9FC588F}"/>
              </a:ext>
            </a:extLst>
          </p:cNvPr>
          <p:cNvSpPr>
            <a:spLocks noGrp="1"/>
          </p:cNvSpPr>
          <p:nvPr/>
        </p:nvSpPr>
        <p:spPr>
          <a:xfrm>
            <a:off x="8134350" y="2905125"/>
            <a:ext cx="3238500" cy="2190750"/>
          </a:xfrm>
          <a:prstGeom prst="rect">
            <a:avLst/>
          </a:prstGeom>
          <a:solidFill>
            <a:srgbClr val="EDF7F4"/>
          </a:solidFill>
          <a:ln w="0">
            <a:noFill/>
          </a:ln>
        </p:spPr>
        <p:txBody>
          <a:bodyPr/>
          <a:lstStyle/>
          <a:p>
            <a:endParaRPr lang="zh-CN" altLang="en-US"/>
          </a:p>
        </p:txBody>
      </p:sp>
      <p:sp>
        <p:nvSpPr>
          <p:cNvPr id="14" name="矩形 13">
            <a:extLst>
              <a:ext uri="{FF2B5EF4-FFF2-40B4-BE49-F238E27FC236}">
                <a16:creationId xmlns:a16="http://schemas.microsoft.com/office/drawing/2014/main" id="{666E3C22-2705-4439-A8AC-B90D63BF29BB}"/>
              </a:ext>
            </a:extLst>
          </p:cNvPr>
          <p:cNvSpPr>
            <a:spLocks noGrp="1"/>
          </p:cNvSpPr>
          <p:nvPr/>
        </p:nvSpPr>
        <p:spPr>
          <a:xfrm>
            <a:off x="8372475" y="3143250"/>
            <a:ext cx="2762250" cy="1571625"/>
          </a:xfrm>
          <a:prstGeom prst="rect">
            <a:avLst/>
          </a:prstGeom>
          <a:noFill/>
          <a:ln w="0">
            <a:noFill/>
          </a:ln>
        </p:spPr>
        <p:txBody>
          <a:bodyPr>
            <a:noAutofit/>
          </a:bodyPr>
          <a:lstStyle/>
          <a:p>
            <a:pPr>
              <a:defRPr sz="2175" b="0">
                <a:solidFill>
                  <a:srgbClr val="172A2A"/>
                </a:solidFill>
                <a:latin typeface="Arial"/>
                <a:ea typeface="Arial"/>
                <a:cs typeface="Arial"/>
              </a:defRPr>
            </a:pPr>
            <a:r>
              <a:rPr sz="2175" b="0">
                <a:solidFill>
                  <a:srgbClr val="172A2A"/>
                </a:solidFill>
                <a:latin typeface="Arial"/>
                <a:ea typeface="Arial"/>
                <a:cs typeface="Arial"/>
              </a:rPr>
              <a:t>Channel PRIVMSG</a:t>
            </a:r>
          </a:p>
          <a:p>
            <a:pPr>
              <a:defRPr sz="2175" b="0">
                <a:solidFill>
                  <a:srgbClr val="172A2A"/>
                </a:solidFill>
                <a:latin typeface="Arial"/>
                <a:ea typeface="Arial"/>
                <a:cs typeface="Arial"/>
              </a:defRPr>
            </a:pPr>
            <a:r>
              <a:rPr sz="2175" b="0">
                <a:solidFill>
                  <a:srgbClr val="172A2A"/>
                </a:solidFill>
                <a:latin typeface="Arial"/>
                <a:ea typeface="Arial"/>
                <a:cs typeface="Arial"/>
              </a:rPr>
              <a:t>Private PRIVMSG</a:t>
            </a:r>
          </a:p>
          <a:p>
            <a:pPr>
              <a:defRPr sz="2175" b="0">
                <a:solidFill>
                  <a:srgbClr val="172A2A"/>
                </a:solidFill>
                <a:latin typeface="Arial"/>
                <a:ea typeface="Arial"/>
                <a:cs typeface="Arial"/>
              </a:defRPr>
            </a:pPr>
            <a:r>
              <a:rPr sz="2175" b="0">
                <a:solidFill>
                  <a:srgbClr val="172A2A"/>
                </a:solidFill>
                <a:latin typeface="Arial"/>
                <a:ea typeface="Arial"/>
                <a:cs typeface="Arial"/>
              </a:rPr>
              <a:t>JOIN / PART / NAMES / QUIT</a:t>
            </a:r>
          </a:p>
        </p:txBody>
      </p:sp>
      <p:sp>
        <p:nvSpPr>
          <p:cNvPr id="15" name="矩形 14">
            <a:extLst>
              <a:ext uri="{FF2B5EF4-FFF2-40B4-BE49-F238E27FC236}">
                <a16:creationId xmlns:a16="http://schemas.microsoft.com/office/drawing/2014/main" id="{7D238159-F54B-48EC-905B-21FD20274E48}"/>
              </a:ext>
            </a:extLst>
          </p:cNvPr>
          <p:cNvSpPr>
            <a:spLocks noGrp="1"/>
          </p:cNvSpPr>
          <p:nvPr/>
        </p:nvSpPr>
        <p:spPr>
          <a:xfrm>
            <a:off x="723900" y="5410200"/>
            <a:ext cx="1381125" cy="381000"/>
          </a:xfrm>
          <a:prstGeom prst="rect">
            <a:avLst/>
          </a:prstGeom>
          <a:noFill/>
          <a:ln w="0">
            <a:noFill/>
          </a:ln>
        </p:spPr>
        <p:txBody>
          <a:bodyPr>
            <a:noAutofit/>
          </a:bodyPr>
          <a:lstStyle/>
          <a:p>
            <a:pPr>
              <a:defRPr sz="1650" b="1">
                <a:solidFill>
                  <a:srgbClr val="596C6B"/>
                </a:solidFill>
                <a:latin typeface="Arial"/>
                <a:ea typeface="Arial"/>
                <a:cs typeface="Arial"/>
              </a:defRPr>
            </a:pPr>
            <a:r>
              <a:rPr sz="1650" b="1">
                <a:solidFill>
                  <a:srgbClr val="596C6B"/>
                </a:solidFill>
                <a:latin typeface="Arial"/>
                <a:ea typeface="Arial"/>
                <a:cs typeface="Arial"/>
              </a:rPr>
              <a:t>Multiple clients</a:t>
            </a:r>
          </a:p>
        </p:txBody>
      </p:sp>
      <p:sp>
        <p:nvSpPr>
          <p:cNvPr id="16" name="矩形 15">
            <a:extLst>
              <a:ext uri="{FF2B5EF4-FFF2-40B4-BE49-F238E27FC236}">
                <a16:creationId xmlns:a16="http://schemas.microsoft.com/office/drawing/2014/main" id="{5545F080-C230-4352-B883-1154E6873571}"/>
              </a:ext>
            </a:extLst>
          </p:cNvPr>
          <p:cNvSpPr>
            <a:spLocks noGrp="1"/>
          </p:cNvSpPr>
          <p:nvPr/>
        </p:nvSpPr>
        <p:spPr>
          <a:xfrm>
            <a:off x="2305050" y="5410200"/>
            <a:ext cx="9048750" cy="400050"/>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Several clients share consistent state.</a:t>
            </a:r>
          </a:p>
        </p:txBody>
      </p:sp>
      <p:sp>
        <p:nvSpPr>
          <p:cNvPr id="17" name="矩形 16">
            <a:extLst>
              <a:ext uri="{FF2B5EF4-FFF2-40B4-BE49-F238E27FC236}">
                <a16:creationId xmlns:a16="http://schemas.microsoft.com/office/drawing/2014/main" id="{FF74004E-892B-4EAE-9923-5932E4E4853B}"/>
              </a:ext>
            </a:extLst>
          </p:cNvPr>
          <p:cNvSpPr>
            <a:spLocks noGrp="1"/>
          </p:cNvSpPr>
          <p:nvPr/>
        </p:nvSpPr>
        <p:spPr>
          <a:xfrm>
            <a:off x="723900" y="5876925"/>
            <a:ext cx="1381125" cy="304800"/>
          </a:xfrm>
          <a:prstGeom prst="rect">
            <a:avLst/>
          </a:prstGeom>
          <a:noFill/>
          <a:ln w="0">
            <a:noFill/>
          </a:ln>
        </p:spPr>
        <p:txBody>
          <a:bodyPr>
            <a:noAutofit/>
          </a:bodyPr>
          <a:lstStyle/>
          <a:p>
            <a:pPr>
              <a:defRPr sz="1650" b="1">
                <a:solidFill>
                  <a:srgbClr val="087F78"/>
                </a:solidFill>
                <a:latin typeface="Arial"/>
                <a:ea typeface="Arial"/>
                <a:cs typeface="Arial"/>
              </a:defRPr>
            </a:pPr>
            <a:r>
              <a:rPr sz="1650" b="1">
                <a:solidFill>
                  <a:srgbClr val="087F78"/>
                </a:solidFill>
                <a:latin typeface="Arial"/>
                <a:ea typeface="Arial"/>
                <a:cs typeface="Arial"/>
              </a:rPr>
              <a:t>Message behavior</a:t>
            </a:r>
          </a:p>
        </p:txBody>
      </p:sp>
      <p:sp>
        <p:nvSpPr>
          <p:cNvPr id="18" name="矩形 17">
            <a:extLst>
              <a:ext uri="{FF2B5EF4-FFF2-40B4-BE49-F238E27FC236}">
                <a16:creationId xmlns:a16="http://schemas.microsoft.com/office/drawing/2014/main" id="{913F0547-7A43-4737-91F9-B976AC22498D}"/>
              </a:ext>
            </a:extLst>
          </p:cNvPr>
          <p:cNvSpPr>
            <a:spLocks noGrp="1"/>
          </p:cNvSpPr>
          <p:nvPr/>
        </p:nvSpPr>
        <p:spPr>
          <a:xfrm>
            <a:off x="2305050" y="5876925"/>
            <a:ext cx="9048750" cy="304800"/>
          </a:xfrm>
          <a:prstGeom prst="rect">
            <a:avLst/>
          </a:prstGeom>
          <a:noFill/>
          <a:ln w="0">
            <a:noFill/>
          </a:ln>
        </p:spPr>
        <p:txBody>
          <a:bodyPr>
            <a:noAutofit/>
          </a:bodyPr>
          <a:lstStyle/>
          <a:p>
            <a:pPr>
              <a:defRPr sz="1875" b="1">
                <a:solidFill>
                  <a:srgbClr val="087F78"/>
                </a:solidFill>
                <a:latin typeface="Arial"/>
                <a:ea typeface="Arial"/>
                <a:cs typeface="Arial"/>
              </a:defRPr>
            </a:pPr>
            <a:r>
              <a:rPr sz="1875" b="1">
                <a:solidFill>
                  <a:srgbClr val="087F78"/>
                </a:solidFill>
                <a:latin typeface="Arial"/>
                <a:ea typeface="Arial"/>
                <a:cs typeface="Arial"/>
              </a:rPr>
              <a:t>Channel and private messages reach the correct recipients.</a:t>
            </a:r>
          </a:p>
        </p:txBody>
      </p:sp>
    </p:spTree>
    <p:extLst>
      <p:ext uri="{BB962C8B-B14F-4D97-AF65-F5344CB8AC3E}">
        <p14:creationId xmlns:p14="http://schemas.microsoft.com/office/powerpoint/2010/main" val="1113370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717351F-AC46-456A-9678-13743660817C}"/>
              </a:ext>
            </a:extLst>
          </p:cNvPr>
          <p:cNvSpPr>
            <a:spLocks noGrp="1"/>
          </p:cNvSpPr>
          <p:nvPr/>
        </p:nvSpPr>
        <p:spPr>
          <a:xfrm>
            <a:off x="723900" y="571500"/>
            <a:ext cx="10782300" cy="619125"/>
          </a:xfrm>
          <a:prstGeom prst="rect">
            <a:avLst/>
          </a:prstGeom>
          <a:noFill/>
          <a:ln w="0">
            <a:noFill/>
          </a:ln>
        </p:spPr>
        <p:txBody>
          <a:bodyPr>
            <a:noAutofit/>
          </a:bodyPr>
          <a:lstStyle/>
          <a:p>
            <a:pPr>
              <a:defRPr sz="3300" b="1">
                <a:solidFill>
                  <a:srgbClr val="172A2A"/>
                </a:solidFill>
                <a:latin typeface="Arial"/>
                <a:ea typeface="Arial"/>
                <a:cs typeface="Arial"/>
              </a:defRPr>
            </a:pPr>
            <a:r>
              <a:rPr sz="3300" b="1">
                <a:solidFill>
                  <a:srgbClr val="172A2A"/>
                </a:solidFill>
                <a:latin typeface="Arial"/>
                <a:ea typeface="Arial"/>
                <a:cs typeface="Arial"/>
              </a:rPr>
              <a:t>Errors and reliability</a:t>
            </a:r>
          </a:p>
        </p:txBody>
      </p:sp>
      <p:sp>
        <p:nvSpPr>
          <p:cNvPr id="3" name="矩形 2">
            <a:extLst>
              <a:ext uri="{FF2B5EF4-FFF2-40B4-BE49-F238E27FC236}">
                <a16:creationId xmlns:a16="http://schemas.microsoft.com/office/drawing/2014/main" id="{0EA057B4-8F96-4D74-AB6F-5CBBEC66DF53}"/>
              </a:ext>
            </a:extLst>
          </p:cNvPr>
          <p:cNvSpPr>
            <a:spLocks noGrp="1"/>
          </p:cNvSpPr>
          <p:nvPr/>
        </p:nvSpPr>
        <p:spPr>
          <a:xfrm>
            <a:off x="723900" y="6334125"/>
            <a:ext cx="10668000" cy="19050"/>
          </a:xfrm>
          <a:prstGeom prst="rect">
            <a:avLst/>
          </a:prstGeom>
          <a:solidFill>
            <a:srgbClr val="D6E4E1"/>
          </a:solidFill>
          <a:ln w="0">
            <a:noFill/>
          </a:ln>
        </p:spPr>
        <p:txBody>
          <a:bodyPr/>
          <a:lstStyle/>
          <a:p>
            <a:endParaRPr lang="zh-CN" altLang="en-US"/>
          </a:p>
        </p:txBody>
      </p:sp>
      <p:sp>
        <p:nvSpPr>
          <p:cNvPr id="4" name="矩形 3">
            <a:extLst>
              <a:ext uri="{FF2B5EF4-FFF2-40B4-BE49-F238E27FC236}">
                <a16:creationId xmlns:a16="http://schemas.microsoft.com/office/drawing/2014/main" id="{2040720C-DDD5-45D6-B99D-413B9007A497}"/>
              </a:ext>
            </a:extLst>
          </p:cNvPr>
          <p:cNvSpPr>
            <a:spLocks noGrp="1"/>
          </p:cNvSpPr>
          <p:nvPr/>
        </p:nvSpPr>
        <p:spPr>
          <a:xfrm>
            <a:off x="723900" y="6477000"/>
            <a:ext cx="9525000" cy="238125"/>
          </a:xfrm>
          <a:prstGeom prst="rect">
            <a:avLst/>
          </a:prstGeom>
          <a:noFill/>
          <a:ln w="0">
            <a:noFill/>
          </a:ln>
        </p:spPr>
        <p:txBody>
          <a:bodyPr>
            <a:noAutofit/>
          </a:bodyPr>
          <a:lstStyle/>
          <a:p>
            <a:pPr>
              <a:defRPr sz="1125" b="0">
                <a:solidFill>
                  <a:srgbClr val="596C6B"/>
                </a:solidFill>
                <a:latin typeface="Arial"/>
                <a:ea typeface="Arial"/>
                <a:cs typeface="Arial"/>
              </a:defRPr>
            </a:pPr>
            <a:r>
              <a:rPr sz="1125" b="0">
                <a:solidFill>
                  <a:srgbClr val="596C6B"/>
                </a:solidFill>
                <a:latin typeface="Arial"/>
                <a:ea typeface="Arial"/>
                <a:cs typeface="Arial"/>
              </a:rPr>
              <a:t>IRC Socket Programming | Midterm review</a:t>
            </a:r>
          </a:p>
        </p:txBody>
      </p:sp>
      <p:sp>
        <p:nvSpPr>
          <p:cNvPr id="5" name="矩形 4">
            <a:extLst>
              <a:ext uri="{FF2B5EF4-FFF2-40B4-BE49-F238E27FC236}">
                <a16:creationId xmlns:a16="http://schemas.microsoft.com/office/drawing/2014/main" id="{BC1FE376-4D0A-4F70-92DA-32F360493CBF}"/>
              </a:ext>
            </a:extLst>
          </p:cNvPr>
          <p:cNvSpPr>
            <a:spLocks noGrp="1"/>
          </p:cNvSpPr>
          <p:nvPr/>
        </p:nvSpPr>
        <p:spPr>
          <a:xfrm>
            <a:off x="10953750" y="6457950"/>
            <a:ext cx="523875" cy="266700"/>
          </a:xfrm>
          <a:prstGeom prst="rect">
            <a:avLst/>
          </a:prstGeom>
          <a:noFill/>
          <a:ln w="0">
            <a:noFill/>
          </a:ln>
        </p:spPr>
        <p:txBody>
          <a:bodyPr>
            <a:noAutofit/>
          </a:bodyPr>
          <a:lstStyle/>
          <a:p>
            <a:pPr>
              <a:defRPr sz="1275" b="1">
                <a:solidFill>
                  <a:srgbClr val="087F78"/>
                </a:solidFill>
                <a:latin typeface="Arial"/>
                <a:ea typeface="Arial"/>
                <a:cs typeface="Arial"/>
              </a:defRPr>
            </a:pPr>
            <a:r>
              <a:rPr sz="1275" b="1">
                <a:solidFill>
                  <a:srgbClr val="087F78"/>
                </a:solidFill>
                <a:latin typeface="Arial"/>
                <a:ea typeface="Arial"/>
                <a:cs typeface="Arial"/>
              </a:rPr>
              <a:t>06</a:t>
            </a:r>
          </a:p>
        </p:txBody>
      </p:sp>
      <p:sp>
        <p:nvSpPr>
          <p:cNvPr id="6" name="矩形 5">
            <a:extLst>
              <a:ext uri="{FF2B5EF4-FFF2-40B4-BE49-F238E27FC236}">
                <a16:creationId xmlns:a16="http://schemas.microsoft.com/office/drawing/2014/main" id="{378D533E-DDCE-42E8-BBFC-8985BC1E9AF1}"/>
              </a:ext>
            </a:extLst>
          </p:cNvPr>
          <p:cNvSpPr>
            <a:spLocks noGrp="1"/>
          </p:cNvSpPr>
          <p:nvPr/>
        </p:nvSpPr>
        <p:spPr>
          <a:xfrm>
            <a:off x="6162675" y="2209800"/>
            <a:ext cx="19050" cy="2114550"/>
          </a:xfrm>
          <a:prstGeom prst="rect">
            <a:avLst/>
          </a:prstGeom>
          <a:solidFill>
            <a:srgbClr val="D6E4E1"/>
          </a:solidFill>
          <a:ln w="0">
            <a:noFill/>
          </a:ln>
        </p:spPr>
        <p:txBody>
          <a:bodyPr/>
          <a:lstStyle/>
          <a:p>
            <a:endParaRPr lang="zh-CN" altLang="en-US"/>
          </a:p>
        </p:txBody>
      </p:sp>
      <p:sp>
        <p:nvSpPr>
          <p:cNvPr id="7" name="矩形 6">
            <a:extLst>
              <a:ext uri="{FF2B5EF4-FFF2-40B4-BE49-F238E27FC236}">
                <a16:creationId xmlns:a16="http://schemas.microsoft.com/office/drawing/2014/main" id="{1822F958-CAC4-4300-8470-3A606FF65F48}"/>
              </a:ext>
            </a:extLst>
          </p:cNvPr>
          <p:cNvSpPr>
            <a:spLocks noGrp="1"/>
          </p:cNvSpPr>
          <p:nvPr/>
        </p:nvSpPr>
        <p:spPr>
          <a:xfrm>
            <a:off x="723900" y="220980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Protocol errors</a:t>
            </a:r>
          </a:p>
        </p:txBody>
      </p:sp>
      <p:sp>
        <p:nvSpPr>
          <p:cNvPr id="8" name="矩形 7">
            <a:extLst>
              <a:ext uri="{FF2B5EF4-FFF2-40B4-BE49-F238E27FC236}">
                <a16:creationId xmlns:a16="http://schemas.microsoft.com/office/drawing/2014/main" id="{39C165B7-57AA-407E-8EC8-A36DC63A13D4}"/>
              </a:ext>
            </a:extLst>
          </p:cNvPr>
          <p:cNvSpPr>
            <a:spLocks noGrp="1"/>
          </p:cNvSpPr>
          <p:nvPr/>
        </p:nvSpPr>
        <p:spPr>
          <a:xfrm>
            <a:off x="723900" y="275272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Missing parameters and invalid channels</a:t>
            </a:r>
          </a:p>
          <a:p>
            <a:pPr>
              <a:defRPr sz="1950" b="0">
                <a:solidFill>
                  <a:srgbClr val="596C6B"/>
                </a:solidFill>
                <a:latin typeface="Arial"/>
                <a:ea typeface="Arial"/>
                <a:cs typeface="Arial"/>
              </a:defRPr>
            </a:pPr>
            <a:r>
              <a:rPr sz="1950" b="0">
                <a:solidFill>
                  <a:srgbClr val="596C6B"/>
                </a:solidFill>
                <a:latin typeface="Arial"/>
                <a:ea typeface="Arial"/>
                <a:cs typeface="Arial"/>
              </a:rPr>
              <a:t>Duplicate nicknames and unknown targets</a:t>
            </a:r>
          </a:p>
          <a:p>
            <a:pPr>
              <a:defRPr sz="1950" b="0">
                <a:solidFill>
                  <a:srgbClr val="596C6B"/>
                </a:solidFill>
                <a:latin typeface="Arial"/>
                <a:ea typeface="Arial"/>
                <a:cs typeface="Arial"/>
              </a:defRPr>
            </a:pPr>
            <a:r>
              <a:rPr sz="1950" b="0">
                <a:solidFill>
                  <a:srgbClr val="596C6B"/>
                </a:solidFill>
                <a:latin typeface="Arial"/>
                <a:ea typeface="Arial"/>
                <a:cs typeface="Arial"/>
              </a:rPr>
              <a:t>Malformed input returns a numeric error</a:t>
            </a:r>
          </a:p>
        </p:txBody>
      </p:sp>
      <p:sp>
        <p:nvSpPr>
          <p:cNvPr id="9" name="矩形 8">
            <a:extLst>
              <a:ext uri="{FF2B5EF4-FFF2-40B4-BE49-F238E27FC236}">
                <a16:creationId xmlns:a16="http://schemas.microsoft.com/office/drawing/2014/main" id="{26A89A71-F285-4A98-A4B9-5A53AF824B2F}"/>
              </a:ext>
            </a:extLst>
          </p:cNvPr>
          <p:cNvSpPr>
            <a:spLocks noGrp="1"/>
          </p:cNvSpPr>
          <p:nvPr/>
        </p:nvSpPr>
        <p:spPr>
          <a:xfrm>
            <a:off x="6572250" y="2209800"/>
            <a:ext cx="4857750" cy="400050"/>
          </a:xfrm>
          <a:prstGeom prst="rect">
            <a:avLst/>
          </a:prstGeom>
          <a:noFill/>
          <a:ln w="0">
            <a:noFill/>
          </a:ln>
        </p:spPr>
        <p:txBody>
          <a:bodyPr>
            <a:noAutofit/>
          </a:bodyPr>
          <a:lstStyle/>
          <a:p>
            <a:pPr>
              <a:defRPr sz="2250" b="1">
                <a:solidFill>
                  <a:srgbClr val="087F78"/>
                </a:solidFill>
                <a:latin typeface="Arial"/>
                <a:ea typeface="Arial"/>
                <a:cs typeface="Arial"/>
              </a:defRPr>
            </a:pPr>
            <a:r>
              <a:rPr sz="2250" b="1">
                <a:solidFill>
                  <a:srgbClr val="087F78"/>
                </a:solidFill>
                <a:latin typeface="Arial"/>
                <a:ea typeface="Arial"/>
                <a:cs typeface="Arial"/>
              </a:rPr>
              <a:t>Boundary and cleanup checks</a:t>
            </a:r>
          </a:p>
        </p:txBody>
      </p:sp>
      <p:sp>
        <p:nvSpPr>
          <p:cNvPr id="10" name="矩形 9">
            <a:extLst>
              <a:ext uri="{FF2B5EF4-FFF2-40B4-BE49-F238E27FC236}">
                <a16:creationId xmlns:a16="http://schemas.microsoft.com/office/drawing/2014/main" id="{BC8A3328-07C1-4CC8-A79C-16D5E83E9DDB}"/>
              </a:ext>
            </a:extLst>
          </p:cNvPr>
          <p:cNvSpPr>
            <a:spLocks noGrp="1"/>
          </p:cNvSpPr>
          <p:nvPr/>
        </p:nvSpPr>
        <p:spPr>
          <a:xfrm>
            <a:off x="6572250" y="2752725"/>
            <a:ext cx="4857750" cy="1666875"/>
          </a:xfrm>
          <a:prstGeom prst="rect">
            <a:avLst/>
          </a:prstGeom>
          <a:noFill/>
          <a:ln w="0">
            <a:noFill/>
          </a:ln>
        </p:spPr>
        <p:txBody>
          <a:bodyPr>
            <a:noAutofit/>
          </a:bodyPr>
          <a:lstStyle/>
          <a:p>
            <a:pPr>
              <a:defRPr sz="1950" b="0">
                <a:solidFill>
                  <a:srgbClr val="596C6B"/>
                </a:solidFill>
                <a:latin typeface="Arial"/>
                <a:ea typeface="Arial"/>
                <a:cs typeface="Arial"/>
              </a:defRPr>
            </a:pPr>
            <a:r>
              <a:rPr sz="1950" b="0">
                <a:solidFill>
                  <a:srgbClr val="596C6B"/>
                </a:solidFill>
                <a:latin typeface="Arial"/>
                <a:ea typeface="Arial"/>
                <a:cs typeface="Arial"/>
              </a:rPr>
              <a:t>Nickname reuse and disconnect cleanup</a:t>
            </a:r>
          </a:p>
          <a:p>
            <a:pPr>
              <a:defRPr sz="1950" b="0">
                <a:solidFill>
                  <a:srgbClr val="596C6B"/>
                </a:solidFill>
                <a:latin typeface="Arial"/>
                <a:ea typeface="Arial"/>
                <a:cs typeface="Arial"/>
              </a:defRPr>
            </a:pPr>
            <a:r>
              <a:rPr sz="1950" b="0">
                <a:solidFill>
                  <a:srgbClr val="596C6B"/>
                </a:solidFill>
                <a:latin typeface="Arial"/>
                <a:ea typeface="Arial"/>
                <a:cs typeface="Arial"/>
              </a:rPr>
              <a:t>Overlong relay returns 417</a:t>
            </a:r>
          </a:p>
        </p:txBody>
      </p:sp>
      <p:sp>
        <p:nvSpPr>
          <p:cNvPr id="11" name="矩形 10">
            <a:extLst>
              <a:ext uri="{FF2B5EF4-FFF2-40B4-BE49-F238E27FC236}">
                <a16:creationId xmlns:a16="http://schemas.microsoft.com/office/drawing/2014/main" id="{E46B2415-8F85-487F-B0B8-35B823DA8F9E}"/>
              </a:ext>
            </a:extLst>
          </p:cNvPr>
          <p:cNvSpPr>
            <a:spLocks noGrp="1"/>
          </p:cNvSpPr>
          <p:nvPr/>
        </p:nvSpPr>
        <p:spPr>
          <a:xfrm>
            <a:off x="723900" y="4733925"/>
            <a:ext cx="10668000" cy="857250"/>
          </a:xfrm>
          <a:prstGeom prst="rect">
            <a:avLst/>
          </a:prstGeom>
          <a:solidFill>
            <a:srgbClr val="EDF7F4"/>
          </a:solidFill>
          <a:ln w="0">
            <a:noFill/>
          </a:ln>
        </p:spPr>
        <p:txBody>
          <a:bodyPr/>
          <a:lstStyle/>
          <a:p>
            <a:endParaRPr lang="zh-CN" altLang="en-US"/>
          </a:p>
        </p:txBody>
      </p:sp>
      <p:sp>
        <p:nvSpPr>
          <p:cNvPr id="12" name="矩形 11">
            <a:extLst>
              <a:ext uri="{FF2B5EF4-FFF2-40B4-BE49-F238E27FC236}">
                <a16:creationId xmlns:a16="http://schemas.microsoft.com/office/drawing/2014/main" id="{145DC7B1-91B1-4E96-806D-BD8377C786DE}"/>
              </a:ext>
            </a:extLst>
          </p:cNvPr>
          <p:cNvSpPr>
            <a:spLocks noGrp="1"/>
          </p:cNvSpPr>
          <p:nvPr/>
        </p:nvSpPr>
        <p:spPr>
          <a:xfrm>
            <a:off x="952500" y="4924425"/>
            <a:ext cx="10191750" cy="523875"/>
          </a:xfrm>
          <a:prstGeom prst="rect">
            <a:avLst/>
          </a:prstGeom>
          <a:noFill/>
          <a:ln w="0">
            <a:noFill/>
          </a:ln>
        </p:spPr>
        <p:txBody>
          <a:bodyPr>
            <a:noAutofit/>
          </a:bodyPr>
          <a:lstStyle/>
          <a:p>
            <a:pPr>
              <a:defRPr sz="2175" b="1">
                <a:solidFill>
                  <a:srgbClr val="087F78"/>
                </a:solidFill>
                <a:latin typeface="Arial"/>
                <a:ea typeface="Arial"/>
                <a:cs typeface="Arial"/>
              </a:defRPr>
            </a:pPr>
            <a:r>
              <a:rPr sz="2175" b="1">
                <a:solidFill>
                  <a:srgbClr val="087F78"/>
                </a:solidFill>
                <a:latin typeface="Arial"/>
                <a:ea typeface="Arial"/>
                <a:cs typeface="Arial"/>
              </a:rPr>
              <a:t>PING timeout and errors stay isolated to one session.</a:t>
            </a:r>
          </a:p>
        </p:txBody>
      </p:sp>
      <p:sp>
        <p:nvSpPr>
          <p:cNvPr id="13" name="矩形 12">
            <a:extLst>
              <a:ext uri="{FF2B5EF4-FFF2-40B4-BE49-F238E27FC236}">
                <a16:creationId xmlns:a16="http://schemas.microsoft.com/office/drawing/2014/main" id="{7D4AF281-61C0-4EDF-8EB2-67B656C37841}"/>
              </a:ext>
            </a:extLst>
          </p:cNvPr>
          <p:cNvSpPr>
            <a:spLocks noGrp="1"/>
          </p:cNvSpPr>
          <p:nvPr/>
        </p:nvSpPr>
        <p:spPr>
          <a:xfrm>
            <a:off x="723900" y="5848350"/>
            <a:ext cx="10668000" cy="342900"/>
          </a:xfrm>
          <a:prstGeom prst="rect">
            <a:avLst/>
          </a:prstGeom>
          <a:noFill/>
          <a:ln w="0">
            <a:noFill/>
          </a:ln>
        </p:spPr>
        <p:txBody>
          <a:bodyPr>
            <a:noAutofit/>
          </a:bodyPr>
          <a:lstStyle/>
          <a:p>
            <a:pPr>
              <a:defRPr sz="1725" b="0">
                <a:solidFill>
                  <a:srgbClr val="596C6B"/>
                </a:solidFill>
                <a:latin typeface="Arial"/>
                <a:ea typeface="Arial"/>
                <a:cs typeface="Arial"/>
              </a:defRPr>
            </a:pPr>
            <a:r>
              <a:rPr sz="1725" b="0">
                <a:solidFill>
                  <a:srgbClr val="596C6B"/>
                </a:solidFill>
                <a:latin typeface="Arial"/>
                <a:ea typeface="Arial"/>
                <a:cs typeface="Arial"/>
              </a:rPr>
              <a:t>project error-handling requirements implemented.</a:t>
            </a:r>
          </a:p>
        </p:txBody>
      </p:sp>
    </p:spTree>
    <p:extLst>
      <p:ext uri="{BB962C8B-B14F-4D97-AF65-F5344CB8AC3E}">
        <p14:creationId xmlns:p14="http://schemas.microsoft.com/office/powerpoint/2010/main" val="8240817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1195</Words>
  <Application>Microsoft Macintosh PowerPoint</Application>
  <DocSecurity>0</DocSecurity>
  <PresentationFormat>宽屏</PresentationFormat>
  <Paragraphs>121</Paragraphs>
  <Slides>6</Slides>
  <Notes>7</Notes>
  <HiddenSlides>6</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Microsoft YaHei</vt: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Yibo Xu (Student)</cp:lastModifiedBy>
  <cp:revision>4</cp:revision>
  <dcterms:created xsi:type="dcterms:W3CDTF">2026-10-05T21:00:45Z</dcterms:created>
  <dcterms:modified xsi:type="dcterms:W3CDTF">2026-10-07T04:18:06Z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18d1e0-f5d7-4da7-8ddd-3b83021a2c85_Enabled">
    <vt:lpwstr>true</vt:lpwstr>
  </property>
  <property fmtid="{D5CDD505-2E9C-101B-9397-08002B2CF9AE}" pid="3" name="MSIP_Label_a618d1e0-f5d7-4da7-8ddd-3b83021a2c85_SetDate">
    <vt:lpwstr>2026-10-07T04:01:36Z</vt:lpwstr>
  </property>
  <property fmtid="{D5CDD505-2E9C-101B-9397-08002B2CF9AE}" pid="4" name="MSIP_Label_a618d1e0-f5d7-4da7-8ddd-3b83021a2c85_Method">
    <vt:lpwstr>Standard</vt:lpwstr>
  </property>
  <property fmtid="{D5CDD505-2E9C-101B-9397-08002B2CF9AE}" pid="5" name="MSIP_Label_a618d1e0-f5d7-4da7-8ddd-3b83021a2c85_Name">
    <vt:lpwstr>Private</vt:lpwstr>
  </property>
  <property fmtid="{D5CDD505-2E9C-101B-9397-08002B2CF9AE}" pid="6" name="MSIP_Label_a618d1e0-f5d7-4da7-8ddd-3b83021a2c85_SiteId">
    <vt:lpwstr>ae323139-093a-4d2a-81a6-5d334bcd9019</vt:lpwstr>
  </property>
  <property fmtid="{D5CDD505-2E9C-101B-9397-08002B2CF9AE}" pid="7" name="MSIP_Label_a618d1e0-f5d7-4da7-8ddd-3b83021a2c85_ActionId">
    <vt:lpwstr>af92ae42-600f-437e-ace2-006d6576073d</vt:lpwstr>
  </property>
  <property fmtid="{D5CDD505-2E9C-101B-9397-08002B2CF9AE}" pid="8" name="MSIP_Label_a618d1e0-f5d7-4da7-8ddd-3b83021a2c85_ContentBits">
    <vt:lpwstr>0</vt:lpwstr>
  </property>
  <property fmtid="{D5CDD505-2E9C-101B-9397-08002B2CF9AE}" pid="9" name="MSIP_Label_a618d1e0-f5d7-4da7-8ddd-3b83021a2c85_Tag">
    <vt:lpwstr>50, 3, 0, 1</vt:lpwstr>
  </property>
</Properties>
</file>