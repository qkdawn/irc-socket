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27588b92014a71" /><Relationship Type="http://schemas.openxmlformats.org/officeDocument/2006/relationships/extended-properties" Target="/docProps/app.xml" Id="R4173f471b3ec4cfe" /><Relationship Type="http://schemas.openxmlformats.org/officeDocument/2006/relationships/officeDocument" Target="/ppt/presentation.xml" Id="R8d3d4db5316b440d" /></Relationships>
</file>

<file path=ppt/presentation.xml><?xml version="1.0" encoding="utf-8"?>
<p:presentation xmlns:p="http://schemas.openxmlformats.org/presentationml/2006/main">
  <p:sldMasterIdLst>
    <p:sldMasterId xmlns:r="http://schemas.openxmlformats.org/officeDocument/2006/relationships" id="2147483648" r:id="R709ed80e15f841ff"/>
  </p:sldMasterIdLst>
  <p:notesMasterIdLst>
    <p:notesMasterId xmlns:r="http://schemas.openxmlformats.org/officeDocument/2006/relationships" r:id="Raf50dcc531144a78"/>
  </p:notesMasterIdLst>
  <p:sldIdLst>
    <p:sldId xmlns:r="http://schemas.openxmlformats.org/officeDocument/2006/relationships" id="256" r:id="R31d0ce56177540e7"/>
    <p:sldId xmlns:r="http://schemas.openxmlformats.org/officeDocument/2006/relationships" id="257" r:id="R1f645bff8f754bdb"/>
    <p:sldId xmlns:r="http://schemas.openxmlformats.org/officeDocument/2006/relationships" id="258" r:id="R4922a67f35bf42da"/>
    <p:sldId xmlns:r="http://schemas.openxmlformats.org/officeDocument/2006/relationships" id="259" r:id="R921037e891044883"/>
    <p:sldId xmlns:r="http://schemas.openxmlformats.org/officeDocument/2006/relationships" id="260" r:id="Rd571f35f37f948fe"/>
    <p:sldId xmlns:r="http://schemas.openxmlformats.org/officeDocument/2006/relationships" id="261" r:id="Rb540a7b55ab64a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b755cc904c42f7" /><Relationship Type="http://schemas.openxmlformats.org/officeDocument/2006/relationships/slideMaster" Target="/ppt/slideMasters/slideMaster1.xml" Id="R709ed80e15f841ff" /><Relationship Type="http://schemas.openxmlformats.org/officeDocument/2006/relationships/notesMaster" Target="/ppt/notesMasters/notesMaster1.xml" Id="Raf50dcc531144a78" /><Relationship Type="http://schemas.openxmlformats.org/officeDocument/2006/relationships/presProps" Target="/ppt/presProps.xml" Id="Rbc5322dffc254a0c" /><Relationship Type="http://schemas.openxmlformats.org/officeDocument/2006/relationships/tableStyles" Target="/ppt/tableStyles.xml" Id="R58ad5fc5f390400d" /><Relationship Type="http://schemas.openxmlformats.org/officeDocument/2006/relationships/slide" Target="/ppt/slides/slide1.xml" Id="R31d0ce56177540e7" /><Relationship Type="http://schemas.openxmlformats.org/officeDocument/2006/relationships/slide" Target="/ppt/slides/slide2.xml" Id="R1f645bff8f754bdb" /><Relationship Type="http://schemas.openxmlformats.org/officeDocument/2006/relationships/slide" Target="/ppt/slides/slide3.xml" Id="R4922a67f35bf42da" /><Relationship Type="http://schemas.openxmlformats.org/officeDocument/2006/relationships/slide" Target="/ppt/slides/slide4.xml" Id="R921037e891044883" /><Relationship Type="http://schemas.openxmlformats.org/officeDocument/2006/relationships/slide" Target="/ppt/slides/slide5.xml" Id="Rd571f35f37f948fe" /><Relationship Type="http://schemas.openxmlformats.org/officeDocument/2006/relationships/slide" Target="/ppt/slides/slide6.xml" Id="Rb540a7b55ab64a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1eca82e40b4d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6a9ff2ac8c43e3" /><Relationship Type="http://schemas.openxmlformats.org/officeDocument/2006/relationships/notesMaster" Target="/ppt/notesMasters/notesMaster1.xml" Id="R2fc6a411e0744a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4aeb8a2c9b4fab" /><Relationship Type="http://schemas.openxmlformats.org/officeDocument/2006/relationships/notesMaster" Target="/ppt/notesMasters/notesMaster1.xml" Id="Rc3e0f098aa4349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ced4999cfe4fee" /><Relationship Type="http://schemas.openxmlformats.org/officeDocument/2006/relationships/notesMaster" Target="/ppt/notesMasters/notesMaster1.xml" Id="Rfff9c2c5403e44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f3d00538154c86" /><Relationship Type="http://schemas.openxmlformats.org/officeDocument/2006/relationships/notesMaster" Target="/ppt/notesMasters/notesMaster1.xml" Id="R15a0000ae13d4a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3d58616eb34a1b" /><Relationship Type="http://schemas.openxmlformats.org/officeDocument/2006/relationships/notesMaster" Target="/ppt/notesMasters/notesMaster1.xml" Id="Rd851932698c74f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8600058fdd46d8" /><Relationship Type="http://schemas.openxmlformats.org/officeDocument/2006/relationships/notesMaster" Target="/ppt/notesMasters/notesMaster1.xml" Id="R77121801009043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is our midterm progress report for the socket programming project. We have implemented the shared IRC protocol layer, a command Bot, and a lightweight server using Python sockets. I will explain the required behavior and how our current code provides it.</a:t>
            </a:r>
          </a:p>
          <a:p xmlns:a="http://schemas.openxmlformats.org/drawingml/2006/main">
            <a:r>
              <a:t/>
            </a:r>
          </a:p>
          <a:p xmlns:a="http://schemas.openxmlformats.org/drawingml/2006/main">
            <a:r>
              <a:t>Sources: project_brief.pdf, sections A.2, A.3 and C; 4. Marking Criteria.pdf, C–N; marking-sheet.pdf; common/, bot/ and server/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code has three parts. Common holds the IRC message model and stream decoder. Server handles client sessions, shared state, and message delivery. Bot handles the connection, channel members, and commands. We keep protocol parsing separate from socket operations, with focused functions and comments explaining the network behavior.</a:t>
            </a:r>
          </a:p>
          <a:p xmlns:a="http://schemas.openxmlformats.org/drawingml/2006/main">
            <a:r>
              <a:t/>
            </a:r>
          </a:p>
          <a:p xmlns:a="http://schemas.openxmlformats.org/drawingml/2006/main">
            <a:r>
              <a:t>Sources: project_brief.pdf, sections A.2, A.3 and C; 4. Marking Criteria.pdf, C–N; marking-sheet.pdf; common/, bot/ and server/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IRC messages travel over a TCP byte stream. A single read can contain half a message or several messages together, so we cannot treat each read as one command. IRCStreamDecoder keeps incomplete data until a full CRLF line arrives. IRCMessage then separates the prefix, command, and parameters, as this example shows. We also check UTF-8 and the 512-byte line limit, including CRLF. The same message model generates replies, so both programs use a consistent format.</a:t>
            </a:r>
          </a:p>
          <a:p xmlns:a="http://schemas.openxmlformats.org/drawingml/2006/main">
            <a:r>
              <a:t/>
            </a:r>
          </a:p>
          <a:p xmlns:a="http://schemas.openxmlformats.org/drawingml/2006/main">
            <a:r>
              <a:t>Sources: project_brief.pdf, sections A.2, A.3 and C; 4. Marking Criteria.pdf, C–N; marking-sheet.pdf; common/, bot/ and server/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Bot runs in the Windows environment and connects over IPv6. Its host, port, nickname, and channel are configurable from the command line. It sends NICK and USER, waits for the 001 welcome, and then joins the channel. While connected, it answers PING with PONG. If the connection fails, it waits before reconnecting and rebuilds its member list.</a:t>
            </a:r>
          </a:p>
          <a:p xmlns:a="http://schemas.openxmlformats.org/drawingml/2006/main">
            <a:r>
              <a:t/>
            </a:r>
          </a:p>
          <a:p xmlns:a="http://schemas.openxmlformats.org/drawingml/2006/main">
            <a:r>
              <a:t>For member tracking, the Bot collects the initial NAMES replies and updates the list when users join, leave, quit, or change nicknames.</a:t>
            </a:r>
          </a:p>
          <a:p xmlns:a="http://schemas.openxmlformats.org/drawingml/2006/main">
            <a:r>
              <a:t/>
            </a:r>
          </a:p>
          <a:p xmlns:a="http://schemas.openxmlformats.org/drawingml/2006/main">
            <a:r>
              <a:t>The commands shown here are implemented. Hello greets the sender. Slap supports a named target or a random eligible member. Without a target, it excludes the Bot and requester when other users are available. A missing named target falls back to the requester. Who uses IRC ISON and numeric 303 to check known channel members online. Time reports the Bot machine's local clock. A private message gets a random fact loaded from facts.txt.</a:t>
            </a:r>
          </a:p>
          <a:p xmlns:a="http://schemas.openxmlformats.org/drawingml/2006/main">
            <a:r>
              <a:t/>
            </a:r>
          </a:p>
          <a:p xmlns:a="http://schemas.openxmlformats.org/drawingml/2006/main">
            <a:r>
              <a:t>Sources: project_brief.pdf, sections A.2, A.3 and C; 4. Marking Criteria.pdf, C–N; marking-sheet.pdf; common/, bot/ and server/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runs on Ubuntu and listens on the IPv6 unspecified address, double colon, at port 6667. It accepts clients and gives each connection its own session. Registration stores the nickname, username, and real name, then sends the welcome replies.</a:t>
            </a:r>
          </a:p>
          <a:p xmlns:a="http://schemas.openxmlformats.org/drawingml/2006/main">
            <a:r>
              <a:t/>
            </a:r>
          </a:p>
          <a:p xmlns:a="http://schemas.openxmlformats.org/drawingml/2006/main">
            <a:r>
              <a:t>Several clients can operate at once. The shared user and channel indexes use a lock, and each session serializes its outgoing socket writes.</a:t>
            </a:r>
          </a:p>
          <a:p xmlns:a="http://schemas.openxmlformats.org/drawingml/2006/main">
            <a:r>
              <a:t/>
            </a:r>
          </a:p>
          <a:p xmlns:a="http://schemas.openxmlformats.org/drawingml/2006/main">
            <a:r>
              <a:t>There are two delivery paths. If Alice sends a message to hash hello, the server checks channel membership and forwards it to the other members of that channel. It does not forward it to users outside that channel. If Alice sends a private message to Bob, only Bob receives it. An unknown nickname gets an error response.</a:t>
            </a:r>
          </a:p>
          <a:p xmlns:a="http://schemas.openxmlformats.org/drawingml/2006/main">
            <a:r>
              <a:t/>
            </a:r>
          </a:p>
          <a:p xmlns:a="http://schemas.openxmlformats.org/drawingml/2006/main">
            <a:r>
              <a:t>JOIN adds a member and supplies the current member list through NAMES. PART removes the user from that channel but keeps the connection active. QUIT or a lost connection removes the user from all channels and clears the nickname entry. Empty channels are removed as well. These are the current implementations of the client, channel, and messaging requirements.</a:t>
            </a:r>
          </a:p>
          <a:p xmlns:a="http://schemas.openxmlformats.org/drawingml/2006/main">
            <a:r>
              <a:t/>
            </a:r>
          </a:p>
          <a:p xmlns:a="http://schemas.openxmlformats.org/drawingml/2006/main">
            <a:r>
              <a:t>Sources: project_brief.pdf, sections A.2, A.3 and C; 4. Marking Criteria.pdf, C–N; marking-sheet.pdf; common/, bot/ and server/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part is handling invalid requests and lost connections. Unknown commands, invalid or occupied nicknames, missing parameters, and unknown targets receive the appropriate numeric response.</a:t>
            </a:r>
          </a:p>
          <a:p xmlns:a="http://schemas.openxmlformats.org/drawingml/2006/main">
            <a:r>
              <a:t/>
            </a:r>
          </a:p>
          <a:p xmlns:a="http://schemas.openxmlformats.org/drawingml/2006/main">
            <a:r>
              <a:t>Malformed byte streams follow a separate path: the server sends ERROR and closes the affected session. Other clients continue running. For a relayed message, the server checks the full UTF-8 length after adding the sender prefix. If it exceeds 512 bytes, the server returns 417.</a:t>
            </a:r>
          </a:p>
          <a:p xmlns:a="http://schemas.openxmlformats.org/drawingml/2006/main">
            <a:r>
              <a:t/>
            </a:r>
          </a:p>
          <a:p xmlns:a="http://schemas.openxmlformats.org/drawingml/2006/main">
            <a:r>
              <a:t>Disconnect cleanup also checks which connection owns a nickname before deleting it. The server has a PING-based timeout mechanism, while the Bot can reconnect after a connection failure. This summarizes our implemented protocol, Bot, server, and error-handling functions at midterm. Thank you.</a:t>
            </a:r>
          </a:p>
          <a:p xmlns:a="http://schemas.openxmlformats.org/drawingml/2006/main">
            <a:r>
              <a:t/>
            </a:r>
          </a:p>
          <a:p xmlns:a="http://schemas.openxmlformats.org/drawingml/2006/main">
            <a:r>
              <a:t>Sources: project_brief.pdf, sections A.2, A.3 and C; 4. Marking Criteria.pdf, C–N; marking-sheet.pdf; common/, bot/ and server/ source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916ef861b943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9721b517b44be4" /><Relationship Type="http://schemas.openxmlformats.org/officeDocument/2006/relationships/slideLayout" Target="/ppt/slideLayouts/slideLayout1.xml" Id="R6ce48a6c50484a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e48a6c50484a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dfdb23b1a74652" /><Relationship Type="http://schemas.openxmlformats.org/officeDocument/2006/relationships/notesSlide" Target="/ppt/notesSlides/notesSlide1.xml" Id="R259f3450123f47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7ec57fc0484d26" /><Relationship Type="http://schemas.openxmlformats.org/officeDocument/2006/relationships/notesSlide" Target="/ppt/notesSlides/notesSlide2.xml" Id="Rc1a80a5b271b44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256c891d574586" /><Relationship Type="http://schemas.openxmlformats.org/officeDocument/2006/relationships/notesSlide" Target="/ppt/notesSlides/notesSlide3.xml" Id="R4861b1b2dfab46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984e7d8e304d18" /><Relationship Type="http://schemas.openxmlformats.org/officeDocument/2006/relationships/notesSlide" Target="/ppt/notesSlides/notesSlide4.xml" Id="R4f540a5667fb48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10fe6cbd554c9a" /><Relationship Type="http://schemas.openxmlformats.org/officeDocument/2006/relationships/notesSlide" Target="/ppt/notesSlides/notesSlide5.xml" Id="R90c2c4047e024a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60d1db2eaa45bd" /><Relationship Type="http://schemas.openxmlformats.org/officeDocument/2006/relationships/notesSlide" Target="/ppt/notesSlides/notesSlide6.xml" Id="R289483e04fa74ab0" /></Relationships>
</file>

<file path=ppt/slides/slide1.xml><?xml version="1.0" encoding="utf-8"?>
<p:sld xmlns:p="http://schemas.openxmlformats.org/presentationml/2006/main">
  <p:cSld>
    <p:bg>
      <p:bgPr>
        <a:solidFill xmlns:a="http://schemas.openxmlformats.org/drawingml/2006/main">
          <a:srgbClr val="1223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E05FCE-924F-471A-9A5C-3C1E8214F6B7}"/>
              </a:ext>
            </a:extLst>
          </p:cNvPr>
          <p:cNvSpPr>
            <a:spLocks xmlns:a="http://schemas.openxmlformats.org/drawingml/2006/main" noGrp="1"/>
          </p:cNvSpPr>
          <p:nvPr/>
        </p:nvSpPr>
        <p:spPr>
          <a:xfrm xmlns:a="http://schemas.openxmlformats.org/drawingml/2006/main">
            <a:off x="685800" y="5905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5EF"/>
                </a:solidFill>
                <a:latin typeface="Arial"/>
                <a:ea typeface="Arial"/>
                <a:cs typeface="Arial"/>
              </a:defRPr>
            </a:pPr>
            <a:r>
              <a:rPr sz="3600" b="1">
                <a:solidFill>
                  <a:srgbClr val="F7F5EF"/>
                </a:solidFill>
                <a:latin typeface="Arial"/>
                <a:ea typeface="Arial"/>
                <a:cs typeface="Arial"/>
              </a:rPr>
              <a:t>Socket Programming</a:t>
            </a:r>
          </a:p>
        </p:txBody>
      </p:sp>
      <p:sp>
        <p:nvSpPr>
          <p:cNvPr id="2" name="">
            <a:extLst xmlns:a="http://schemas.openxmlformats.org/drawingml/2006/main">
              <a:ext uri="{FF2B5EF4-FFF2-40B4-BE49-F238E27FC236}">
                <a16:creationId xmlns:a16="http://schemas.microsoft.com/office/drawing/2014/main" id="{752F8AD8-F322-439A-86A7-DEEE493E367F}"/>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4EF"/>
                </a:solidFill>
                <a:latin typeface="Arial"/>
                <a:ea typeface="Arial"/>
                <a:cs typeface="Arial"/>
              </a:defRPr>
            </a:pPr>
            <a:r>
              <a:rPr sz="1350" b="0">
                <a:solidFill>
                  <a:srgbClr val="B9D4E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2A28DDE-7932-4F33-9D3D-D4B9590C225E}"/>
              </a:ext>
            </a:extLst>
          </p:cNvPr>
          <p:cNvSpPr>
            <a:spLocks xmlns:a="http://schemas.openxmlformats.org/drawingml/2006/main" noGrp="1"/>
          </p:cNvSpPr>
          <p:nvPr/>
        </p:nvSpPr>
        <p:spPr>
          <a:xfrm xmlns:a="http://schemas.openxmlformats.org/drawingml/2006/main">
            <a:off x="685800" y="2076450"/>
            <a:ext cx="10096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F7F5EF"/>
                </a:solidFill>
                <a:latin typeface="Arial"/>
                <a:ea typeface="Arial"/>
                <a:cs typeface="Arial"/>
              </a:defRPr>
            </a:pPr>
            <a:r>
              <a:rPr sz="8250" b="1">
                <a:solidFill>
                  <a:srgbClr val="F7F5EF"/>
                </a:solidFill>
                <a:latin typeface="Arial"/>
                <a:ea typeface="Arial"/>
                <a:cs typeface="Arial"/>
              </a:rPr>
              <a:t>IPv6 IRC</a:t>
            </a:r>
          </a:p>
        </p:txBody>
      </p:sp>
      <p:sp>
        <p:nvSpPr>
          <p:cNvPr id="4" name="">
            <a:extLst xmlns:a="http://schemas.openxmlformats.org/drawingml/2006/main">
              <a:ext uri="{FF2B5EF4-FFF2-40B4-BE49-F238E27FC236}">
                <a16:creationId xmlns:a16="http://schemas.microsoft.com/office/drawing/2014/main" id="{047607D3-D29E-4B1A-8AF0-9D364D9B0A2B}"/>
              </a:ext>
            </a:extLst>
          </p:cNvPr>
          <p:cNvSpPr>
            <a:spLocks xmlns:a="http://schemas.openxmlformats.org/drawingml/2006/main" noGrp="1"/>
          </p:cNvSpPr>
          <p:nvPr/>
        </p:nvSpPr>
        <p:spPr>
          <a:xfrm xmlns:a="http://schemas.openxmlformats.org/drawingml/2006/main">
            <a:off x="742950" y="3600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0">
                <a:solidFill>
                  <a:srgbClr val="B9D4EF"/>
                </a:solidFill>
                <a:latin typeface="Arial"/>
                <a:ea typeface="Arial"/>
                <a:cs typeface="Arial"/>
              </a:defRPr>
            </a:pPr>
            <a:r>
              <a:rPr sz="4350" b="0">
                <a:solidFill>
                  <a:srgbClr val="B9D4EF"/>
                </a:solidFill>
                <a:latin typeface="Arial"/>
                <a:ea typeface="Arial"/>
                <a:cs typeface="Arial"/>
              </a:rPr>
              <a:t>Server &amp; Command Bot</a:t>
            </a:r>
          </a:p>
        </p:txBody>
      </p:sp>
      <p:sp>
        <p:nvSpPr>
          <p:cNvPr id="5" name="">
            <a:extLst xmlns:a="http://schemas.openxmlformats.org/drawingml/2006/main">
              <a:ext uri="{FF2B5EF4-FFF2-40B4-BE49-F238E27FC236}">
                <a16:creationId xmlns:a16="http://schemas.microsoft.com/office/drawing/2014/main" id="{FC96FC39-1A24-459B-A1D3-4C7001D28718}"/>
              </a:ext>
            </a:extLst>
          </p:cNvPr>
          <p:cNvSpPr>
            <a:spLocks xmlns:a="http://schemas.openxmlformats.org/drawingml/2006/main" noGrp="1"/>
          </p:cNvSpPr>
          <p:nvPr/>
        </p:nvSpPr>
        <p:spPr>
          <a:xfrm xmlns:a="http://schemas.openxmlformats.org/drawingml/2006/main">
            <a:off x="742950" y="5381625"/>
            <a:ext cx="904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Midterm implementation progress</a:t>
            </a:r>
          </a:p>
        </p:txBody>
      </p:sp>
    </p:spTree>
    <p:extLst>
      <p:ext uri="{BB962C8B-B14F-4D97-AF65-F5344CB8AC3E}">
        <p14:creationId xmlns:p14="http://schemas.microsoft.com/office/powerpoint/2010/main" val="184028266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897BF2-0B4B-41BB-8ACF-44A1C9174432}"/>
              </a:ext>
            </a:extLst>
          </p:cNvPr>
          <p:cNvSpPr>
            <a:spLocks xmlns:a="http://schemas.openxmlformats.org/drawingml/2006/main" noGrp="1"/>
          </p:cNvSpPr>
          <p:nvPr/>
        </p:nvSpPr>
        <p:spPr>
          <a:xfrm xmlns:a="http://schemas.openxmlformats.org/drawingml/2006/main">
            <a:off x="685800" y="5905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2338"/>
                </a:solidFill>
                <a:latin typeface="Arial"/>
                <a:ea typeface="Arial"/>
                <a:cs typeface="Arial"/>
              </a:defRPr>
            </a:pPr>
            <a:r>
              <a:rPr sz="3600" b="1">
                <a:solidFill>
                  <a:srgbClr val="122338"/>
                </a:solidFill>
                <a:latin typeface="Arial"/>
                <a:ea typeface="Arial"/>
                <a:cs typeface="Arial"/>
              </a:rPr>
              <a:t>Code structure</a:t>
            </a:r>
          </a:p>
        </p:txBody>
      </p:sp>
      <p:sp>
        <p:nvSpPr>
          <p:cNvPr id="2" name="">
            <a:extLst xmlns:a="http://schemas.openxmlformats.org/drawingml/2006/main">
              <a:ext uri="{FF2B5EF4-FFF2-40B4-BE49-F238E27FC236}">
                <a16:creationId xmlns:a16="http://schemas.microsoft.com/office/drawing/2014/main" id="{9248BB6F-6338-4782-9931-F8F53486E8D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76574"/>
                </a:solidFill>
                <a:latin typeface="Arial"/>
                <a:ea typeface="Arial"/>
                <a:cs typeface="Arial"/>
              </a:defRPr>
            </a:pPr>
            <a:r>
              <a:rPr sz="1350" b="0">
                <a:solidFill>
                  <a:srgbClr val="5765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1A865F6-E30B-48B7-87F2-9AA0F1D8135E}"/>
              </a:ext>
            </a:extLst>
          </p:cNvPr>
          <p:cNvSpPr>
            <a:spLocks xmlns:a="http://schemas.openxmlformats.org/drawingml/2006/main" noGrp="1"/>
          </p:cNvSpPr>
          <p:nvPr/>
        </p:nvSpPr>
        <p:spPr>
          <a:xfrm xmlns:a="http://schemas.openxmlformats.org/drawingml/2006/main">
            <a:off x="685800" y="20669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854C5"/>
                </a:solidFill>
                <a:latin typeface="Arial"/>
                <a:ea typeface="Arial"/>
                <a:cs typeface="Arial"/>
              </a:defRPr>
            </a:pPr>
            <a:r>
              <a:rPr sz="3000" b="1">
                <a:solidFill>
                  <a:srgbClr val="2854C5"/>
                </a:solidFill>
                <a:latin typeface="Arial"/>
                <a:ea typeface="Arial"/>
                <a:cs typeface="Arial"/>
              </a:rPr>
              <a:t>common</a:t>
            </a:r>
          </a:p>
        </p:txBody>
      </p:sp>
      <p:sp>
        <p:nvSpPr>
          <p:cNvPr id="4" name="">
            <a:extLst xmlns:a="http://schemas.openxmlformats.org/drawingml/2006/main">
              <a:ext uri="{FF2B5EF4-FFF2-40B4-BE49-F238E27FC236}">
                <a16:creationId xmlns:a16="http://schemas.microsoft.com/office/drawing/2014/main" id="{3DBE52FE-D434-4CC4-92E4-6961B7726ACC}"/>
              </a:ext>
            </a:extLst>
          </p:cNvPr>
          <p:cNvSpPr>
            <a:spLocks xmlns:a="http://schemas.openxmlformats.org/drawingml/2006/main" noGrp="1"/>
          </p:cNvSpPr>
          <p:nvPr/>
        </p:nvSpPr>
        <p:spPr>
          <a:xfrm xmlns:a="http://schemas.openxmlformats.org/drawingml/2006/main">
            <a:off x="3476625" y="2066925"/>
            <a:ext cx="7762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2338"/>
                </a:solidFill>
                <a:latin typeface="Arial"/>
                <a:ea typeface="Arial"/>
                <a:cs typeface="Arial"/>
              </a:defRPr>
            </a:pPr>
            <a:r>
              <a:rPr sz="2250" b="0">
                <a:solidFill>
                  <a:srgbClr val="122338"/>
                </a:solidFill>
                <a:latin typeface="Arial"/>
                <a:ea typeface="Arial"/>
                <a:cs typeface="Arial"/>
              </a:rPr>
              <a:t>Message model and stream decoding</a:t>
            </a:r>
          </a:p>
        </p:txBody>
      </p:sp>
      <p:sp>
        <p:nvSpPr>
          <p:cNvPr id="5" name="">
            <a:extLst xmlns:a="http://schemas.openxmlformats.org/drawingml/2006/main">
              <a:ext uri="{FF2B5EF4-FFF2-40B4-BE49-F238E27FC236}">
                <a16:creationId xmlns:a16="http://schemas.microsoft.com/office/drawing/2014/main" id="{3E820B36-5E9C-483C-9453-46BD525AAFD7}"/>
              </a:ext>
            </a:extLst>
          </p:cNvPr>
          <p:cNvSpPr>
            <a:spLocks xmlns:a="http://schemas.openxmlformats.org/drawingml/2006/main" noGrp="1"/>
          </p:cNvSpPr>
          <p:nvPr/>
        </p:nvSpPr>
        <p:spPr>
          <a:xfrm xmlns:a="http://schemas.openxmlformats.org/drawingml/2006/main">
            <a:off x="3476625" y="25336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76574"/>
                </a:solidFill>
                <a:latin typeface="Arial"/>
                <a:ea typeface="Arial"/>
                <a:cs typeface="Arial"/>
              </a:defRPr>
            </a:pPr>
            <a:r>
              <a:rPr sz="1575" b="0">
                <a:solidFill>
                  <a:srgbClr val="576574"/>
                </a:solidFill>
                <a:latin typeface="Arial"/>
                <a:ea typeface="Arial"/>
                <a:cs typeface="Arial"/>
              </a:rPr>
              <a:t>Code + documentation: Kun Qian</a:t>
            </a:r>
          </a:p>
        </p:txBody>
      </p:sp>
      <p:sp>
        <p:nvSpPr>
          <p:cNvPr id="6" name="">
            <a:extLst xmlns:a="http://schemas.openxmlformats.org/drawingml/2006/main">
              <a:ext uri="{FF2B5EF4-FFF2-40B4-BE49-F238E27FC236}">
                <a16:creationId xmlns:a16="http://schemas.microsoft.com/office/drawing/2014/main" id="{A4A6D4B9-FEAE-4336-B91C-82BD1DD13FB4}"/>
              </a:ext>
            </a:extLst>
          </p:cNvPr>
          <p:cNvSpPr>
            <a:spLocks xmlns:a="http://schemas.openxmlformats.org/drawingml/2006/main" noGrp="1"/>
          </p:cNvSpPr>
          <p:nvPr/>
        </p:nvSpPr>
        <p:spPr>
          <a:xfrm xmlns:a="http://schemas.openxmlformats.org/drawingml/2006/main">
            <a:off x="685800" y="33242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854C5"/>
                </a:solidFill>
                <a:latin typeface="Arial"/>
                <a:ea typeface="Arial"/>
                <a:cs typeface="Arial"/>
              </a:defRPr>
            </a:pPr>
            <a:r>
              <a:rPr sz="3000" b="1">
                <a:solidFill>
                  <a:srgbClr val="2854C5"/>
                </a:solidFill>
                <a:latin typeface="Arial"/>
                <a:ea typeface="Arial"/>
                <a:cs typeface="Arial"/>
              </a:rPr>
              <a:t>server</a:t>
            </a:r>
          </a:p>
        </p:txBody>
      </p:sp>
      <p:sp>
        <p:nvSpPr>
          <p:cNvPr id="7" name="">
            <a:extLst xmlns:a="http://schemas.openxmlformats.org/drawingml/2006/main">
              <a:ext uri="{FF2B5EF4-FFF2-40B4-BE49-F238E27FC236}">
                <a16:creationId xmlns:a16="http://schemas.microsoft.com/office/drawing/2014/main" id="{F9A1E06D-9D05-4E73-94AB-7200C76AC556}"/>
              </a:ext>
            </a:extLst>
          </p:cNvPr>
          <p:cNvSpPr>
            <a:spLocks xmlns:a="http://schemas.openxmlformats.org/drawingml/2006/main" noGrp="1"/>
          </p:cNvSpPr>
          <p:nvPr/>
        </p:nvSpPr>
        <p:spPr>
          <a:xfrm xmlns:a="http://schemas.openxmlformats.org/drawingml/2006/main">
            <a:off x="3476625" y="3324225"/>
            <a:ext cx="7762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2338"/>
                </a:solidFill>
                <a:latin typeface="Arial"/>
                <a:ea typeface="Arial"/>
                <a:cs typeface="Arial"/>
              </a:defRPr>
            </a:pPr>
            <a:r>
              <a:rPr sz="2250" b="0">
                <a:solidFill>
                  <a:srgbClr val="122338"/>
                </a:solidFill>
                <a:latin typeface="Arial"/>
                <a:ea typeface="Arial"/>
                <a:cs typeface="Arial"/>
              </a:rPr>
              <a:t>Client sessions, state and routing</a:t>
            </a:r>
          </a:p>
        </p:txBody>
      </p:sp>
      <p:sp>
        <p:nvSpPr>
          <p:cNvPr id="8" name="">
            <a:extLst xmlns:a="http://schemas.openxmlformats.org/drawingml/2006/main">
              <a:ext uri="{FF2B5EF4-FFF2-40B4-BE49-F238E27FC236}">
                <a16:creationId xmlns:a16="http://schemas.microsoft.com/office/drawing/2014/main" id="{1068ACAD-D4AB-4B5E-971A-2EC7F5C8207A}"/>
              </a:ext>
            </a:extLst>
          </p:cNvPr>
          <p:cNvSpPr>
            <a:spLocks xmlns:a="http://schemas.openxmlformats.org/drawingml/2006/main" noGrp="1"/>
          </p:cNvSpPr>
          <p:nvPr/>
        </p:nvSpPr>
        <p:spPr>
          <a:xfrm xmlns:a="http://schemas.openxmlformats.org/drawingml/2006/main">
            <a:off x="3476625" y="37909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76574"/>
                </a:solidFill>
                <a:latin typeface="Arial"/>
                <a:ea typeface="Arial"/>
                <a:cs typeface="Arial"/>
              </a:defRPr>
            </a:pPr>
            <a:r>
              <a:rPr sz="1575" b="0">
                <a:solidFill>
                  <a:srgbClr val="576574"/>
                </a:solidFill>
                <a:latin typeface="Arial"/>
                <a:ea typeface="Arial"/>
                <a:cs typeface="Arial"/>
              </a:rPr>
              <a:t>Code + documentation: Yibo Xu · Jingsong She</a:t>
            </a:r>
          </a:p>
        </p:txBody>
      </p:sp>
      <p:sp>
        <p:nvSpPr>
          <p:cNvPr id="9" name="">
            <a:extLst xmlns:a="http://schemas.openxmlformats.org/drawingml/2006/main">
              <a:ext uri="{FF2B5EF4-FFF2-40B4-BE49-F238E27FC236}">
                <a16:creationId xmlns:a16="http://schemas.microsoft.com/office/drawing/2014/main" id="{9968A731-371A-4F7D-8F26-48AABC843F77}"/>
              </a:ext>
            </a:extLst>
          </p:cNvPr>
          <p:cNvSpPr>
            <a:spLocks xmlns:a="http://schemas.openxmlformats.org/drawingml/2006/main" noGrp="1"/>
          </p:cNvSpPr>
          <p:nvPr/>
        </p:nvSpPr>
        <p:spPr>
          <a:xfrm xmlns:a="http://schemas.openxmlformats.org/drawingml/2006/main">
            <a:off x="685800" y="45815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854C5"/>
                </a:solidFill>
                <a:latin typeface="Arial"/>
                <a:ea typeface="Arial"/>
                <a:cs typeface="Arial"/>
              </a:defRPr>
            </a:pPr>
            <a:r>
              <a:rPr sz="3000" b="1">
                <a:solidFill>
                  <a:srgbClr val="2854C5"/>
                </a:solidFill>
                <a:latin typeface="Arial"/>
                <a:ea typeface="Arial"/>
                <a:cs typeface="Arial"/>
              </a:rPr>
              <a:t>bot</a:t>
            </a:r>
          </a:p>
        </p:txBody>
      </p:sp>
      <p:sp>
        <p:nvSpPr>
          <p:cNvPr id="10" name="">
            <a:extLst xmlns:a="http://schemas.openxmlformats.org/drawingml/2006/main">
              <a:ext uri="{FF2B5EF4-FFF2-40B4-BE49-F238E27FC236}">
                <a16:creationId xmlns:a16="http://schemas.microsoft.com/office/drawing/2014/main" id="{42375768-CC92-4ECF-AE60-DA8C570FA373}"/>
              </a:ext>
            </a:extLst>
          </p:cNvPr>
          <p:cNvSpPr>
            <a:spLocks xmlns:a="http://schemas.openxmlformats.org/drawingml/2006/main" noGrp="1"/>
          </p:cNvSpPr>
          <p:nvPr/>
        </p:nvSpPr>
        <p:spPr>
          <a:xfrm xmlns:a="http://schemas.openxmlformats.org/drawingml/2006/main">
            <a:off x="3476625" y="4581525"/>
            <a:ext cx="7762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2338"/>
                </a:solidFill>
                <a:latin typeface="Arial"/>
                <a:ea typeface="Arial"/>
                <a:cs typeface="Arial"/>
              </a:defRPr>
            </a:pPr>
            <a:r>
              <a:rPr sz="2250" b="0">
                <a:solidFill>
                  <a:srgbClr val="122338"/>
                </a:solidFill>
                <a:latin typeface="Arial"/>
                <a:ea typeface="Arial"/>
                <a:cs typeface="Arial"/>
              </a:rPr>
              <a:t>Connection, membership and commands</a:t>
            </a:r>
          </a:p>
        </p:txBody>
      </p:sp>
      <p:sp>
        <p:nvSpPr>
          <p:cNvPr id="11" name="">
            <a:extLst xmlns:a="http://schemas.openxmlformats.org/drawingml/2006/main">
              <a:ext uri="{FF2B5EF4-FFF2-40B4-BE49-F238E27FC236}">
                <a16:creationId xmlns:a16="http://schemas.microsoft.com/office/drawing/2014/main" id="{CCC89D34-80A7-4D2A-8392-25F3A6353335}"/>
              </a:ext>
            </a:extLst>
          </p:cNvPr>
          <p:cNvSpPr>
            <a:spLocks xmlns:a="http://schemas.openxmlformats.org/drawingml/2006/main" noGrp="1"/>
          </p:cNvSpPr>
          <p:nvPr/>
        </p:nvSpPr>
        <p:spPr>
          <a:xfrm xmlns:a="http://schemas.openxmlformats.org/drawingml/2006/main">
            <a:off x="3476625" y="50482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76574"/>
                </a:solidFill>
                <a:latin typeface="Arial"/>
                <a:ea typeface="Arial"/>
                <a:cs typeface="Arial"/>
              </a:defRPr>
            </a:pPr>
            <a:r>
              <a:rPr sz="1575" b="0">
                <a:solidFill>
                  <a:srgbClr val="576574"/>
                </a:solidFill>
                <a:latin typeface="Arial"/>
                <a:ea typeface="Arial"/>
                <a:cs typeface="Arial"/>
              </a:rPr>
              <a:t>Code + documentation: Tianxing Wei · Li Yuzong</a:t>
            </a:r>
          </a:p>
        </p:txBody>
      </p:sp>
    </p:spTree>
    <p:extLst>
      <p:ext uri="{BB962C8B-B14F-4D97-AF65-F5344CB8AC3E}">
        <p14:creationId xmlns:p14="http://schemas.microsoft.com/office/powerpoint/2010/main" val="143945754"/>
      </p:ext>
    </p:extLst>
  </p:cSld>
</p:sld>
</file>

<file path=ppt/slides/slide3.xml><?xml version="1.0" encoding="utf-8"?>
<p:sld xmlns:p="http://schemas.openxmlformats.org/presentationml/2006/main">
  <p:cSld>
    <p:bg>
      <p:bgPr>
        <a:solidFill xmlns:a="http://schemas.openxmlformats.org/drawingml/2006/main">
          <a:srgbClr val="1223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0225B3D-B3F9-4962-8F8D-9078D0E6065F}"/>
              </a:ext>
            </a:extLst>
          </p:cNvPr>
          <p:cNvSpPr>
            <a:spLocks xmlns:a="http://schemas.openxmlformats.org/drawingml/2006/main" noGrp="1"/>
          </p:cNvSpPr>
          <p:nvPr/>
        </p:nvSpPr>
        <p:spPr>
          <a:xfrm xmlns:a="http://schemas.openxmlformats.org/drawingml/2006/main">
            <a:off x="685800" y="5905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5EF"/>
                </a:solidFill>
                <a:latin typeface="Arial"/>
                <a:ea typeface="Arial"/>
                <a:cs typeface="Arial"/>
              </a:defRPr>
            </a:pPr>
            <a:r>
              <a:rPr sz="3600" b="1">
                <a:solidFill>
                  <a:srgbClr val="F7F5EF"/>
                </a:solidFill>
                <a:latin typeface="Arial"/>
                <a:ea typeface="Arial"/>
                <a:cs typeface="Arial"/>
              </a:rPr>
              <a:t>Protocol foundation</a:t>
            </a:r>
          </a:p>
        </p:txBody>
      </p:sp>
      <p:sp>
        <p:nvSpPr>
          <p:cNvPr id="2" name="">
            <a:extLst xmlns:a="http://schemas.openxmlformats.org/drawingml/2006/main">
              <a:ext uri="{FF2B5EF4-FFF2-40B4-BE49-F238E27FC236}">
                <a16:creationId xmlns:a16="http://schemas.microsoft.com/office/drawing/2014/main" id="{9876ADCA-30FE-4AEA-8C76-84551548D3D8}"/>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4EF"/>
                </a:solidFill>
                <a:latin typeface="Arial"/>
                <a:ea typeface="Arial"/>
                <a:cs typeface="Arial"/>
              </a:defRPr>
            </a:pPr>
            <a:r>
              <a:rPr sz="1350" b="0">
                <a:solidFill>
                  <a:srgbClr val="B9D4E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5C45504-20F9-451B-8846-974373D64039}"/>
              </a:ext>
            </a:extLst>
          </p:cNvPr>
          <p:cNvSpPr>
            <a:spLocks xmlns:a="http://schemas.openxmlformats.org/drawingml/2006/main" noGrp="1"/>
          </p:cNvSpPr>
          <p:nvPr/>
        </p:nvSpPr>
        <p:spPr>
          <a:xfrm xmlns:a="http://schemas.openxmlformats.org/drawingml/2006/main">
            <a:off x="685800" y="20764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9D4EF"/>
                </a:solidFill>
                <a:latin typeface="Arial"/>
                <a:ea typeface="Arial"/>
                <a:cs typeface="Arial"/>
              </a:defRPr>
            </a:pPr>
            <a:r>
              <a:rPr sz="2925" b="1">
                <a:solidFill>
                  <a:srgbClr val="B9D4EF"/>
                </a:solidFill>
                <a:latin typeface="Arial"/>
                <a:ea typeface="Arial"/>
                <a:cs typeface="Arial"/>
              </a:rPr>
              <a:t>:alice!u@host  PRIVMSG  #hello  :Hi Bob</a:t>
            </a:r>
          </a:p>
        </p:txBody>
      </p:sp>
      <p:sp>
        <p:nvSpPr>
          <p:cNvPr id="4" name="">
            <a:extLst xmlns:a="http://schemas.openxmlformats.org/drawingml/2006/main">
              <a:ext uri="{FF2B5EF4-FFF2-40B4-BE49-F238E27FC236}">
                <a16:creationId xmlns:a16="http://schemas.microsoft.com/office/drawing/2014/main" id="{3F032911-B724-4E94-9DEB-5172EBE94057}"/>
              </a:ext>
            </a:extLst>
          </p:cNvPr>
          <p:cNvSpPr>
            <a:spLocks xmlns:a="http://schemas.openxmlformats.org/drawingml/2006/main" noGrp="1"/>
          </p:cNvSpPr>
          <p:nvPr/>
        </p:nvSpPr>
        <p:spPr>
          <a:xfrm xmlns:a="http://schemas.openxmlformats.org/drawingml/2006/main">
            <a:off x="685800" y="32099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D4EF"/>
                </a:solidFill>
                <a:latin typeface="Arial"/>
                <a:ea typeface="Arial"/>
                <a:cs typeface="Arial"/>
              </a:defRPr>
            </a:pPr>
            <a:r>
              <a:rPr sz="1500" b="1">
                <a:solidFill>
                  <a:srgbClr val="B9D4EF"/>
                </a:solidFill>
                <a:latin typeface="Arial"/>
                <a:ea typeface="Arial"/>
                <a:cs typeface="Arial"/>
              </a:rPr>
              <a:t>PREFIX</a:t>
            </a:r>
          </a:p>
        </p:txBody>
      </p:sp>
      <p:sp>
        <p:nvSpPr>
          <p:cNvPr id="5" name="">
            <a:extLst xmlns:a="http://schemas.openxmlformats.org/drawingml/2006/main">
              <a:ext uri="{FF2B5EF4-FFF2-40B4-BE49-F238E27FC236}">
                <a16:creationId xmlns:a16="http://schemas.microsoft.com/office/drawing/2014/main" id="{D186B554-4B10-42EF-A74D-B596D20246DF}"/>
              </a:ext>
            </a:extLst>
          </p:cNvPr>
          <p:cNvSpPr>
            <a:spLocks xmlns:a="http://schemas.openxmlformats.org/drawingml/2006/main" noGrp="1"/>
          </p:cNvSpPr>
          <p:nvPr/>
        </p:nvSpPr>
        <p:spPr>
          <a:xfrm xmlns:a="http://schemas.openxmlformats.org/drawingml/2006/main">
            <a:off x="685800" y="36480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7F5EF"/>
                </a:solidFill>
                <a:latin typeface="Arial"/>
                <a:ea typeface="Arial"/>
                <a:cs typeface="Arial"/>
              </a:defRPr>
            </a:pPr>
            <a:r>
              <a:rPr sz="2400" b="0">
                <a:solidFill>
                  <a:srgbClr val="F7F5EF"/>
                </a:solidFill>
                <a:latin typeface="Arial"/>
                <a:ea typeface="Arial"/>
                <a:cs typeface="Arial"/>
              </a:rPr>
              <a:t>alice!u@host</a:t>
            </a:r>
          </a:p>
        </p:txBody>
      </p:sp>
      <p:sp>
        <p:nvSpPr>
          <p:cNvPr id="6" name="">
            <a:extLst xmlns:a="http://schemas.openxmlformats.org/drawingml/2006/main">
              <a:ext uri="{FF2B5EF4-FFF2-40B4-BE49-F238E27FC236}">
                <a16:creationId xmlns:a16="http://schemas.microsoft.com/office/drawing/2014/main" id="{694B430D-C3C3-404C-BF0D-4061C55814CE}"/>
              </a:ext>
            </a:extLst>
          </p:cNvPr>
          <p:cNvSpPr>
            <a:spLocks xmlns:a="http://schemas.openxmlformats.org/drawingml/2006/main" noGrp="1"/>
          </p:cNvSpPr>
          <p:nvPr/>
        </p:nvSpPr>
        <p:spPr>
          <a:xfrm xmlns:a="http://schemas.openxmlformats.org/drawingml/2006/main">
            <a:off x="4391025" y="32099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D4EF"/>
                </a:solidFill>
                <a:latin typeface="Arial"/>
                <a:ea typeface="Arial"/>
                <a:cs typeface="Arial"/>
              </a:defRPr>
            </a:pPr>
            <a:r>
              <a:rPr sz="1500" b="1">
                <a:solidFill>
                  <a:srgbClr val="B9D4EF"/>
                </a:solidFill>
                <a:latin typeface="Arial"/>
                <a:ea typeface="Arial"/>
                <a:cs typeface="Arial"/>
              </a:rPr>
              <a:t>COMMAND</a:t>
            </a:r>
          </a:p>
        </p:txBody>
      </p:sp>
      <p:sp>
        <p:nvSpPr>
          <p:cNvPr id="7" name="">
            <a:extLst xmlns:a="http://schemas.openxmlformats.org/drawingml/2006/main">
              <a:ext uri="{FF2B5EF4-FFF2-40B4-BE49-F238E27FC236}">
                <a16:creationId xmlns:a16="http://schemas.microsoft.com/office/drawing/2014/main" id="{DC82F7D1-01C6-4194-A9A8-2D8F3FA7CC36}"/>
              </a:ext>
            </a:extLst>
          </p:cNvPr>
          <p:cNvSpPr>
            <a:spLocks xmlns:a="http://schemas.openxmlformats.org/drawingml/2006/main" noGrp="1"/>
          </p:cNvSpPr>
          <p:nvPr/>
        </p:nvSpPr>
        <p:spPr>
          <a:xfrm xmlns:a="http://schemas.openxmlformats.org/drawingml/2006/main">
            <a:off x="4391025" y="36480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7F5EF"/>
                </a:solidFill>
                <a:latin typeface="Arial"/>
                <a:ea typeface="Arial"/>
                <a:cs typeface="Arial"/>
              </a:defRPr>
            </a:pPr>
            <a:r>
              <a:rPr sz="2400" b="0">
                <a:solidFill>
                  <a:srgbClr val="F7F5EF"/>
                </a:solidFill>
                <a:latin typeface="Arial"/>
                <a:ea typeface="Arial"/>
                <a:cs typeface="Arial"/>
              </a:rPr>
              <a:t>PRIVMSG</a:t>
            </a:r>
          </a:p>
        </p:txBody>
      </p:sp>
      <p:sp>
        <p:nvSpPr>
          <p:cNvPr id="8" name="">
            <a:extLst xmlns:a="http://schemas.openxmlformats.org/drawingml/2006/main">
              <a:ext uri="{FF2B5EF4-FFF2-40B4-BE49-F238E27FC236}">
                <a16:creationId xmlns:a16="http://schemas.microsoft.com/office/drawing/2014/main" id="{8C297943-5C95-484E-8557-CA6176712C1F}"/>
              </a:ext>
            </a:extLst>
          </p:cNvPr>
          <p:cNvSpPr>
            <a:spLocks xmlns:a="http://schemas.openxmlformats.org/drawingml/2006/main" noGrp="1"/>
          </p:cNvSpPr>
          <p:nvPr/>
        </p:nvSpPr>
        <p:spPr>
          <a:xfrm xmlns:a="http://schemas.openxmlformats.org/drawingml/2006/main">
            <a:off x="8096250" y="32099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D4EF"/>
                </a:solidFill>
                <a:latin typeface="Arial"/>
                <a:ea typeface="Arial"/>
                <a:cs typeface="Arial"/>
              </a:defRPr>
            </a:pPr>
            <a:r>
              <a:rPr sz="1500" b="1">
                <a:solidFill>
                  <a:srgbClr val="B9D4EF"/>
                </a:solidFill>
                <a:latin typeface="Arial"/>
                <a:ea typeface="Arial"/>
                <a:cs typeface="Arial"/>
              </a:rPr>
              <a:t>PARAMETERS</a:t>
            </a:r>
          </a:p>
        </p:txBody>
      </p:sp>
      <p:sp>
        <p:nvSpPr>
          <p:cNvPr id="9" name="">
            <a:extLst xmlns:a="http://schemas.openxmlformats.org/drawingml/2006/main">
              <a:ext uri="{FF2B5EF4-FFF2-40B4-BE49-F238E27FC236}">
                <a16:creationId xmlns:a16="http://schemas.microsoft.com/office/drawing/2014/main" id="{9EABAB43-9944-4DAC-83F4-4DE0423ACC83}"/>
              </a:ext>
            </a:extLst>
          </p:cNvPr>
          <p:cNvSpPr>
            <a:spLocks xmlns:a="http://schemas.openxmlformats.org/drawingml/2006/main" noGrp="1"/>
          </p:cNvSpPr>
          <p:nvPr/>
        </p:nvSpPr>
        <p:spPr>
          <a:xfrm xmlns:a="http://schemas.openxmlformats.org/drawingml/2006/main">
            <a:off x="8096250" y="36480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7F5EF"/>
                </a:solidFill>
                <a:latin typeface="Arial"/>
                <a:ea typeface="Arial"/>
                <a:cs typeface="Arial"/>
              </a:defRPr>
            </a:pPr>
            <a:r>
              <a:rPr sz="2400" b="0">
                <a:solidFill>
                  <a:srgbClr val="F7F5EF"/>
                </a:solidFill>
                <a:latin typeface="Arial"/>
                <a:ea typeface="Arial"/>
                <a:cs typeface="Arial"/>
              </a:rPr>
              <a:t>#hello, Hi Bob</a:t>
            </a:r>
          </a:p>
        </p:txBody>
      </p:sp>
      <p:sp>
        <p:nvSpPr>
          <p:cNvPr id="10" name="">
            <a:extLst xmlns:a="http://schemas.openxmlformats.org/drawingml/2006/main">
              <a:ext uri="{FF2B5EF4-FFF2-40B4-BE49-F238E27FC236}">
                <a16:creationId xmlns:a16="http://schemas.microsoft.com/office/drawing/2014/main" id="{1A99833D-24D7-45D7-A377-5CB767AC69C9}"/>
              </a:ext>
            </a:extLst>
          </p:cNvPr>
          <p:cNvSpPr>
            <a:spLocks xmlns:a="http://schemas.openxmlformats.org/drawingml/2006/main" noGrp="1"/>
          </p:cNvSpPr>
          <p:nvPr/>
        </p:nvSpPr>
        <p:spPr>
          <a:xfrm xmlns:a="http://schemas.openxmlformats.org/drawingml/2006/main">
            <a:off x="685800" y="49053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7F5EF"/>
                </a:solidFill>
                <a:latin typeface="Arial"/>
                <a:ea typeface="Arial"/>
                <a:cs typeface="Arial"/>
              </a:defRPr>
            </a:pPr>
            <a:r>
              <a:rPr sz="2325" b="1">
                <a:solidFill>
                  <a:srgbClr val="F7F5EF"/>
                </a:solidFill>
                <a:latin typeface="Arial"/>
                <a:ea typeface="Arial"/>
                <a:cs typeface="Arial"/>
              </a:rPr>
              <a:t>IRCStreamDecoder</a:t>
            </a:r>
          </a:p>
        </p:txBody>
      </p:sp>
      <p:sp>
        <p:nvSpPr>
          <p:cNvPr id="11" name="">
            <a:extLst xmlns:a="http://schemas.openxmlformats.org/drawingml/2006/main">
              <a:ext uri="{FF2B5EF4-FFF2-40B4-BE49-F238E27FC236}">
                <a16:creationId xmlns:a16="http://schemas.microsoft.com/office/drawing/2014/main" id="{4C9935A6-0190-48D9-BB30-16530F09D11B}"/>
              </a:ext>
            </a:extLst>
          </p:cNvPr>
          <p:cNvSpPr>
            <a:spLocks xmlns:a="http://schemas.openxmlformats.org/drawingml/2006/main" noGrp="1"/>
          </p:cNvSpPr>
          <p:nvPr/>
        </p:nvSpPr>
        <p:spPr>
          <a:xfrm xmlns:a="http://schemas.openxmlformats.org/drawingml/2006/main">
            <a:off x="685800" y="54197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9D4EF"/>
                </a:solidFill>
                <a:latin typeface="Arial"/>
                <a:ea typeface="Arial"/>
                <a:cs typeface="Arial"/>
              </a:defRPr>
            </a:pPr>
            <a:r>
              <a:rPr sz="1875" b="0">
                <a:solidFill>
                  <a:srgbClr val="B9D4EF"/>
                </a:solidFill>
                <a:latin typeface="Arial"/>
                <a:ea typeface="Arial"/>
                <a:cs typeface="Arial"/>
              </a:rPr>
              <a:t>Buffers split lines and separates complete messages</a:t>
            </a:r>
          </a:p>
        </p:txBody>
      </p:sp>
      <p:sp>
        <p:nvSpPr>
          <p:cNvPr id="12" name="">
            <a:extLst xmlns:a="http://schemas.openxmlformats.org/drawingml/2006/main">
              <a:ext uri="{FF2B5EF4-FFF2-40B4-BE49-F238E27FC236}">
                <a16:creationId xmlns:a16="http://schemas.microsoft.com/office/drawing/2014/main" id="{7A629980-0689-4731-9D64-BF40EB919714}"/>
              </a:ext>
            </a:extLst>
          </p:cNvPr>
          <p:cNvSpPr>
            <a:spLocks xmlns:a="http://schemas.openxmlformats.org/drawingml/2006/main" noGrp="1"/>
          </p:cNvSpPr>
          <p:nvPr/>
        </p:nvSpPr>
        <p:spPr>
          <a:xfrm xmlns:a="http://schemas.openxmlformats.org/drawingml/2006/main">
            <a:off x="6600825" y="49053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7F5EF"/>
                </a:solidFill>
                <a:latin typeface="Arial"/>
                <a:ea typeface="Arial"/>
                <a:cs typeface="Arial"/>
              </a:defRPr>
            </a:pPr>
            <a:r>
              <a:rPr sz="2325" b="1">
                <a:solidFill>
                  <a:srgbClr val="F7F5EF"/>
                </a:solidFill>
                <a:latin typeface="Arial"/>
                <a:ea typeface="Arial"/>
                <a:cs typeface="Arial"/>
              </a:rPr>
              <a:t>IRCMessage</a:t>
            </a:r>
          </a:p>
        </p:txBody>
      </p:sp>
      <p:sp>
        <p:nvSpPr>
          <p:cNvPr id="13" name="">
            <a:extLst xmlns:a="http://schemas.openxmlformats.org/drawingml/2006/main">
              <a:ext uri="{FF2B5EF4-FFF2-40B4-BE49-F238E27FC236}">
                <a16:creationId xmlns:a16="http://schemas.microsoft.com/office/drawing/2014/main" id="{00633BCC-EE67-4BAE-91C9-1D2CA8EAC211}"/>
              </a:ext>
            </a:extLst>
          </p:cNvPr>
          <p:cNvSpPr>
            <a:spLocks xmlns:a="http://schemas.openxmlformats.org/drawingml/2006/main" noGrp="1"/>
          </p:cNvSpPr>
          <p:nvPr/>
        </p:nvSpPr>
        <p:spPr>
          <a:xfrm xmlns:a="http://schemas.openxmlformats.org/drawingml/2006/main">
            <a:off x="6600825" y="54197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9D4EF"/>
                </a:solidFill>
                <a:latin typeface="Arial"/>
                <a:ea typeface="Arial"/>
                <a:cs typeface="Arial"/>
              </a:defRPr>
            </a:pPr>
            <a:r>
              <a:rPr sz="1875" b="0">
                <a:solidFill>
                  <a:srgbClr val="B9D4EF"/>
                </a:solidFill>
                <a:latin typeface="Arial"/>
                <a:ea typeface="Arial"/>
                <a:cs typeface="Arial"/>
              </a:rPr>
              <a:t>Parses and serializes IRC fields</a:t>
            </a:r>
          </a:p>
          <a:p xmlns:a="http://schemas.openxmlformats.org/drawingml/2006/main">
            <a:pPr>
              <a:defRPr sz="1875" b="0">
                <a:solidFill>
                  <a:srgbClr val="B9D4EF"/>
                </a:solidFill>
                <a:latin typeface="Arial"/>
                <a:ea typeface="Arial"/>
                <a:cs typeface="Arial"/>
              </a:defRPr>
            </a:pPr>
            <a:r>
              <a:rPr sz="1875" b="0">
                <a:solidFill>
                  <a:srgbClr val="B9D4EF"/>
                </a:solidFill>
                <a:latin typeface="Arial"/>
                <a:ea typeface="Arial"/>
                <a:cs typeface="Arial"/>
              </a:rPr>
              <a:t>UTF-8 and 512-byte line checks</a:t>
            </a:r>
          </a:p>
        </p:txBody>
      </p:sp>
    </p:spTree>
    <p:extLst>
      <p:ext uri="{BB962C8B-B14F-4D97-AF65-F5344CB8AC3E}">
        <p14:creationId xmlns:p14="http://schemas.microsoft.com/office/powerpoint/2010/main" val="127706836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D22A17-497C-4E0B-8505-5706A26CC925}"/>
              </a:ext>
            </a:extLst>
          </p:cNvPr>
          <p:cNvSpPr>
            <a:spLocks xmlns:a="http://schemas.openxmlformats.org/drawingml/2006/main" noGrp="1"/>
          </p:cNvSpPr>
          <p:nvPr/>
        </p:nvSpPr>
        <p:spPr>
          <a:xfrm xmlns:a="http://schemas.openxmlformats.org/drawingml/2006/main">
            <a:off x="685800" y="5905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2338"/>
                </a:solidFill>
                <a:latin typeface="Arial"/>
                <a:ea typeface="Arial"/>
                <a:cs typeface="Arial"/>
              </a:defRPr>
            </a:pPr>
            <a:r>
              <a:rPr sz="3600" b="1">
                <a:solidFill>
                  <a:srgbClr val="122338"/>
                </a:solidFill>
                <a:latin typeface="Arial"/>
                <a:ea typeface="Arial"/>
                <a:cs typeface="Arial"/>
              </a:rPr>
              <a:t>Bot functionality</a:t>
            </a:r>
          </a:p>
        </p:txBody>
      </p:sp>
      <p:sp>
        <p:nvSpPr>
          <p:cNvPr id="2" name="">
            <a:extLst xmlns:a="http://schemas.openxmlformats.org/drawingml/2006/main">
              <a:ext uri="{FF2B5EF4-FFF2-40B4-BE49-F238E27FC236}">
                <a16:creationId xmlns:a16="http://schemas.microsoft.com/office/drawing/2014/main" id="{9AA2FDF0-1F62-4163-B7B5-DA2BFC6D49DD}"/>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76574"/>
                </a:solidFill>
                <a:latin typeface="Arial"/>
                <a:ea typeface="Arial"/>
                <a:cs typeface="Arial"/>
              </a:defRPr>
            </a:pPr>
            <a:r>
              <a:rPr sz="1350" b="0">
                <a:solidFill>
                  <a:srgbClr val="576574"/>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177F17F-3E96-4FCD-B5F4-BE731FE1523A}"/>
              </a:ext>
            </a:extLst>
          </p:cNvPr>
          <p:cNvSpPr>
            <a:spLocks xmlns:a="http://schemas.openxmlformats.org/drawingml/2006/main" noGrp="1"/>
          </p:cNvSpPr>
          <p:nvPr/>
        </p:nvSpPr>
        <p:spPr>
          <a:xfrm xmlns:a="http://schemas.openxmlformats.org/drawingml/2006/main">
            <a:off x="685800" y="19335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54C5"/>
                </a:solidFill>
                <a:latin typeface="Arial"/>
                <a:ea typeface="Arial"/>
                <a:cs typeface="Arial"/>
              </a:defRPr>
            </a:pPr>
            <a:r>
              <a:rPr sz="2400" b="1">
                <a:solidFill>
                  <a:srgbClr val="2854C5"/>
                </a:solidFill>
                <a:latin typeface="Arial"/>
                <a:ea typeface="Arial"/>
                <a:cs typeface="Arial"/>
              </a:rPr>
              <a:t>Connect and stay online</a:t>
            </a:r>
          </a:p>
        </p:txBody>
      </p:sp>
      <p:sp>
        <p:nvSpPr>
          <p:cNvPr id="4" name="">
            <a:extLst xmlns:a="http://schemas.openxmlformats.org/drawingml/2006/main">
              <a:ext uri="{FF2B5EF4-FFF2-40B4-BE49-F238E27FC236}">
                <a16:creationId xmlns:a16="http://schemas.microsoft.com/office/drawing/2014/main" id="{1D365250-5492-40DA-B8FE-FBA2E4DD95F2}"/>
              </a:ext>
            </a:extLst>
          </p:cNvPr>
          <p:cNvSpPr>
            <a:spLocks xmlns:a="http://schemas.openxmlformats.org/drawingml/2006/main" noGrp="1"/>
          </p:cNvSpPr>
          <p:nvPr/>
        </p:nvSpPr>
        <p:spPr>
          <a:xfrm xmlns:a="http://schemas.openxmlformats.org/drawingml/2006/main">
            <a:off x="685800" y="2600325"/>
            <a:ext cx="46958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338"/>
                </a:solidFill>
                <a:latin typeface="Arial"/>
                <a:ea typeface="Arial"/>
                <a:cs typeface="Arial"/>
              </a:defRPr>
            </a:pPr>
            <a:r>
              <a:rPr sz="2025" b="0">
                <a:solidFill>
                  <a:srgbClr val="122338"/>
                </a:solidFill>
                <a:latin typeface="Arial"/>
                <a:ea typeface="Arial"/>
                <a:cs typeface="Arial"/>
              </a:rPr>
              <a:t>IPv6 connection</a:t>
            </a:r>
          </a:p>
          <a:p xmlns:a="http://schemas.openxmlformats.org/drawingml/2006/main">
            <a:pPr>
              <a:defRPr sz="2025" b="0">
                <a:solidFill>
                  <a:srgbClr val="122338"/>
                </a:solidFill>
                <a:latin typeface="Arial"/>
                <a:ea typeface="Arial"/>
                <a:cs typeface="Arial"/>
              </a:defRPr>
            </a:pPr>
            <a:r>
              <a:rPr sz="2025" b="0">
                <a:solidFill>
                  <a:srgbClr val="122338"/>
                </a:solidFill>
                <a:latin typeface="Arial"/>
                <a:ea typeface="Arial"/>
                <a:cs typeface="Arial"/>
              </a:rPr>
              <a:t>NICK + USER, then 001 and JOIN</a:t>
            </a:r>
          </a:p>
          <a:p xmlns:a="http://schemas.openxmlformats.org/drawingml/2006/main">
            <a:pPr>
              <a:defRPr sz="2025" b="0">
                <a:solidFill>
                  <a:srgbClr val="122338"/>
                </a:solidFill>
                <a:latin typeface="Arial"/>
                <a:ea typeface="Arial"/>
                <a:cs typeface="Arial"/>
              </a:defRPr>
            </a:pPr>
            <a:r>
              <a:rPr sz="2025" b="0">
                <a:solidFill>
                  <a:srgbClr val="122338"/>
                </a:solidFill>
                <a:latin typeface="Arial"/>
                <a:ea typeface="Arial"/>
                <a:cs typeface="Arial"/>
              </a:rPr>
              <a:t>PING / PONG and delayed reconnect</a:t>
            </a:r>
          </a:p>
        </p:txBody>
      </p:sp>
      <p:sp>
        <p:nvSpPr>
          <p:cNvPr id="5" name="">
            <a:extLst xmlns:a="http://schemas.openxmlformats.org/drawingml/2006/main">
              <a:ext uri="{FF2B5EF4-FFF2-40B4-BE49-F238E27FC236}">
                <a16:creationId xmlns:a16="http://schemas.microsoft.com/office/drawing/2014/main" id="{6859EAFE-B802-47DE-B2AD-355656E9830D}"/>
              </a:ext>
            </a:extLst>
          </p:cNvPr>
          <p:cNvSpPr>
            <a:spLocks xmlns:a="http://schemas.openxmlformats.org/drawingml/2006/main" noGrp="1"/>
          </p:cNvSpPr>
          <p:nvPr/>
        </p:nvSpPr>
        <p:spPr>
          <a:xfrm xmlns:a="http://schemas.openxmlformats.org/drawingml/2006/main">
            <a:off x="685800" y="4381500"/>
            <a:ext cx="471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854C5"/>
                </a:solidFill>
                <a:latin typeface="Arial"/>
                <a:ea typeface="Arial"/>
                <a:cs typeface="Arial"/>
              </a:defRPr>
            </a:pPr>
            <a:r>
              <a:rPr sz="2175" b="1">
                <a:solidFill>
                  <a:srgbClr val="2854C5"/>
                </a:solidFill>
                <a:latin typeface="Arial"/>
                <a:ea typeface="Arial"/>
                <a:cs typeface="Arial"/>
              </a:rPr>
              <a:t>Keep the member list current</a:t>
            </a:r>
          </a:p>
        </p:txBody>
      </p:sp>
      <p:sp>
        <p:nvSpPr>
          <p:cNvPr id="6" name="">
            <a:extLst xmlns:a="http://schemas.openxmlformats.org/drawingml/2006/main">
              <a:ext uri="{FF2B5EF4-FFF2-40B4-BE49-F238E27FC236}">
                <a16:creationId xmlns:a16="http://schemas.microsoft.com/office/drawing/2014/main" id="{1ED9D466-A84B-4AC4-A25A-ED0E073AFE4D}"/>
              </a:ext>
            </a:extLst>
          </p:cNvPr>
          <p:cNvSpPr>
            <a:spLocks xmlns:a="http://schemas.openxmlformats.org/drawingml/2006/main" noGrp="1"/>
          </p:cNvSpPr>
          <p:nvPr/>
        </p:nvSpPr>
        <p:spPr>
          <a:xfrm xmlns:a="http://schemas.openxmlformats.org/drawingml/2006/main">
            <a:off x="685800" y="4933950"/>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338"/>
                </a:solidFill>
                <a:latin typeface="Arial"/>
                <a:ea typeface="Arial"/>
                <a:cs typeface="Arial"/>
              </a:defRPr>
            </a:pPr>
            <a:r>
              <a:rPr sz="2025" b="0">
                <a:solidFill>
                  <a:srgbClr val="122338"/>
                </a:solidFill>
                <a:latin typeface="Arial"/>
                <a:ea typeface="Arial"/>
                <a:cs typeface="Arial"/>
              </a:rPr>
              <a:t>NAMES for the initial list</a:t>
            </a:r>
          </a:p>
          <a:p xmlns:a="http://schemas.openxmlformats.org/drawingml/2006/main">
            <a:pPr>
              <a:defRPr sz="2025" b="0">
                <a:solidFill>
                  <a:srgbClr val="122338"/>
                </a:solidFill>
                <a:latin typeface="Arial"/>
                <a:ea typeface="Arial"/>
                <a:cs typeface="Arial"/>
              </a:defRPr>
            </a:pPr>
            <a:r>
              <a:rPr sz="2025" b="0">
                <a:solidFill>
                  <a:srgbClr val="122338"/>
                </a:solidFill>
                <a:latin typeface="Arial"/>
                <a:ea typeface="Arial"/>
                <a:cs typeface="Arial"/>
              </a:rPr>
              <a:t>JOIN, PART, QUIT and NICK updates</a:t>
            </a:r>
          </a:p>
        </p:txBody>
      </p:sp>
      <p:sp>
        <p:nvSpPr>
          <p:cNvPr id="7" name="">
            <a:extLst xmlns:a="http://schemas.openxmlformats.org/drawingml/2006/main">
              <a:ext uri="{FF2B5EF4-FFF2-40B4-BE49-F238E27FC236}">
                <a16:creationId xmlns:a16="http://schemas.microsoft.com/office/drawing/2014/main" id="{44D0A488-6C29-4EB8-89EA-B7B458FF27C4}"/>
              </a:ext>
            </a:extLst>
          </p:cNvPr>
          <p:cNvSpPr>
            <a:spLocks xmlns:a="http://schemas.openxmlformats.org/drawingml/2006/main" noGrp="1"/>
          </p:cNvSpPr>
          <p:nvPr/>
        </p:nvSpPr>
        <p:spPr>
          <a:xfrm xmlns:a="http://schemas.openxmlformats.org/drawingml/2006/main">
            <a:off x="6057900" y="1933575"/>
            <a:ext cx="5467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54C5"/>
                </a:solidFill>
                <a:latin typeface="Arial"/>
                <a:ea typeface="Arial"/>
                <a:cs typeface="Arial"/>
              </a:defRPr>
            </a:pPr>
            <a:r>
              <a:rPr sz="2400" b="1">
                <a:solidFill>
                  <a:srgbClr val="2854C5"/>
                </a:solidFill>
                <a:latin typeface="Arial"/>
                <a:ea typeface="Arial"/>
                <a:cs typeface="Arial"/>
              </a:rPr>
              <a:t>Commands and private replies</a:t>
            </a:r>
          </a:p>
        </p:txBody>
      </p:sp>
      <p:graphicFrame>
        <p:nvGraphicFramePr>
          <p:cNvPr id="17" name=""/>
          <p:cNvGraphicFramePr/>
          <p:nvPr/>
        </p:nvGraphicFramePr>
        <p:xfrm>
          <a:off xmlns:a="http://schemas.openxmlformats.org/drawingml/2006/main" x="6057900" y="2552700"/>
          <a:ext xmlns:a="http://schemas.openxmlformats.org/drawingml/2006/main" cx="5467350" cy="3143250"/>
        </p:xfrm>
        <a:graphic xmlns:a="http://schemas.openxmlformats.org/drawingml/2006/main">
          <a:graphicData uri="http://schemas.openxmlformats.org/drawingml/2006/table">
            <a:tbl>
              <a:tblPr/>
              <a:tblGrid>
                <a:gridCol w="2152650"/>
                <a:gridCol w="3314700"/>
              </a:tblGrid>
              <a:tr h="523875">
                <a:tc>
                  <a:txBody>
                    <a:bodyPr/>
                    <a:lstStyle/>
                    <a:p>
                      <a:r>
                        <a:rPr sz="1575" b="1">
                          <a:solidFill>
                            <a:srgbClr val="F7F5EF"/>
                          </a:solidFill>
                          <a:latin typeface="Arial"/>
                          <a:ea typeface="Arial"/>
                          <a:cs typeface="Arial"/>
                        </a:rPr>
                        <a:t>Input</a:t>
                      </a:r>
                    </a:p>
                  </a:txBody>
                  <a:tcPr marL="91440" marR="91440" marT="45720" marB="45720">
                    <a:solidFill>
                      <a:srgbClr val="122338"/>
                    </a:solidFill>
                  </a:tcPr>
                </a:tc>
                <a:tc>
                  <a:txBody>
                    <a:bodyPr/>
                    <a:lstStyle/>
                    <a:p>
                      <a:r>
                        <a:rPr sz="1575" b="1">
                          <a:solidFill>
                            <a:srgbClr val="F7F5EF"/>
                          </a:solidFill>
                          <a:latin typeface="Arial"/>
                          <a:ea typeface="Arial"/>
                          <a:cs typeface="Arial"/>
                        </a:rPr>
                        <a:t>Bot response</a:t>
                      </a:r>
                    </a:p>
                  </a:txBody>
                  <a:tcPr marL="91440" marR="91440" marT="45720" marB="45720">
                    <a:solidFill>
                      <a:srgbClr val="122338"/>
                    </a:solidFill>
                  </a:tcPr>
                </a:tc>
              </a:tr>
              <a:tr h="523875">
                <a:tc>
                  <a:txBody>
                    <a:bodyPr/>
                    <a:lstStyle/>
                    <a:p>
                      <a:r>
                        <a:rPr sz="1575" b="0">
                          <a:solidFill>
                            <a:srgbClr val="122338"/>
                          </a:solidFill>
                          <a:latin typeface="Arial"/>
                          <a:ea typeface="Arial"/>
                          <a:cs typeface="Arial"/>
                        </a:rPr>
                        <a:t>!hello</a:t>
                      </a:r>
                    </a:p>
                  </a:txBody>
                  <a:tcPr marL="91440" marR="91440" marT="45720" marB="45720">
                    <a:solidFill>
                      <a:srgbClr val="F7F5EF"/>
                    </a:solidFill>
                  </a:tcPr>
                </a:tc>
                <a:tc>
                  <a:txBody>
                    <a:bodyPr/>
                    <a:lstStyle/>
                    <a:p>
                      <a:r>
                        <a:rPr sz="1575" b="0">
                          <a:solidFill>
                            <a:srgbClr val="122338"/>
                          </a:solidFill>
                          <a:latin typeface="Arial"/>
                          <a:ea typeface="Arial"/>
                          <a:cs typeface="Arial"/>
                        </a:rPr>
                        <a:t>Greet the sender</a:t>
                      </a:r>
                    </a:p>
                  </a:txBody>
                  <a:tcPr marL="91440" marR="91440" marT="45720" marB="45720">
                    <a:solidFill>
                      <a:srgbClr val="F7F5EF"/>
                    </a:solidFill>
                  </a:tcPr>
                </a:tc>
              </a:tr>
              <a:tr h="523875">
                <a:tc>
                  <a:txBody>
                    <a:bodyPr/>
                    <a:lstStyle/>
                    <a:p>
                      <a:r>
                        <a:rPr sz="1575" b="0">
                          <a:solidFill>
                            <a:srgbClr val="122338"/>
                          </a:solidFill>
                          <a:latin typeface="Arial"/>
                          <a:ea typeface="Arial"/>
                          <a:cs typeface="Arial"/>
                        </a:rPr>
                        <a:t>!slap [user]</a:t>
                      </a:r>
                    </a:p>
                  </a:txBody>
                  <a:tcPr marL="91440" marR="91440" marT="45720" marB="45720">
                    <a:solidFill>
                      <a:srgbClr val="F7F5EF"/>
                    </a:solidFill>
                  </a:tcPr>
                </a:tc>
                <a:tc>
                  <a:txBody>
                    <a:bodyPr/>
                    <a:lstStyle/>
                    <a:p>
                      <a:r>
                        <a:rPr sz="1575" b="0">
                          <a:solidFill>
                            <a:srgbClr val="122338"/>
                          </a:solidFill>
                          <a:latin typeface="Arial"/>
                          <a:ea typeface="Arial"/>
                          <a:cs typeface="Arial"/>
                        </a:rPr>
                        <a:t>Choose a channel member</a:t>
                      </a:r>
                    </a:p>
                  </a:txBody>
                  <a:tcPr marL="91440" marR="91440" marT="45720" marB="45720">
                    <a:solidFill>
                      <a:srgbClr val="F7F5EF"/>
                    </a:solidFill>
                  </a:tcPr>
                </a:tc>
              </a:tr>
              <a:tr h="523875">
                <a:tc>
                  <a:txBody>
                    <a:bodyPr/>
                    <a:lstStyle/>
                    <a:p>
                      <a:r>
                        <a:rPr sz="1575" b="0">
                          <a:solidFill>
                            <a:srgbClr val="122338"/>
                          </a:solidFill>
                          <a:latin typeface="Arial"/>
                          <a:ea typeface="Arial"/>
                          <a:cs typeface="Arial"/>
                        </a:rPr>
                        <a:t>!who</a:t>
                      </a:r>
                    </a:p>
                  </a:txBody>
                  <a:tcPr marL="91440" marR="91440" marT="45720" marB="45720">
                    <a:solidFill>
                      <a:srgbClr val="F7F5EF"/>
                    </a:solidFill>
                  </a:tcPr>
                </a:tc>
                <a:tc>
                  <a:txBody>
                    <a:bodyPr/>
                    <a:lstStyle/>
                    <a:p>
                      <a:r>
                        <a:rPr sz="1575" b="0">
                          <a:solidFill>
                            <a:srgbClr val="122338"/>
                          </a:solidFill>
                          <a:latin typeface="Arial"/>
                          <a:ea typeface="Arial"/>
                          <a:cs typeface="Arial"/>
                        </a:rPr>
                        <a:t>ISON / numeric 303</a:t>
                      </a:r>
                    </a:p>
                  </a:txBody>
                  <a:tcPr marL="91440" marR="91440" marT="45720" marB="45720">
                    <a:solidFill>
                      <a:srgbClr val="F7F5EF"/>
                    </a:solidFill>
                  </a:tcPr>
                </a:tc>
              </a:tr>
              <a:tr h="523875">
                <a:tc>
                  <a:txBody>
                    <a:bodyPr/>
                    <a:lstStyle/>
                    <a:p>
                      <a:r>
                        <a:rPr sz="1575" b="0">
                          <a:solidFill>
                            <a:srgbClr val="122338"/>
                          </a:solidFill>
                          <a:latin typeface="Arial"/>
                          <a:ea typeface="Arial"/>
                          <a:cs typeface="Arial"/>
                        </a:rPr>
                        <a:t>!time</a:t>
                      </a:r>
                    </a:p>
                  </a:txBody>
                  <a:tcPr marL="91440" marR="91440" marT="45720" marB="45720">
                    <a:solidFill>
                      <a:srgbClr val="F7F5EF"/>
                    </a:solidFill>
                  </a:tcPr>
                </a:tc>
                <a:tc>
                  <a:txBody>
                    <a:bodyPr/>
                    <a:lstStyle/>
                    <a:p>
                      <a:r>
                        <a:rPr sz="1575" b="0">
                          <a:solidFill>
                            <a:srgbClr val="122338"/>
                          </a:solidFill>
                          <a:latin typeface="Arial"/>
                          <a:ea typeface="Arial"/>
                          <a:cs typeface="Arial"/>
                        </a:rPr>
                        <a:t>Local Bot clock</a:t>
                      </a:r>
                    </a:p>
                  </a:txBody>
                  <a:tcPr marL="91440" marR="91440" marT="45720" marB="45720">
                    <a:solidFill>
                      <a:srgbClr val="F7F5EF"/>
                    </a:solidFill>
                  </a:tcPr>
                </a:tc>
              </a:tr>
              <a:tr h="523875">
                <a:tc>
                  <a:txBody>
                    <a:bodyPr/>
                    <a:lstStyle/>
                    <a:p>
                      <a:r>
                        <a:rPr sz="1575" b="0">
                          <a:solidFill>
                            <a:srgbClr val="122338"/>
                          </a:solidFill>
                          <a:latin typeface="Arial"/>
                          <a:ea typeface="Arial"/>
                          <a:cs typeface="Arial"/>
                        </a:rPr>
                        <a:t>Private message</a:t>
                      </a:r>
                    </a:p>
                  </a:txBody>
                  <a:tcPr marL="91440" marR="91440" marT="45720" marB="45720">
                    <a:solidFill>
                      <a:srgbClr val="F7F5EF"/>
                    </a:solidFill>
                  </a:tcPr>
                </a:tc>
                <a:tc>
                  <a:txBody>
                    <a:bodyPr/>
                    <a:lstStyle/>
                    <a:p>
                      <a:r>
                        <a:rPr sz="1575" b="0">
                          <a:solidFill>
                            <a:srgbClr val="122338"/>
                          </a:solidFill>
                          <a:latin typeface="Arial"/>
                          <a:ea typeface="Arial"/>
                          <a:cs typeface="Arial"/>
                        </a:rPr>
                        <a:t>Random fact from facts.txt</a:t>
                      </a:r>
                    </a:p>
                  </a:txBody>
                  <a:tcPr marL="91440" marR="91440" marT="45720" marB="45720">
                    <a:solidFill>
                      <a:srgbClr val="F7F5EF"/>
                    </a:solidFill>
                  </a:tcPr>
                </a:tc>
              </a:tr>
            </a:tbl>
          </a:graphicData>
        </a:graphic>
      </p:graphicFrame>
      <p:sp>
        <p:nvSpPr>
          <p:cNvPr id="9" name="">
            <a:extLst xmlns:a="http://schemas.openxmlformats.org/drawingml/2006/main">
              <a:ext uri="{FF2B5EF4-FFF2-40B4-BE49-F238E27FC236}">
                <a16:creationId xmlns:a16="http://schemas.microsoft.com/office/drawing/2014/main" id="{A52826C1-9E4B-4F8A-8DF0-9DF7E44DCC12}"/>
              </a:ext>
            </a:extLst>
          </p:cNvPr>
          <p:cNvSpPr>
            <a:spLocks xmlns:a="http://schemas.openxmlformats.org/drawingml/2006/main" noGrp="1"/>
          </p:cNvSpPr>
          <p:nvPr/>
        </p:nvSpPr>
        <p:spPr>
          <a:xfrm xmlns:a="http://schemas.openxmlformats.org/drawingml/2006/main">
            <a:off x="6057900" y="5638800"/>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76574"/>
                </a:solidFill>
                <a:latin typeface="Arial"/>
                <a:ea typeface="Arial"/>
                <a:cs typeface="Arial"/>
              </a:defRPr>
            </a:pPr>
            <a:r>
              <a:rPr sz="1725" b="0">
                <a:solidFill>
                  <a:srgbClr val="576574"/>
                </a:solidFill>
                <a:latin typeface="Arial"/>
                <a:ea typeface="Arial"/>
                <a:cs typeface="Arial"/>
              </a:rPr>
              <a:t>--host   --port   --name   --channel</a:t>
            </a:r>
          </a:p>
        </p:txBody>
      </p:sp>
    </p:spTree>
    <p:extLst>
      <p:ext uri="{BB962C8B-B14F-4D97-AF65-F5344CB8AC3E}">
        <p14:creationId xmlns:p14="http://schemas.microsoft.com/office/powerpoint/2010/main" val="23411419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FB3EA7-AEAB-4F89-B55A-C0F169D30708}"/>
              </a:ext>
            </a:extLst>
          </p:cNvPr>
          <p:cNvSpPr>
            <a:spLocks xmlns:a="http://schemas.openxmlformats.org/drawingml/2006/main" noGrp="1"/>
          </p:cNvSpPr>
          <p:nvPr/>
        </p:nvSpPr>
        <p:spPr>
          <a:xfrm xmlns:a="http://schemas.openxmlformats.org/drawingml/2006/main">
            <a:off x="685800" y="5905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22338"/>
                </a:solidFill>
                <a:latin typeface="Arial"/>
                <a:ea typeface="Arial"/>
                <a:cs typeface="Arial"/>
              </a:defRPr>
            </a:pPr>
            <a:r>
              <a:rPr sz="3600" b="1">
                <a:solidFill>
                  <a:srgbClr val="122338"/>
                </a:solidFill>
                <a:latin typeface="Arial"/>
                <a:ea typeface="Arial"/>
                <a:cs typeface="Arial"/>
              </a:rPr>
              <a:t>IRC server behavior</a:t>
            </a:r>
          </a:p>
        </p:txBody>
      </p:sp>
      <p:sp>
        <p:nvSpPr>
          <p:cNvPr id="2" name="">
            <a:extLst xmlns:a="http://schemas.openxmlformats.org/drawingml/2006/main">
              <a:ext uri="{FF2B5EF4-FFF2-40B4-BE49-F238E27FC236}">
                <a16:creationId xmlns:a16="http://schemas.microsoft.com/office/drawing/2014/main" id="{8C2DF953-2C47-47E2-AA10-028F88AAD6FC}"/>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76574"/>
                </a:solidFill>
                <a:latin typeface="Arial"/>
                <a:ea typeface="Arial"/>
                <a:cs typeface="Arial"/>
              </a:defRPr>
            </a:pPr>
            <a:r>
              <a:rPr sz="1350" b="0">
                <a:solidFill>
                  <a:srgbClr val="576574"/>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FE8E6635-EB3B-47F3-A167-41E3BA95C586}"/>
              </a:ext>
            </a:extLst>
          </p:cNvPr>
          <p:cNvSpPr>
            <a:spLocks xmlns:a="http://schemas.openxmlformats.org/drawingml/2006/main" noGrp="1"/>
          </p:cNvSpPr>
          <p:nvPr/>
        </p:nvSpPr>
        <p:spPr>
          <a:xfrm xmlns:a="http://schemas.openxmlformats.org/drawingml/2006/main">
            <a:off x="685800" y="19335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54C5"/>
                </a:solidFill>
                <a:latin typeface="Arial"/>
                <a:ea typeface="Arial"/>
                <a:cs typeface="Arial"/>
              </a:defRPr>
            </a:pPr>
            <a:r>
              <a:rPr sz="2550" b="1">
                <a:solidFill>
                  <a:srgbClr val="2854C5"/>
                </a:solidFill>
                <a:latin typeface="Arial"/>
                <a:ea typeface="Arial"/>
                <a:cs typeface="Arial"/>
              </a:rPr>
              <a:t>Multiple clients</a:t>
            </a:r>
          </a:p>
        </p:txBody>
      </p:sp>
      <p:sp>
        <p:nvSpPr>
          <p:cNvPr id="4" name="">
            <a:extLst xmlns:a="http://schemas.openxmlformats.org/drawingml/2006/main">
              <a:ext uri="{FF2B5EF4-FFF2-40B4-BE49-F238E27FC236}">
                <a16:creationId xmlns:a16="http://schemas.microsoft.com/office/drawing/2014/main" id="{2CD9943D-26FA-48D9-B21B-7C9788B49118}"/>
              </a:ext>
            </a:extLst>
          </p:cNvPr>
          <p:cNvSpPr>
            <a:spLocks xmlns:a="http://schemas.openxmlformats.org/drawingml/2006/main" noGrp="1"/>
          </p:cNvSpPr>
          <p:nvPr/>
        </p:nvSpPr>
        <p:spPr>
          <a:xfrm xmlns:a="http://schemas.openxmlformats.org/drawingml/2006/main">
            <a:off x="685800" y="2619375"/>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2338"/>
                </a:solidFill>
                <a:latin typeface="Arial"/>
                <a:ea typeface="Arial"/>
                <a:cs typeface="Arial"/>
              </a:defRPr>
            </a:pPr>
            <a:r>
              <a:rPr sz="2100" b="0">
                <a:solidFill>
                  <a:srgbClr val="122338"/>
                </a:solidFill>
                <a:latin typeface="Arial"/>
                <a:ea typeface="Arial"/>
                <a:cs typeface="Arial"/>
              </a:rPr>
              <a:t>One session per connection</a:t>
            </a:r>
          </a:p>
          <a:p xmlns:a="http://schemas.openxmlformats.org/drawingml/2006/main">
            <a:pPr>
              <a:defRPr sz="2100" b="0">
                <a:solidFill>
                  <a:srgbClr val="122338"/>
                </a:solidFill>
                <a:latin typeface="Arial"/>
                <a:ea typeface="Arial"/>
                <a:cs typeface="Arial"/>
              </a:defRPr>
            </a:pPr>
            <a:r>
              <a:rPr sz="2100" b="0">
                <a:solidFill>
                  <a:srgbClr val="122338"/>
                </a:solidFill>
                <a:latin typeface="Arial"/>
                <a:ea typeface="Arial"/>
                <a:cs typeface="Arial"/>
              </a:rPr>
              <a:t>Registration and welcome replies</a:t>
            </a:r>
          </a:p>
          <a:p xmlns:a="http://schemas.openxmlformats.org/drawingml/2006/main">
            <a:pPr>
              <a:defRPr sz="2100" b="0">
                <a:solidFill>
                  <a:srgbClr val="122338"/>
                </a:solidFill>
                <a:latin typeface="Arial"/>
                <a:ea typeface="Arial"/>
                <a:cs typeface="Arial"/>
              </a:defRPr>
            </a:pPr>
            <a:r>
              <a:rPr sz="2100" b="0">
                <a:solidFill>
                  <a:srgbClr val="122338"/>
                </a:solidFill>
                <a:latin typeface="Arial"/>
                <a:ea typeface="Arial"/>
                <a:cs typeface="Arial"/>
              </a:rPr>
              <a:t>Locked user and channel indexes</a:t>
            </a:r>
          </a:p>
        </p:txBody>
      </p:sp>
      <p:sp>
        <p:nvSpPr>
          <p:cNvPr id="5" name="">
            <a:extLst xmlns:a="http://schemas.openxmlformats.org/drawingml/2006/main">
              <a:ext uri="{FF2B5EF4-FFF2-40B4-BE49-F238E27FC236}">
                <a16:creationId xmlns:a16="http://schemas.microsoft.com/office/drawing/2014/main" id="{5155FAEC-6591-4105-867F-AF5FD8DF1A59}"/>
              </a:ext>
            </a:extLst>
          </p:cNvPr>
          <p:cNvSpPr>
            <a:spLocks xmlns:a="http://schemas.openxmlformats.org/drawingml/2006/main" noGrp="1"/>
          </p:cNvSpPr>
          <p:nvPr/>
        </p:nvSpPr>
        <p:spPr>
          <a:xfrm xmlns:a="http://schemas.openxmlformats.org/drawingml/2006/main">
            <a:off x="685800" y="4629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2338"/>
                </a:solidFill>
                <a:latin typeface="Arial"/>
                <a:ea typeface="Arial"/>
                <a:cs typeface="Arial"/>
              </a:defRPr>
            </a:pPr>
            <a:r>
              <a:rPr sz="2625" b="1">
                <a:solidFill>
                  <a:srgbClr val="122338"/>
                </a:solidFill>
                <a:latin typeface="Arial"/>
                <a:ea typeface="Arial"/>
                <a:cs typeface="Arial"/>
              </a:rPr>
              <a:t>Ubuntu    [::]:6667</a:t>
            </a:r>
          </a:p>
        </p:txBody>
      </p:sp>
      <p:sp>
        <p:nvSpPr>
          <p:cNvPr id="6" name="">
            <a:extLst xmlns:a="http://schemas.openxmlformats.org/drawingml/2006/main">
              <a:ext uri="{FF2B5EF4-FFF2-40B4-BE49-F238E27FC236}">
                <a16:creationId xmlns:a16="http://schemas.microsoft.com/office/drawing/2014/main" id="{044AF2E4-E7DA-4C38-882D-30B0BB542250}"/>
              </a:ext>
            </a:extLst>
          </p:cNvPr>
          <p:cNvSpPr>
            <a:spLocks xmlns:a="http://schemas.openxmlformats.org/drawingml/2006/main" noGrp="1"/>
          </p:cNvSpPr>
          <p:nvPr/>
        </p:nvSpPr>
        <p:spPr>
          <a:xfrm xmlns:a="http://schemas.openxmlformats.org/drawingml/2006/main">
            <a:off x="685800" y="5353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76574"/>
                </a:solidFill>
                <a:latin typeface="Arial"/>
                <a:ea typeface="Arial"/>
                <a:cs typeface="Arial"/>
              </a:defRPr>
            </a:pPr>
            <a:r>
              <a:rPr sz="1950" b="0">
                <a:solidFill>
                  <a:srgbClr val="576574"/>
                </a:solidFill>
                <a:latin typeface="Arial"/>
                <a:ea typeface="Arial"/>
                <a:cs typeface="Arial"/>
              </a:rPr>
              <a:t>JOIN / NAMES / PART / QUIT</a:t>
            </a:r>
          </a:p>
        </p:txBody>
      </p:sp>
      <p:sp>
        <p:nvSpPr>
          <p:cNvPr id="7" name="">
            <a:extLst xmlns:a="http://schemas.openxmlformats.org/drawingml/2006/main">
              <a:ext uri="{FF2B5EF4-FFF2-40B4-BE49-F238E27FC236}">
                <a16:creationId xmlns:a16="http://schemas.microsoft.com/office/drawing/2014/main" id="{171B9BC6-E025-4659-B7B6-917F7BC9610B}"/>
              </a:ext>
            </a:extLst>
          </p:cNvPr>
          <p:cNvSpPr>
            <a:spLocks xmlns:a="http://schemas.openxmlformats.org/drawingml/2006/main" noGrp="1"/>
          </p:cNvSpPr>
          <p:nvPr/>
        </p:nvSpPr>
        <p:spPr>
          <a:xfrm xmlns:a="http://schemas.openxmlformats.org/drawingml/2006/main">
            <a:off x="6419850" y="193357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54C5"/>
                </a:solidFill>
                <a:latin typeface="Arial"/>
                <a:ea typeface="Arial"/>
                <a:cs typeface="Arial"/>
              </a:defRPr>
            </a:pPr>
            <a:r>
              <a:rPr sz="2400" b="1">
                <a:solidFill>
                  <a:srgbClr val="2854C5"/>
                </a:solidFill>
                <a:latin typeface="Arial"/>
                <a:ea typeface="Arial"/>
                <a:cs typeface="Arial"/>
              </a:rPr>
              <a:t>Channel message</a:t>
            </a:r>
          </a:p>
        </p:txBody>
      </p:sp>
      <p:sp>
        <p:nvSpPr>
          <p:cNvPr id="8" name="">
            <a:extLst xmlns:a="http://schemas.openxmlformats.org/drawingml/2006/main">
              <a:ext uri="{FF2B5EF4-FFF2-40B4-BE49-F238E27FC236}">
                <a16:creationId xmlns:a16="http://schemas.microsoft.com/office/drawing/2014/main" id="{DAC43355-E89F-4559-AC05-559A93CDBA17}"/>
              </a:ext>
            </a:extLst>
          </p:cNvPr>
          <p:cNvSpPr>
            <a:spLocks xmlns:a="http://schemas.openxmlformats.org/drawingml/2006/main" noGrp="1"/>
          </p:cNvSpPr>
          <p:nvPr/>
        </p:nvSpPr>
        <p:spPr>
          <a:xfrm xmlns:a="http://schemas.openxmlformats.org/drawingml/2006/main">
            <a:off x="6419850" y="25431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2338"/>
                </a:solidFill>
                <a:latin typeface="Arial"/>
                <a:ea typeface="Arial"/>
                <a:cs typeface="Arial"/>
              </a:defRPr>
            </a:pPr>
            <a:r>
              <a:rPr sz="2100" b="1">
                <a:solidFill>
                  <a:srgbClr val="122338"/>
                </a:solidFill>
                <a:latin typeface="Arial"/>
                <a:ea typeface="Arial"/>
                <a:cs typeface="Arial"/>
              </a:rPr>
              <a:t>PRIVMSG #hello :Hi everyone</a:t>
            </a:r>
          </a:p>
        </p:txBody>
      </p:sp>
      <p:sp>
        <p:nvSpPr>
          <p:cNvPr id="9" name="">
            <a:extLst xmlns:a="http://schemas.openxmlformats.org/drawingml/2006/main">
              <a:ext uri="{FF2B5EF4-FFF2-40B4-BE49-F238E27FC236}">
                <a16:creationId xmlns:a16="http://schemas.microsoft.com/office/drawing/2014/main" id="{A85D0C35-33C1-4CBB-9E80-D7D9E39A9D97}"/>
              </a:ext>
            </a:extLst>
          </p:cNvPr>
          <p:cNvSpPr>
            <a:spLocks xmlns:a="http://schemas.openxmlformats.org/drawingml/2006/main" noGrp="1"/>
          </p:cNvSpPr>
          <p:nvPr/>
        </p:nvSpPr>
        <p:spPr>
          <a:xfrm xmlns:a="http://schemas.openxmlformats.org/drawingml/2006/main">
            <a:off x="6419850" y="3086100"/>
            <a:ext cx="4933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76574"/>
                </a:solidFill>
                <a:latin typeface="Arial"/>
                <a:ea typeface="Arial"/>
                <a:cs typeface="Arial"/>
              </a:defRPr>
            </a:pPr>
            <a:r>
              <a:rPr sz="2025" b="0">
                <a:solidFill>
                  <a:srgbClr val="576574"/>
                </a:solidFill>
                <a:latin typeface="Arial"/>
                <a:ea typeface="Arial"/>
                <a:cs typeface="Arial"/>
              </a:rPr>
              <a:t>Delivered to other members of #hello</a:t>
            </a:r>
          </a:p>
        </p:txBody>
      </p:sp>
      <p:sp>
        <p:nvSpPr>
          <p:cNvPr id="10" name="">
            <a:extLst xmlns:a="http://schemas.openxmlformats.org/drawingml/2006/main">
              <a:ext uri="{FF2B5EF4-FFF2-40B4-BE49-F238E27FC236}">
                <a16:creationId xmlns:a16="http://schemas.microsoft.com/office/drawing/2014/main" id="{EC6374F2-8D7B-4138-BA3B-B00872CBAD6D}"/>
              </a:ext>
            </a:extLst>
          </p:cNvPr>
          <p:cNvSpPr>
            <a:spLocks xmlns:a="http://schemas.openxmlformats.org/drawingml/2006/main" noGrp="1"/>
          </p:cNvSpPr>
          <p:nvPr/>
        </p:nvSpPr>
        <p:spPr>
          <a:xfrm xmlns:a="http://schemas.openxmlformats.org/drawingml/2006/main">
            <a:off x="6419850" y="4314825"/>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54C5"/>
                </a:solidFill>
                <a:latin typeface="Arial"/>
                <a:ea typeface="Arial"/>
                <a:cs typeface="Arial"/>
              </a:defRPr>
            </a:pPr>
            <a:r>
              <a:rPr sz="2400" b="1">
                <a:solidFill>
                  <a:srgbClr val="2854C5"/>
                </a:solidFill>
                <a:latin typeface="Arial"/>
                <a:ea typeface="Arial"/>
                <a:cs typeface="Arial"/>
              </a:rPr>
              <a:t>Private message</a:t>
            </a:r>
          </a:p>
        </p:txBody>
      </p:sp>
      <p:sp>
        <p:nvSpPr>
          <p:cNvPr id="11" name="">
            <a:extLst xmlns:a="http://schemas.openxmlformats.org/drawingml/2006/main">
              <a:ext uri="{FF2B5EF4-FFF2-40B4-BE49-F238E27FC236}">
                <a16:creationId xmlns:a16="http://schemas.microsoft.com/office/drawing/2014/main" id="{1512A499-F239-451F-A0AD-705EB047EBF2}"/>
              </a:ext>
            </a:extLst>
          </p:cNvPr>
          <p:cNvSpPr>
            <a:spLocks xmlns:a="http://schemas.openxmlformats.org/drawingml/2006/main" noGrp="1"/>
          </p:cNvSpPr>
          <p:nvPr/>
        </p:nvSpPr>
        <p:spPr>
          <a:xfrm xmlns:a="http://schemas.openxmlformats.org/drawingml/2006/main">
            <a:off x="6419850" y="49244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2338"/>
                </a:solidFill>
                <a:latin typeface="Arial"/>
                <a:ea typeface="Arial"/>
                <a:cs typeface="Arial"/>
              </a:defRPr>
            </a:pPr>
            <a:r>
              <a:rPr sz="2100" b="1">
                <a:solidFill>
                  <a:srgbClr val="122338"/>
                </a:solidFill>
                <a:latin typeface="Arial"/>
                <a:ea typeface="Arial"/>
                <a:cs typeface="Arial"/>
              </a:rPr>
              <a:t>PRIVMSG bob :Hi Bob</a:t>
            </a:r>
          </a:p>
        </p:txBody>
      </p:sp>
      <p:sp>
        <p:nvSpPr>
          <p:cNvPr id="12" name="">
            <a:extLst xmlns:a="http://schemas.openxmlformats.org/drawingml/2006/main">
              <a:ext uri="{FF2B5EF4-FFF2-40B4-BE49-F238E27FC236}">
                <a16:creationId xmlns:a16="http://schemas.microsoft.com/office/drawing/2014/main" id="{3E36F130-8A7D-4085-95BF-8670AC4DBCBF}"/>
              </a:ext>
            </a:extLst>
          </p:cNvPr>
          <p:cNvSpPr>
            <a:spLocks xmlns:a="http://schemas.openxmlformats.org/drawingml/2006/main" noGrp="1"/>
          </p:cNvSpPr>
          <p:nvPr/>
        </p:nvSpPr>
        <p:spPr>
          <a:xfrm xmlns:a="http://schemas.openxmlformats.org/drawingml/2006/main">
            <a:off x="6419850" y="5467350"/>
            <a:ext cx="4933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76574"/>
                </a:solidFill>
                <a:latin typeface="Arial"/>
                <a:ea typeface="Arial"/>
                <a:cs typeface="Arial"/>
              </a:defRPr>
            </a:pPr>
            <a:r>
              <a:rPr sz="2025" b="0">
                <a:solidFill>
                  <a:srgbClr val="576574"/>
                </a:solidFill>
                <a:latin typeface="Arial"/>
                <a:ea typeface="Arial"/>
                <a:cs typeface="Arial"/>
              </a:rPr>
              <a:t>Delivered only to Bob</a:t>
            </a:r>
          </a:p>
        </p:txBody>
      </p:sp>
    </p:spTree>
    <p:extLst>
      <p:ext uri="{BB962C8B-B14F-4D97-AF65-F5344CB8AC3E}">
        <p14:creationId xmlns:p14="http://schemas.microsoft.com/office/powerpoint/2010/main" val="2072489075"/>
      </p:ext>
    </p:extLst>
  </p:cSld>
</p:sld>
</file>

<file path=ppt/slides/slide6.xml><?xml version="1.0" encoding="utf-8"?>
<p:sld xmlns:p="http://schemas.openxmlformats.org/presentationml/2006/main">
  <p:cSld>
    <p:bg>
      <p:bgPr>
        <a:solidFill xmlns:a="http://schemas.openxmlformats.org/drawingml/2006/main">
          <a:srgbClr val="12233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75595E-1B0B-4964-BFCF-5CC463E5E5C5}"/>
              </a:ext>
            </a:extLst>
          </p:cNvPr>
          <p:cNvSpPr>
            <a:spLocks xmlns:a="http://schemas.openxmlformats.org/drawingml/2006/main" noGrp="1"/>
          </p:cNvSpPr>
          <p:nvPr/>
        </p:nvSpPr>
        <p:spPr>
          <a:xfrm xmlns:a="http://schemas.openxmlformats.org/drawingml/2006/main">
            <a:off x="685800" y="5905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5EF"/>
                </a:solidFill>
                <a:latin typeface="Arial"/>
                <a:ea typeface="Arial"/>
                <a:cs typeface="Arial"/>
              </a:defRPr>
            </a:pPr>
            <a:r>
              <a:rPr sz="3600" b="1">
                <a:solidFill>
                  <a:srgbClr val="F7F5EF"/>
                </a:solidFill>
                <a:latin typeface="Arial"/>
                <a:ea typeface="Arial"/>
                <a:cs typeface="Arial"/>
              </a:rPr>
              <a:t>Errors and reliability</a:t>
            </a:r>
          </a:p>
        </p:txBody>
      </p:sp>
      <p:sp>
        <p:nvSpPr>
          <p:cNvPr id="2" name="">
            <a:extLst xmlns:a="http://schemas.openxmlformats.org/drawingml/2006/main">
              <a:ext uri="{FF2B5EF4-FFF2-40B4-BE49-F238E27FC236}">
                <a16:creationId xmlns:a16="http://schemas.microsoft.com/office/drawing/2014/main" id="{24AA2B92-743E-47F5-8B73-3BEA633837B8}"/>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4EF"/>
                </a:solidFill>
                <a:latin typeface="Arial"/>
                <a:ea typeface="Arial"/>
                <a:cs typeface="Arial"/>
              </a:defRPr>
            </a:pPr>
            <a:r>
              <a:rPr sz="1350" b="0">
                <a:solidFill>
                  <a:srgbClr val="B9D4E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471D7C5-D12F-4D0C-A5D7-A7A77FA2C3F7}"/>
              </a:ext>
            </a:extLst>
          </p:cNvPr>
          <p:cNvSpPr>
            <a:spLocks xmlns:a="http://schemas.openxmlformats.org/drawingml/2006/main" noGrp="1"/>
          </p:cNvSpPr>
          <p:nvPr/>
        </p:nvSpPr>
        <p:spPr>
          <a:xfrm xmlns:a="http://schemas.openxmlformats.org/drawingml/2006/main">
            <a:off x="685800" y="195262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4EF"/>
                </a:solidFill>
                <a:latin typeface="Arial"/>
                <a:ea typeface="Arial"/>
                <a:cs typeface="Arial"/>
              </a:defRPr>
            </a:pPr>
            <a:r>
              <a:rPr sz="2250" b="1">
                <a:solidFill>
                  <a:srgbClr val="B9D4EF"/>
                </a:solidFill>
                <a:latin typeface="Arial"/>
                <a:ea typeface="Arial"/>
                <a:cs typeface="Arial"/>
              </a:rPr>
              <a:t>Invalid requests</a:t>
            </a:r>
          </a:p>
        </p:txBody>
      </p:sp>
      <p:sp>
        <p:nvSpPr>
          <p:cNvPr id="4" name="">
            <a:extLst xmlns:a="http://schemas.openxmlformats.org/drawingml/2006/main">
              <a:ext uri="{FF2B5EF4-FFF2-40B4-BE49-F238E27FC236}">
                <a16:creationId xmlns:a16="http://schemas.microsoft.com/office/drawing/2014/main" id="{7B7A5033-D6E8-48A3-88E3-18C16D53C5BD}"/>
              </a:ext>
            </a:extLst>
          </p:cNvPr>
          <p:cNvSpPr>
            <a:spLocks xmlns:a="http://schemas.openxmlformats.org/drawingml/2006/main" noGrp="1"/>
          </p:cNvSpPr>
          <p:nvPr/>
        </p:nvSpPr>
        <p:spPr>
          <a:xfrm xmlns:a="http://schemas.openxmlformats.org/drawingml/2006/main">
            <a:off x="4333875" y="1952625"/>
            <a:ext cx="718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Numeric replies for unknown commands, invalid nicknames,</a:t>
            </a:r>
          </a:p>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missing parameters and unknown targets</a:t>
            </a:r>
          </a:p>
        </p:txBody>
      </p:sp>
      <p:sp>
        <p:nvSpPr>
          <p:cNvPr id="5" name="">
            <a:extLst xmlns:a="http://schemas.openxmlformats.org/drawingml/2006/main">
              <a:ext uri="{FF2B5EF4-FFF2-40B4-BE49-F238E27FC236}">
                <a16:creationId xmlns:a16="http://schemas.microsoft.com/office/drawing/2014/main" id="{A21ABC76-72EC-48EF-B09F-F4409AC6B252}"/>
              </a:ext>
            </a:extLst>
          </p:cNvPr>
          <p:cNvSpPr>
            <a:spLocks xmlns:a="http://schemas.openxmlformats.org/drawingml/2006/main" noGrp="1"/>
          </p:cNvSpPr>
          <p:nvPr/>
        </p:nvSpPr>
        <p:spPr>
          <a:xfrm xmlns:a="http://schemas.openxmlformats.org/drawingml/2006/main">
            <a:off x="685800" y="296227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4EF"/>
                </a:solidFill>
                <a:latin typeface="Arial"/>
                <a:ea typeface="Arial"/>
                <a:cs typeface="Arial"/>
              </a:defRPr>
            </a:pPr>
            <a:r>
              <a:rPr sz="2250" b="1">
                <a:solidFill>
                  <a:srgbClr val="B9D4EF"/>
                </a:solidFill>
                <a:latin typeface="Arial"/>
                <a:ea typeface="Arial"/>
                <a:cs typeface="Arial"/>
              </a:rPr>
              <a:t>Malformed streams</a:t>
            </a:r>
          </a:p>
        </p:txBody>
      </p:sp>
      <p:sp>
        <p:nvSpPr>
          <p:cNvPr id="6" name="">
            <a:extLst xmlns:a="http://schemas.openxmlformats.org/drawingml/2006/main">
              <a:ext uri="{FF2B5EF4-FFF2-40B4-BE49-F238E27FC236}">
                <a16:creationId xmlns:a16="http://schemas.microsoft.com/office/drawing/2014/main" id="{A34C4E6B-7FB9-48E4-A185-AC401B20B921}"/>
              </a:ext>
            </a:extLst>
          </p:cNvPr>
          <p:cNvSpPr>
            <a:spLocks xmlns:a="http://schemas.openxmlformats.org/drawingml/2006/main" noGrp="1"/>
          </p:cNvSpPr>
          <p:nvPr/>
        </p:nvSpPr>
        <p:spPr>
          <a:xfrm xmlns:a="http://schemas.openxmlformats.org/drawingml/2006/main">
            <a:off x="4333875" y="2962275"/>
            <a:ext cx="718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ERROR reply and session closure</a:t>
            </a:r>
          </a:p>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Other clients keep running</a:t>
            </a:r>
          </a:p>
        </p:txBody>
      </p:sp>
      <p:sp>
        <p:nvSpPr>
          <p:cNvPr id="7" name="">
            <a:extLst xmlns:a="http://schemas.openxmlformats.org/drawingml/2006/main">
              <a:ext uri="{FF2B5EF4-FFF2-40B4-BE49-F238E27FC236}">
                <a16:creationId xmlns:a16="http://schemas.microsoft.com/office/drawing/2014/main" id="{B67E7FCA-0872-47A5-81C5-E361C1C881D2}"/>
              </a:ext>
            </a:extLst>
          </p:cNvPr>
          <p:cNvSpPr>
            <a:spLocks xmlns:a="http://schemas.openxmlformats.org/drawingml/2006/main" noGrp="1"/>
          </p:cNvSpPr>
          <p:nvPr/>
        </p:nvSpPr>
        <p:spPr>
          <a:xfrm xmlns:a="http://schemas.openxmlformats.org/drawingml/2006/main">
            <a:off x="685800" y="397192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4EF"/>
                </a:solidFill>
                <a:latin typeface="Arial"/>
                <a:ea typeface="Arial"/>
                <a:cs typeface="Arial"/>
              </a:defRPr>
            </a:pPr>
            <a:r>
              <a:rPr sz="2250" b="1">
                <a:solidFill>
                  <a:srgbClr val="B9D4EF"/>
                </a:solidFill>
                <a:latin typeface="Arial"/>
                <a:ea typeface="Arial"/>
                <a:cs typeface="Arial"/>
              </a:rPr>
              <a:t>Message boundaries</a:t>
            </a:r>
          </a:p>
        </p:txBody>
      </p:sp>
      <p:sp>
        <p:nvSpPr>
          <p:cNvPr id="8" name="">
            <a:extLst xmlns:a="http://schemas.openxmlformats.org/drawingml/2006/main">
              <a:ext uri="{FF2B5EF4-FFF2-40B4-BE49-F238E27FC236}">
                <a16:creationId xmlns:a16="http://schemas.microsoft.com/office/drawing/2014/main" id="{F6EDA83E-07DF-4D12-AB98-DF45A3BD99CB}"/>
              </a:ext>
            </a:extLst>
          </p:cNvPr>
          <p:cNvSpPr>
            <a:spLocks xmlns:a="http://schemas.openxmlformats.org/drawingml/2006/main" noGrp="1"/>
          </p:cNvSpPr>
          <p:nvPr/>
        </p:nvSpPr>
        <p:spPr>
          <a:xfrm xmlns:a="http://schemas.openxmlformats.org/drawingml/2006/main">
            <a:off x="4333875" y="3971925"/>
            <a:ext cx="718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Full relayed line checked against 512 bytes</a:t>
            </a:r>
          </a:p>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Oversized PRIVMSG returns 417</a:t>
            </a:r>
          </a:p>
        </p:txBody>
      </p:sp>
      <p:sp>
        <p:nvSpPr>
          <p:cNvPr id="9" name="">
            <a:extLst xmlns:a="http://schemas.openxmlformats.org/drawingml/2006/main">
              <a:ext uri="{FF2B5EF4-FFF2-40B4-BE49-F238E27FC236}">
                <a16:creationId xmlns:a16="http://schemas.microsoft.com/office/drawing/2014/main" id="{D8860C94-43D1-47EC-BB13-8F2ADB4C07C3}"/>
              </a:ext>
            </a:extLst>
          </p:cNvPr>
          <p:cNvSpPr>
            <a:spLocks xmlns:a="http://schemas.openxmlformats.org/drawingml/2006/main" noGrp="1"/>
          </p:cNvSpPr>
          <p:nvPr/>
        </p:nvSpPr>
        <p:spPr>
          <a:xfrm xmlns:a="http://schemas.openxmlformats.org/drawingml/2006/main">
            <a:off x="685800" y="498157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D4EF"/>
                </a:solidFill>
                <a:latin typeface="Arial"/>
                <a:ea typeface="Arial"/>
                <a:cs typeface="Arial"/>
              </a:defRPr>
            </a:pPr>
            <a:r>
              <a:rPr sz="2250" b="1">
                <a:solidFill>
                  <a:srgbClr val="B9D4EF"/>
                </a:solidFill>
                <a:latin typeface="Arial"/>
                <a:ea typeface="Arial"/>
                <a:cs typeface="Arial"/>
              </a:rPr>
              <a:t>Connection cleanup</a:t>
            </a:r>
          </a:p>
        </p:txBody>
      </p:sp>
      <p:sp>
        <p:nvSpPr>
          <p:cNvPr id="10" name="">
            <a:extLst xmlns:a="http://schemas.openxmlformats.org/drawingml/2006/main">
              <a:ext uri="{FF2B5EF4-FFF2-40B4-BE49-F238E27FC236}">
                <a16:creationId xmlns:a16="http://schemas.microsoft.com/office/drawing/2014/main" id="{BF854DEE-42C6-42F8-891B-B1DEA533EAF9}"/>
              </a:ext>
            </a:extLst>
          </p:cNvPr>
          <p:cNvSpPr>
            <a:spLocks xmlns:a="http://schemas.openxmlformats.org/drawingml/2006/main" noGrp="1"/>
          </p:cNvSpPr>
          <p:nvPr/>
        </p:nvSpPr>
        <p:spPr>
          <a:xfrm xmlns:a="http://schemas.openxmlformats.org/drawingml/2006/main">
            <a:off x="4333875" y="4981575"/>
            <a:ext cx="718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Nickname ownership and membership removal</a:t>
            </a:r>
          </a:p>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PING-based timeout and Bot reconnect</a:t>
            </a:r>
          </a:p>
        </p:txBody>
      </p:sp>
    </p:spTree>
    <p:extLst>
      <p:ext uri="{BB962C8B-B14F-4D97-AF65-F5344CB8AC3E}">
        <p14:creationId xmlns:p14="http://schemas.microsoft.com/office/powerpoint/2010/main" val="331333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2026-10-08T13:59:15.4490000Z</dcterms:created>
  <dcterms:modified xsi:type="dcterms:W3CDTF">2026-10-08T13:59:15.4490000Z</dcterms:modified>
</coreProperties>
</file>